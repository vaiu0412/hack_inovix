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8" d="100"/>
          <a:sy n="88" d="100"/>
        </p:scale>
        <p:origin x="466" y="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6327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We are presenting DEPORT – a Disruption-Aware Logistics Decision Support System for delivery companies in Coimbatore. Our promise is in the tagline: From Disruption to Decision. When something goes wrong on the road, DEPORT helps the team decide what to do in under a minute.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problem in simple words. One accident on a main road like Avinashi Road does not delay just one parcel – it delays every stop planned after it. The driver calls the office, the dispatcher tries to work out where it is and which parcels are affected, and by the time a plan is ready, important deliveries like hospital insulin are already late. In our demo one accident hits 9 deliveries and 3 would miss their deadline.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DEPORT turns a driver's voice note into a ready-to-approve recovery plan in under a minute. It works in three steps. One: the partner reports by voice or one tap, in Tamil, English or both – even with spelling mistakes. Two: DEPORT shows the impact – which deliveries will be late, by how much, and how risky each one is. Three: the AI suggests a plan, the branch admin taps Accept, and every screen and phone is updated together.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DEPORT has three kinds of users. The Super Admin manages the company: branches, branch admins and the audit log, and sees all branches only as summaries. The Branch Admin runs one branch: alerts, the live map and work assignment – and can never see another branch. The Delivery Partner uses a phone app with big buttons and sees only their own deliveries. The role comes from the account, and the rules are enforced in the server code.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full journey. The partner reports by voice, text or one tap. Speech becomes text with Whisper or free Google speech. DEPORT understands what happened, on which road and for how long – it handles Tamil, English and spelling mistakes. Then the Ripple Impact finds every stop that comes after the block on each route and how late it gets. Each delivery gets a risk score from 0 to 100. The recommender builds a plan – backup van, reroute, prioritise or notify – with short reasons. A person always decides: only when the admin taps Accept do routes, ETAs, the map, partner phones and customer messages update, all in one save.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live demo. At 9 AM Karthik records a voice note mixing Tamil and English, with a spelling mistake in Avinashi. DEPORT understands: an accident on Avinashi Road, about two hours, critical. The plan moves the insulin and milk to the backup van, reroutes three vehicles around the block, and sends other customers a new time. Results: missed deadlines go from 3 to 0, the average delay drops from 95 to 17 minutes, and the hospital insulin arrives at 10:44 – before its 11:30 deadline.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branch admin's Command Center. At the top, a red banner appears only when there is an open alert – here: DP102, accident, Avinashi Road, 9 deliveries hit. Below are six live numbers, then the live map and the list of the most urgent deliveries. The page refreshes by itself within four seconds when anything changes on another device.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Alerts page follows three numbered steps. Step one: what changed – the partner's own words and what the AI understood, with a Modify button if it got something wrong. Step two: what is affected – the Ripple Impact graph shows how one accident spreads to vehicles and customers, next to a mini map. Step three: what to do – each action has a short, number-based reason, for example 'Medical parcel, late by 60 minutes. V6 is free, 5.3 km away.' One tap on Accept plan applies everything.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live map uses real road shapes of Coimbatore. Each vehicle is a circle with a coloured ring: green on time, yellow delayed, red critical – red ones pulse – and blue for free or backup vehicles. The blocked road is red and dashed with the affected area, the green line is the suggested alternate route, and numbered pins show the stop order. Tap a vehicle to see the partner's details. Road shapes were fetched once from OSRM and are cached, so the demo never waits for the internet.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partner's phone. Today shows 'Route changed' messages and new work with an Accept button, then the next stop with Navigate, Call and Delivered. Report has nine big tiles – accident, traffic, flooding and so on – plus voice or text. Route shows only the partner's own map and stops. Steps can't be skipped, 'Can't deliver' opens a pre-filled report, and half-written reports are saved even if the app is closed.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Version 3 adds work assignment. The branch admin creates an order – the area can be typed with mistakes and DEPORT shows the matched place on a map – or uploads a CSV. For each order DEPORT suggests the best partner and explains why: distance, current load against capacity, whether the vehicle fits the parcel – a bike only takes small parcels – whether the partner is free, a same-route bonus, and whether the deadline can still be met. Auto-assign does all orders at once without overloading anyone. The partner then steps through Accept, Picked up, Start and Delivered.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Security was designed in from the start. Passwords are stored only as PBKDF2 hashes with 200,000 rounds. Sessions use random tokens, and the database keeps only their hash. Five wrong passwords lock the account for two minutes. Branch admins can only see their own branch, and that is checked in the server code, not just hidden in the screen. Every sign-in and admin action is in the audit log, and data is never lost: one database file, a backup before any reset, and drafts saved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kept the technology simple and reliable. Python and Streamlit for the web app, SQLite as a single database file, Whisper and a language model from Groq for voice and understanding, RapidFuzz to match misspelt places, Folium with OSRM road shapes for the map, Plotly and NetworkX for the graphs, FastAPI for a future mobile app, and Pytest with 150 automated tests. Even without any AI key, DEPORT keeps working with rules and free speech recognition.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tested DEPORT like a real product. There are 150 automated tests covering voice understanding, the impact and risk engine, roles and security, the API, persistence and work assignment. A script also signs in as each role and presses every button on every page. Accepting a plan is a single database transaction, so it either fully happens or not at all. And data is never lost on sign-out or restart.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Everyone benefits. Customers get medicine and food on time, and a message before they start waiting. Partners don't need long calls – they just speak, and they always know the next step. Branch admins decide in under a minute from one screen. The business misses fewer deadlines and uses its backup vans better, across many branches. In our demo, missed deadlines fall from three to zero.</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we want to add live traffic and weather, and send real SMS and WhatsApp messages. Then a native Android app on top of our existing API, live GPS tracking and photo proof of delivery. Later, DEPORT can predict delays before they happen, grow to more cities with a cloud database, and learn from past decisions.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DEPORT takes a disruption on the road to a decision in under a minute. You can try it live at ripple-coimbatore.streamlit.app – the demo logins are in our handout. We are happy to take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Oval 1"/>
          <p:cNvSpPr/>
          <p:nvPr/>
        </p:nvSpPr>
        <p:spPr>
          <a:xfrm>
            <a:off x="-2011680" y="-2194560"/>
            <a:ext cx="6858000" cy="6858000"/>
          </a:xfrm>
          <a:prstGeom prst="ellipse">
            <a:avLst/>
          </a:prstGeom>
          <a:solidFill>
            <a:srgbClr val="2563EB">
              <a:alpha val="30000"/>
            </a:srgbClr>
          </a:solidFill>
          <a:ln>
            <a:noFill/>
          </a:ln>
          <a:effectLst>
            <a:softEdge rad="2011680"/>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Oval 2"/>
          <p:cNvSpPr/>
          <p:nvPr/>
        </p:nvSpPr>
        <p:spPr>
          <a:xfrm>
            <a:off x="8778240" y="-2560320"/>
            <a:ext cx="5943600" cy="5943600"/>
          </a:xfrm>
          <a:prstGeom prst="ellipse">
            <a:avLst/>
          </a:prstGeom>
          <a:solidFill>
            <a:srgbClr val="7C3AED">
              <a:alpha val="26000"/>
            </a:srgbClr>
          </a:solidFill>
          <a:ln>
            <a:noFill/>
          </a:ln>
          <a:effectLst>
            <a:softEdge rad="2011680"/>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400800" y="4206240"/>
            <a:ext cx="6400800" cy="6400800"/>
          </a:xfrm>
          <a:prstGeom prst="ellipse">
            <a:avLst/>
          </a:prstGeom>
          <a:solidFill>
            <a:srgbClr val="14B8A6">
              <a:alpha val="18000"/>
            </a:srgbClr>
          </a:solidFill>
          <a:ln>
            <a:noFill/>
          </a:ln>
          <a:effectLst>
            <a:softEdge rad="2011680"/>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reeform 4"/>
          <p:cNvSpPr/>
          <p:nvPr/>
        </p:nvSpPr>
        <p:spPr>
          <a:xfrm>
            <a:off x="-274320" y="3840480"/>
            <a:ext cx="12710160" cy="1554480"/>
          </a:xfrm>
          <a:custGeom>
            <a:avLst/>
            <a:gdLst/>
            <a:ahLst/>
            <a:cxnLst/>
            <a:rect l="l" t="t" r="r" b="b"/>
            <a:pathLst>
              <a:path w="12710160" h="1554480">
                <a:moveTo>
                  <a:pt x="0" y="1554480"/>
                </a:moveTo>
                <a:lnTo>
                  <a:pt x="225034" y="1471208"/>
                </a:lnTo>
                <a:lnTo>
                  <a:pt x="447873" y="1399226"/>
                </a:lnTo>
                <a:lnTo>
                  <a:pt x="669066" y="1337822"/>
                </a:lnTo>
                <a:lnTo>
                  <a:pt x="889162" y="1286286"/>
                </a:lnTo>
                <a:lnTo>
                  <a:pt x="1108710" y="1243905"/>
                </a:lnTo>
                <a:lnTo>
                  <a:pt x="1328257" y="1209968"/>
                </a:lnTo>
                <a:lnTo>
                  <a:pt x="1548353" y="1183763"/>
                </a:lnTo>
                <a:lnTo>
                  <a:pt x="1769546" y="1164579"/>
                </a:lnTo>
                <a:lnTo>
                  <a:pt x="1992386" y="1151705"/>
                </a:lnTo>
                <a:lnTo>
                  <a:pt x="2217420" y="1144428"/>
                </a:lnTo>
                <a:lnTo>
                  <a:pt x="2445197" y="1142038"/>
                </a:lnTo>
                <a:lnTo>
                  <a:pt x="2676265" y="1143822"/>
                </a:lnTo>
                <a:lnTo>
                  <a:pt x="2911175" y="1149070"/>
                </a:lnTo>
                <a:lnTo>
                  <a:pt x="3150473" y="1157070"/>
                </a:lnTo>
                <a:lnTo>
                  <a:pt x="3394710" y="1167110"/>
                </a:lnTo>
                <a:lnTo>
                  <a:pt x="3644432" y="1178478"/>
                </a:lnTo>
                <a:lnTo>
                  <a:pt x="3900190" y="1190464"/>
                </a:lnTo>
                <a:lnTo>
                  <a:pt x="4162531" y="1202355"/>
                </a:lnTo>
                <a:lnTo>
                  <a:pt x="4432005" y="1213441"/>
                </a:lnTo>
                <a:lnTo>
                  <a:pt x="4709160" y="1223010"/>
                </a:lnTo>
                <a:lnTo>
                  <a:pt x="4994544" y="1230349"/>
                </a:lnTo>
                <a:lnTo>
                  <a:pt x="5288706" y="1234748"/>
                </a:lnTo>
                <a:lnTo>
                  <a:pt x="5592196" y="1235495"/>
                </a:lnTo>
                <a:lnTo>
                  <a:pt x="5905560" y="1231879"/>
                </a:lnTo>
                <a:lnTo>
                  <a:pt x="6229350" y="1223188"/>
                </a:lnTo>
                <a:lnTo>
                  <a:pt x="6564111" y="1208711"/>
                </a:lnTo>
                <a:lnTo>
                  <a:pt x="6910395" y="1187735"/>
                </a:lnTo>
                <a:lnTo>
                  <a:pt x="7268748" y="1159550"/>
                </a:lnTo>
                <a:lnTo>
                  <a:pt x="7639720" y="1123444"/>
                </a:lnTo>
                <a:lnTo>
                  <a:pt x="8023860" y="1078706"/>
                </a:lnTo>
                <a:lnTo>
                  <a:pt x="8421715" y="1024623"/>
                </a:lnTo>
                <a:lnTo>
                  <a:pt x="8833835" y="960485"/>
                </a:lnTo>
                <a:lnTo>
                  <a:pt x="9260768" y="885580"/>
                </a:lnTo>
                <a:lnTo>
                  <a:pt x="9703064" y="799197"/>
                </a:lnTo>
                <a:lnTo>
                  <a:pt x="10161270" y="700623"/>
                </a:lnTo>
                <a:lnTo>
                  <a:pt x="10635935" y="589147"/>
                </a:lnTo>
                <a:lnTo>
                  <a:pt x="11127607" y="464059"/>
                </a:lnTo>
                <a:lnTo>
                  <a:pt x="11636837" y="324646"/>
                </a:lnTo>
                <a:lnTo>
                  <a:pt x="12164171" y="170196"/>
                </a:lnTo>
                <a:lnTo>
                  <a:pt x="12710160" y="0"/>
                </a:lnTo>
              </a:path>
            </a:pathLst>
          </a:custGeom>
          <a:noFill/>
          <a:ln w="19050">
            <a:solidFill>
              <a:srgbClr val="60A5FA">
                <a:alpha val="3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Freeform 5"/>
          <p:cNvSpPr/>
          <p:nvPr/>
        </p:nvSpPr>
        <p:spPr>
          <a:xfrm>
            <a:off x="-274320" y="990546"/>
            <a:ext cx="12710160" cy="472494"/>
          </a:xfrm>
          <a:custGeom>
            <a:avLst/>
            <a:gdLst/>
            <a:ahLst/>
            <a:cxnLst/>
            <a:rect l="l" t="t" r="r" b="b"/>
            <a:pathLst>
              <a:path w="12710160" h="472494">
                <a:moveTo>
                  <a:pt x="0" y="106734"/>
                </a:moveTo>
                <a:lnTo>
                  <a:pt x="295242" y="170261"/>
                </a:lnTo>
                <a:lnTo>
                  <a:pt x="591205" y="224051"/>
                </a:lnTo>
                <a:lnTo>
                  <a:pt x="887922" y="268651"/>
                </a:lnTo>
                <a:lnTo>
                  <a:pt x="1185428" y="304610"/>
                </a:lnTo>
                <a:lnTo>
                  <a:pt x="1483756" y="332476"/>
                </a:lnTo>
                <a:lnTo>
                  <a:pt x="1782942" y="352799"/>
                </a:lnTo>
                <a:lnTo>
                  <a:pt x="2083020" y="366126"/>
                </a:lnTo>
                <a:lnTo>
                  <a:pt x="2384023" y="373007"/>
                </a:lnTo>
                <a:lnTo>
                  <a:pt x="2685987" y="373990"/>
                </a:lnTo>
                <a:lnTo>
                  <a:pt x="2988945" y="369624"/>
                </a:lnTo>
                <a:lnTo>
                  <a:pt x="3292931" y="360457"/>
                </a:lnTo>
                <a:lnTo>
                  <a:pt x="3597981" y="347038"/>
                </a:lnTo>
                <a:lnTo>
                  <a:pt x="3904127" y="329916"/>
                </a:lnTo>
                <a:lnTo>
                  <a:pt x="4211406" y="309639"/>
                </a:lnTo>
                <a:lnTo>
                  <a:pt x="4519850" y="286756"/>
                </a:lnTo>
                <a:lnTo>
                  <a:pt x="4829495" y="261816"/>
                </a:lnTo>
                <a:lnTo>
                  <a:pt x="5140373" y="235367"/>
                </a:lnTo>
                <a:lnTo>
                  <a:pt x="5452521" y="207958"/>
                </a:lnTo>
                <a:lnTo>
                  <a:pt x="5765972" y="180137"/>
                </a:lnTo>
                <a:lnTo>
                  <a:pt x="6080760" y="152454"/>
                </a:lnTo>
                <a:lnTo>
                  <a:pt x="6396919" y="125456"/>
                </a:lnTo>
                <a:lnTo>
                  <a:pt x="6714484" y="99693"/>
                </a:lnTo>
                <a:lnTo>
                  <a:pt x="7033490" y="75712"/>
                </a:lnTo>
                <a:lnTo>
                  <a:pt x="7353970" y="54064"/>
                </a:lnTo>
                <a:lnTo>
                  <a:pt x="7675959" y="35296"/>
                </a:lnTo>
                <a:lnTo>
                  <a:pt x="7999491" y="19957"/>
                </a:lnTo>
                <a:lnTo>
                  <a:pt x="8324600" y="8596"/>
                </a:lnTo>
                <a:lnTo>
                  <a:pt x="8651321" y="1760"/>
                </a:lnTo>
                <a:lnTo>
                  <a:pt x="8979688" y="0"/>
                </a:lnTo>
                <a:lnTo>
                  <a:pt x="9309735" y="3863"/>
                </a:lnTo>
                <a:lnTo>
                  <a:pt x="9641496" y="13899"/>
                </a:lnTo>
                <a:lnTo>
                  <a:pt x="9975006" y="30655"/>
                </a:lnTo>
                <a:lnTo>
                  <a:pt x="10310300" y="54681"/>
                </a:lnTo>
                <a:lnTo>
                  <a:pt x="10647410" y="86525"/>
                </a:lnTo>
                <a:lnTo>
                  <a:pt x="10986373" y="126736"/>
                </a:lnTo>
                <a:lnTo>
                  <a:pt x="11327221" y="175862"/>
                </a:lnTo>
                <a:lnTo>
                  <a:pt x="11669989" y="234452"/>
                </a:lnTo>
                <a:lnTo>
                  <a:pt x="12014713" y="303055"/>
                </a:lnTo>
                <a:lnTo>
                  <a:pt x="12361424" y="382219"/>
                </a:lnTo>
                <a:lnTo>
                  <a:pt x="12710160" y="472494"/>
                </a:lnTo>
              </a:path>
            </a:pathLst>
          </a:custGeom>
          <a:noFill/>
          <a:ln w="19050">
            <a:solidFill>
              <a:srgbClr val="60A5FA">
                <a:alpha val="28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reeform 6"/>
          <p:cNvSpPr/>
          <p:nvPr/>
        </p:nvSpPr>
        <p:spPr>
          <a:xfrm>
            <a:off x="1828800" y="5486400"/>
            <a:ext cx="10607040" cy="1645920"/>
          </a:xfrm>
          <a:custGeom>
            <a:avLst/>
            <a:gdLst/>
            <a:ahLst/>
            <a:cxnLst/>
            <a:rect l="l" t="t" r="r" b="b"/>
            <a:pathLst>
              <a:path w="10607040" h="1645920">
                <a:moveTo>
                  <a:pt x="0" y="1645920"/>
                </a:moveTo>
                <a:lnTo>
                  <a:pt x="174851" y="1488426"/>
                </a:lnTo>
                <a:lnTo>
                  <a:pt x="356398" y="1344716"/>
                </a:lnTo>
                <a:lnTo>
                  <a:pt x="544478" y="1214174"/>
                </a:lnTo>
                <a:lnTo>
                  <a:pt x="738926" y="1096182"/>
                </a:lnTo>
                <a:lnTo>
                  <a:pt x="939581" y="990123"/>
                </a:lnTo>
                <a:lnTo>
                  <a:pt x="1146280" y="895380"/>
                </a:lnTo>
                <a:lnTo>
                  <a:pt x="1358859" y="811335"/>
                </a:lnTo>
                <a:lnTo>
                  <a:pt x="1577157" y="737372"/>
                </a:lnTo>
                <a:lnTo>
                  <a:pt x="1801009" y="672872"/>
                </a:lnTo>
                <a:lnTo>
                  <a:pt x="2030253" y="617220"/>
                </a:lnTo>
                <a:lnTo>
                  <a:pt x="2264727" y="569796"/>
                </a:lnTo>
                <a:lnTo>
                  <a:pt x="2504267" y="529986"/>
                </a:lnTo>
                <a:lnTo>
                  <a:pt x="2748710" y="497170"/>
                </a:lnTo>
                <a:lnTo>
                  <a:pt x="2997894" y="470733"/>
                </a:lnTo>
                <a:lnTo>
                  <a:pt x="3251656" y="450056"/>
                </a:lnTo>
                <a:lnTo>
                  <a:pt x="3509832" y="434522"/>
                </a:lnTo>
                <a:lnTo>
                  <a:pt x="3772261" y="423515"/>
                </a:lnTo>
                <a:lnTo>
                  <a:pt x="4038779" y="416417"/>
                </a:lnTo>
                <a:lnTo>
                  <a:pt x="4309222" y="412611"/>
                </a:lnTo>
                <a:lnTo>
                  <a:pt x="4583430" y="411480"/>
                </a:lnTo>
                <a:lnTo>
                  <a:pt x="4861237" y="412405"/>
                </a:lnTo>
                <a:lnTo>
                  <a:pt x="5142482" y="414771"/>
                </a:lnTo>
                <a:lnTo>
                  <a:pt x="5427002" y="417960"/>
                </a:lnTo>
                <a:lnTo>
                  <a:pt x="5714634" y="421355"/>
                </a:lnTo>
                <a:lnTo>
                  <a:pt x="6005214" y="424338"/>
                </a:lnTo>
                <a:lnTo>
                  <a:pt x="6298581" y="426293"/>
                </a:lnTo>
                <a:lnTo>
                  <a:pt x="6594571" y="426601"/>
                </a:lnTo>
                <a:lnTo>
                  <a:pt x="6893021" y="424647"/>
                </a:lnTo>
                <a:lnTo>
                  <a:pt x="7193769" y="419812"/>
                </a:lnTo>
                <a:lnTo>
                  <a:pt x="7496651" y="411480"/>
                </a:lnTo>
                <a:lnTo>
                  <a:pt x="7801505" y="399032"/>
                </a:lnTo>
                <a:lnTo>
                  <a:pt x="8108167" y="381853"/>
                </a:lnTo>
                <a:lnTo>
                  <a:pt x="8416476" y="359324"/>
                </a:lnTo>
                <a:lnTo>
                  <a:pt x="8726267" y="330829"/>
                </a:lnTo>
                <a:lnTo>
                  <a:pt x="9037379" y="295751"/>
                </a:lnTo>
                <a:lnTo>
                  <a:pt x="9349648" y="253471"/>
                </a:lnTo>
                <a:lnTo>
                  <a:pt x="9662911" y="203373"/>
                </a:lnTo>
                <a:lnTo>
                  <a:pt x="9977006" y="144840"/>
                </a:lnTo>
                <a:lnTo>
                  <a:pt x="10291770" y="77255"/>
                </a:lnTo>
                <a:lnTo>
                  <a:pt x="10607040" y="0"/>
                </a:lnTo>
              </a:path>
            </a:pathLst>
          </a:custGeom>
          <a:noFill/>
          <a:ln w="19050">
            <a:solidFill>
              <a:srgbClr val="A78BFA">
                <a:alpha val="2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logo_512.png"/>
          <p:cNvPicPr>
            <a:picLocks noChangeAspect="1"/>
          </p:cNvPicPr>
          <p:nvPr/>
        </p:nvPicPr>
        <p:blipFill>
          <a:blip r:embed="rId3"/>
          <a:stretch>
            <a:fillRect/>
          </a:stretch>
        </p:blipFill>
        <p:spPr>
          <a:xfrm>
            <a:off x="822960" y="1325880"/>
            <a:ext cx="1051560" cy="1051560"/>
          </a:xfrm>
          <a:prstGeom prst="rect">
            <a:avLst/>
          </a:prstGeom>
        </p:spPr>
      </p:pic>
      <p:sp>
        <p:nvSpPr>
          <p:cNvPr id="9" name="TextBox 8"/>
          <p:cNvSpPr txBox="1"/>
          <p:nvPr/>
        </p:nvSpPr>
        <p:spPr>
          <a:xfrm>
            <a:off x="2057400" y="1344168"/>
            <a:ext cx="4572000" cy="914400"/>
          </a:xfrm>
          <a:prstGeom prst="rect">
            <a:avLst/>
          </a:prstGeom>
          <a:noFill/>
        </p:spPr>
        <p:txBody>
          <a:bodyPr wrap="square" lIns="0" tIns="0" rIns="0" bIns="0" anchor="t">
            <a:spAutoFit/>
          </a:bodyPr>
          <a:lstStyle/>
          <a:p>
            <a:pPr algn="l">
              <a:lnSpc>
                <a:spcPct val="100000"/>
              </a:lnSpc>
              <a:spcAft>
                <a:spcPts val="400"/>
              </a:spcAft>
            </a:pPr>
            <a:r>
              <a:rPr sz="5400" b="0" i="0" spc="400">
                <a:solidFill>
                  <a:srgbClr val="FFFFFF"/>
                </a:solidFill>
                <a:latin typeface="Segoe UI Black"/>
              </a:rPr>
              <a:t>DEPORT</a:t>
            </a:r>
          </a:p>
        </p:txBody>
      </p:sp>
      <p:sp>
        <p:nvSpPr>
          <p:cNvPr id="10" name="TextBox 9"/>
          <p:cNvSpPr txBox="1"/>
          <p:nvPr/>
        </p:nvSpPr>
        <p:spPr>
          <a:xfrm>
            <a:off x="822960" y="2697480"/>
            <a:ext cx="5669280" cy="1097280"/>
          </a:xfrm>
          <a:prstGeom prst="rect">
            <a:avLst/>
          </a:prstGeom>
          <a:noFill/>
        </p:spPr>
        <p:txBody>
          <a:bodyPr wrap="square" lIns="0" tIns="0" rIns="0" bIns="0" anchor="t">
            <a:spAutoFit/>
          </a:bodyPr>
          <a:lstStyle/>
          <a:p>
            <a:pPr algn="l">
              <a:lnSpc>
                <a:spcPct val="105000"/>
              </a:lnSpc>
              <a:spcAft>
                <a:spcPts val="0"/>
              </a:spcAft>
            </a:pPr>
            <a:r>
              <a:rPr sz="2600" b="0" i="0">
                <a:solidFill>
                  <a:srgbClr val="E2E8F0"/>
                </a:solidFill>
                <a:latin typeface="Segoe UI Semibold"/>
              </a:rPr>
              <a:t>Disruption-Aware Logistics</a:t>
            </a:r>
          </a:p>
          <a:p>
            <a:pPr algn="l">
              <a:lnSpc>
                <a:spcPct val="105000"/>
              </a:lnSpc>
              <a:spcAft>
                <a:spcPts val="400"/>
              </a:spcAft>
            </a:pPr>
            <a:r>
              <a:rPr sz="2600" b="0" i="0">
                <a:solidFill>
                  <a:srgbClr val="E2E8F0"/>
                </a:solidFill>
                <a:latin typeface="Segoe UI Semibold"/>
              </a:rPr>
              <a:t>Decision Support System</a:t>
            </a:r>
          </a:p>
        </p:txBody>
      </p:sp>
      <p:sp>
        <p:nvSpPr>
          <p:cNvPr id="11" name="TextBox 10"/>
          <p:cNvSpPr txBox="1"/>
          <p:nvPr/>
        </p:nvSpPr>
        <p:spPr>
          <a:xfrm>
            <a:off x="822960" y="3794760"/>
            <a:ext cx="5669280" cy="457200"/>
          </a:xfrm>
          <a:prstGeom prst="rect">
            <a:avLst/>
          </a:prstGeom>
          <a:noFill/>
        </p:spPr>
        <p:txBody>
          <a:bodyPr wrap="square" lIns="0" tIns="0" rIns="0" bIns="0" anchor="t">
            <a:spAutoFit/>
          </a:bodyPr>
          <a:lstStyle/>
          <a:p>
            <a:pPr algn="l">
              <a:lnSpc>
                <a:spcPct val="108000"/>
              </a:lnSpc>
              <a:spcAft>
                <a:spcPts val="400"/>
              </a:spcAft>
            </a:pPr>
            <a:r>
              <a:rPr sz="2200" b="0" i="0">
                <a:solidFill>
                  <a:srgbClr val="F59E0B"/>
                </a:solidFill>
                <a:latin typeface="Segoe UI Semibold"/>
              </a:rPr>
              <a:t>From Disruption to Decision.</a:t>
            </a:r>
          </a:p>
        </p:txBody>
      </p:sp>
      <p:sp>
        <p:nvSpPr>
          <p:cNvPr id="12" name="Rounded Rectangle 11"/>
          <p:cNvSpPr/>
          <p:nvPr/>
        </p:nvSpPr>
        <p:spPr>
          <a:xfrm>
            <a:off x="822960" y="4526280"/>
            <a:ext cx="2075688" cy="384048"/>
          </a:xfrm>
          <a:prstGeom prst="roundRect">
            <a:avLst>
              <a:gd name="adj" fmla="val 50000"/>
            </a:avLst>
          </a:prstGeom>
          <a:solidFill>
            <a:srgbClr val="FFFFFF">
              <a:alpha val="9000"/>
            </a:srgbClr>
          </a:solidFill>
          <a:ln w="9525">
            <a:solidFill>
              <a:srgbClr val="FFFFFF">
                <a:alpha val="22000"/>
              </a:srgbClr>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300" b="0">
                <a:solidFill>
                  <a:srgbClr val="0F172A"/>
                </a:solidFill>
                <a:latin typeface="Segoe UI Emoji"/>
              </a:rPr>
              <a:t>🎙️  </a:t>
            </a:r>
            <a:r>
              <a:rPr sz="1300" b="0">
                <a:solidFill>
                  <a:srgbClr val="E2E8F0"/>
                </a:solidFill>
                <a:latin typeface="Segoe UI Semibold"/>
              </a:rPr>
              <a:t>Report by voice</a:t>
            </a:r>
          </a:p>
        </p:txBody>
      </p:sp>
      <p:sp>
        <p:nvSpPr>
          <p:cNvPr id="13" name="Rounded Rectangle 12"/>
          <p:cNvSpPr/>
          <p:nvPr/>
        </p:nvSpPr>
        <p:spPr>
          <a:xfrm>
            <a:off x="3035808" y="4526280"/>
            <a:ext cx="1986076" cy="384048"/>
          </a:xfrm>
          <a:prstGeom prst="roundRect">
            <a:avLst>
              <a:gd name="adj" fmla="val 50000"/>
            </a:avLst>
          </a:prstGeom>
          <a:solidFill>
            <a:srgbClr val="FFFFFF">
              <a:alpha val="9000"/>
            </a:srgbClr>
          </a:solidFill>
          <a:ln w="9525">
            <a:solidFill>
              <a:srgbClr val="FFFFFF">
                <a:alpha val="22000"/>
              </a:srgbClr>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300" b="0">
                <a:solidFill>
                  <a:srgbClr val="0F172A"/>
                </a:solidFill>
                <a:latin typeface="Segoe UI Emoji"/>
              </a:rPr>
              <a:t>📊  </a:t>
            </a:r>
            <a:r>
              <a:rPr sz="1300" b="0">
                <a:solidFill>
                  <a:srgbClr val="E2E8F0"/>
                </a:solidFill>
                <a:latin typeface="Segoe UI Semibold"/>
              </a:rPr>
              <a:t>See the impact</a:t>
            </a:r>
          </a:p>
        </p:txBody>
      </p:sp>
      <p:sp>
        <p:nvSpPr>
          <p:cNvPr id="14" name="Rounded Rectangle 13"/>
          <p:cNvSpPr/>
          <p:nvPr/>
        </p:nvSpPr>
        <p:spPr>
          <a:xfrm>
            <a:off x="5159044" y="4526280"/>
            <a:ext cx="2165299" cy="384048"/>
          </a:xfrm>
          <a:prstGeom prst="roundRect">
            <a:avLst>
              <a:gd name="adj" fmla="val 50000"/>
            </a:avLst>
          </a:prstGeom>
          <a:solidFill>
            <a:srgbClr val="FFFFFF">
              <a:alpha val="9000"/>
            </a:srgbClr>
          </a:solidFill>
          <a:ln w="9525">
            <a:solidFill>
              <a:srgbClr val="FFFFFF">
                <a:alpha val="22000"/>
              </a:srgbClr>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300" b="0" dirty="0">
                <a:solidFill>
                  <a:srgbClr val="0F172A"/>
                </a:solidFill>
                <a:latin typeface="Segoe UI Emoji"/>
              </a:rPr>
              <a:t>⚡  </a:t>
            </a:r>
            <a:r>
              <a:rPr sz="1300" b="0" dirty="0">
                <a:solidFill>
                  <a:srgbClr val="E2E8F0"/>
                </a:solidFill>
                <a:latin typeface="Segoe UI Semibold"/>
              </a:rPr>
              <a:t>Fix in one click</a:t>
            </a:r>
          </a:p>
        </p:txBody>
      </p:sp>
      <p:sp>
        <p:nvSpPr>
          <p:cNvPr id="15" name="TextBox 14"/>
          <p:cNvSpPr txBox="1"/>
          <p:nvPr/>
        </p:nvSpPr>
        <p:spPr>
          <a:xfrm>
            <a:off x="822960" y="5806440"/>
            <a:ext cx="6400800" cy="215187"/>
          </a:xfrm>
          <a:prstGeom prst="rect">
            <a:avLst/>
          </a:prstGeom>
          <a:noFill/>
        </p:spPr>
        <p:txBody>
          <a:bodyPr wrap="square" lIns="0" tIns="0" rIns="0" bIns="0" anchor="t">
            <a:spAutoFit/>
          </a:bodyPr>
          <a:lstStyle/>
          <a:p>
            <a:pPr algn="l">
              <a:lnSpc>
                <a:spcPct val="108000"/>
              </a:lnSpc>
              <a:spcAft>
                <a:spcPts val="400"/>
              </a:spcAft>
            </a:pPr>
            <a:r>
              <a:rPr sz="1400" b="0" i="0" dirty="0">
                <a:solidFill>
                  <a:srgbClr val="94A3B8"/>
                </a:solidFill>
                <a:latin typeface="Segoe UI"/>
              </a:rPr>
              <a:t>HackNext'26  ·  Coimbatore     Presented by: </a:t>
            </a:r>
            <a:r>
              <a:rPr lang="en-US" sz="1400" dirty="0" err="1">
                <a:solidFill>
                  <a:srgbClr val="E2E8F0"/>
                </a:solidFill>
                <a:latin typeface="Segoe UI Semibold"/>
              </a:rPr>
              <a:t>Inovix</a:t>
            </a:r>
            <a:endParaRPr sz="1400" b="0" i="0" dirty="0">
              <a:solidFill>
                <a:srgbClr val="E2E8F0"/>
              </a:solidFill>
              <a:latin typeface="Segoe UI Semibold"/>
            </a:endParaRPr>
          </a:p>
        </p:txBody>
      </p:sp>
      <p:sp>
        <p:nvSpPr>
          <p:cNvPr id="16" name="Rounded Rectangle 15"/>
          <p:cNvSpPr/>
          <p:nvPr/>
        </p:nvSpPr>
        <p:spPr>
          <a:xfrm>
            <a:off x="6720840" y="1417320"/>
            <a:ext cx="4983480" cy="3429000"/>
          </a:xfrm>
          <a:prstGeom prst="roundRect">
            <a:avLst>
              <a:gd name="adj" fmla="val 6000"/>
            </a:avLst>
          </a:prstGeom>
          <a:solidFill>
            <a:srgbClr val="3B82F6">
              <a:alpha val="30000"/>
            </a:srgbClr>
          </a:solidFill>
          <a:ln>
            <a:noFill/>
          </a:ln>
          <a:effectLst>
            <a:softEdge rad="320040"/>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6766560" y="1280160"/>
            <a:ext cx="4892040" cy="3347847"/>
          </a:xfrm>
          <a:prstGeom prst="roundRect">
            <a:avLst>
              <a:gd name="adj" fmla="val 3000"/>
            </a:avLst>
          </a:prstGeom>
          <a:solidFill>
            <a:srgbClr val="0F172A"/>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922008" y="1408176"/>
            <a:ext cx="91440" cy="91440"/>
          </a:xfrm>
          <a:prstGeom prst="ellipse">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7077456" y="1408176"/>
            <a:ext cx="91440" cy="91440"/>
          </a:xfrm>
          <a:prstGeom prst="ellipse">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7232904" y="1408176"/>
            <a:ext cx="91440" cy="91440"/>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Picture 20" descr="login.png"/>
          <p:cNvPicPr>
            <a:picLocks noChangeAspect="1"/>
          </p:cNvPicPr>
          <p:nvPr/>
        </p:nvPicPr>
        <p:blipFill>
          <a:blip r:embed="rId4"/>
          <a:stretch>
            <a:fillRect/>
          </a:stretch>
        </p:blipFill>
        <p:spPr>
          <a:xfrm>
            <a:off x="6896404" y="1425892"/>
            <a:ext cx="4800600" cy="30003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502920"/>
            <a:ext cx="82296" cy="896112"/>
          </a:xfrm>
          <a:prstGeom prst="roundRect">
            <a:avLst>
              <a:gd name="adj" fmla="val 50000"/>
            </a:avLst>
          </a:prstGeom>
          <a:gradFill rotWithShape="1">
            <a:gsLst>
              <a:gs pos="0">
                <a:srgbClr val="2563EB"/>
              </a:gs>
              <a:gs pos="100000">
                <a:srgbClr val="7C3AED"/>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04672" y="429768"/>
            <a:ext cx="9601200" cy="274320"/>
          </a:xfrm>
          <a:prstGeom prst="rect">
            <a:avLst/>
          </a:prstGeom>
          <a:noFill/>
        </p:spPr>
        <p:txBody>
          <a:bodyPr wrap="square" lIns="0" tIns="0" rIns="0" bIns="0" anchor="t">
            <a:spAutoFit/>
          </a:bodyPr>
          <a:lstStyle/>
          <a:p>
            <a:pPr algn="l">
              <a:lnSpc>
                <a:spcPct val="108000"/>
              </a:lnSpc>
              <a:spcAft>
                <a:spcPts val="400"/>
              </a:spcAft>
            </a:pPr>
            <a:r>
              <a:rPr sz="1100" b="0" i="0" spc="200">
                <a:solidFill>
                  <a:srgbClr val="2563EB"/>
                </a:solidFill>
                <a:latin typeface="Segoe UI Semibold"/>
              </a:rPr>
              <a:t>WHY THIS MATTERS</a:t>
            </a:r>
          </a:p>
        </p:txBody>
      </p:sp>
      <p:sp>
        <p:nvSpPr>
          <p:cNvPr id="4" name="TextBox 3"/>
          <p:cNvSpPr txBox="1"/>
          <p:nvPr/>
        </p:nvSpPr>
        <p:spPr>
          <a:xfrm>
            <a:off x="804672" y="676656"/>
            <a:ext cx="9875520" cy="566928"/>
          </a:xfrm>
          <a:prstGeom prst="rect">
            <a:avLst/>
          </a:prstGeom>
          <a:noFill/>
        </p:spPr>
        <p:txBody>
          <a:bodyPr wrap="square" lIns="0" tIns="0" rIns="0" bIns="0" anchor="t">
            <a:spAutoFit/>
          </a:bodyPr>
          <a:lstStyle/>
          <a:p>
            <a:pPr algn="l">
              <a:lnSpc>
                <a:spcPct val="100000"/>
              </a:lnSpc>
              <a:spcAft>
                <a:spcPts val="400"/>
              </a:spcAft>
            </a:pPr>
            <a:r>
              <a:rPr sz="3000" b="0" i="0">
                <a:solidFill>
                  <a:srgbClr val="0B1E3F"/>
                </a:solidFill>
                <a:latin typeface="Segoe UI Semibold"/>
              </a:rPr>
              <a:t>The problem</a:t>
            </a:r>
          </a:p>
        </p:txBody>
      </p:sp>
      <p:sp>
        <p:nvSpPr>
          <p:cNvPr id="5" name="TextBox 4"/>
          <p:cNvSpPr txBox="1"/>
          <p:nvPr/>
        </p:nvSpPr>
        <p:spPr>
          <a:xfrm>
            <a:off x="804672" y="1243584"/>
            <a:ext cx="10241280" cy="365760"/>
          </a:xfrm>
          <a:prstGeom prst="rect">
            <a:avLst/>
          </a:prstGeom>
          <a:noFill/>
        </p:spPr>
        <p:txBody>
          <a:bodyPr wrap="square" lIns="0" tIns="0" rIns="0" bIns="0" anchor="t">
            <a:spAutoFit/>
          </a:bodyPr>
          <a:lstStyle/>
          <a:p>
            <a:pPr algn="l">
              <a:lnSpc>
                <a:spcPct val="108000"/>
              </a:lnSpc>
              <a:spcAft>
                <a:spcPts val="400"/>
              </a:spcAft>
            </a:pPr>
            <a:r>
              <a:rPr sz="1500" b="0" i="0">
                <a:solidFill>
                  <a:srgbClr val="475569"/>
                </a:solidFill>
                <a:latin typeface="Segoe UI"/>
              </a:rPr>
              <a:t>Deliveries break down on the road, and today the fix depends on phone calls.</a:t>
            </a:r>
          </a:p>
        </p:txBody>
      </p:sp>
      <p:pic>
        <p:nvPicPr>
          <p:cNvPr id="6" name="Picture 5" descr="logo_512.png"/>
          <p:cNvPicPr>
            <a:picLocks noChangeAspect="1"/>
          </p:cNvPicPr>
          <p:nvPr/>
        </p:nvPicPr>
        <p:blipFill>
          <a:blip r:embed="rId3"/>
          <a:stretch>
            <a:fillRect/>
          </a:stretch>
        </p:blipFill>
        <p:spPr>
          <a:xfrm>
            <a:off x="11137392" y="475488"/>
            <a:ext cx="475488" cy="475488"/>
          </a:xfrm>
          <a:prstGeom prst="rect">
            <a:avLst/>
          </a:prstGeom>
        </p:spPr>
      </p:pic>
      <p:sp>
        <p:nvSpPr>
          <p:cNvPr id="7" name="Rectangle 6"/>
          <p:cNvSpPr/>
          <p:nvPr/>
        </p:nvSpPr>
        <p:spPr>
          <a:xfrm>
            <a:off x="548640" y="6400800"/>
            <a:ext cx="11091672"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6464808"/>
            <a:ext cx="7315200" cy="228600"/>
          </a:xfrm>
          <a:prstGeom prst="rect">
            <a:avLst/>
          </a:prstGeom>
          <a:noFill/>
        </p:spPr>
        <p:txBody>
          <a:bodyPr wrap="square" lIns="0" tIns="0" rIns="0" bIns="0" anchor="t">
            <a:spAutoFit/>
          </a:bodyPr>
          <a:lstStyle/>
          <a:p>
            <a:pPr algn="l">
              <a:lnSpc>
                <a:spcPct val="108000"/>
              </a:lnSpc>
              <a:spcAft>
                <a:spcPts val="400"/>
              </a:spcAft>
            </a:pPr>
            <a:r>
              <a:rPr sz="1000" b="0" i="0" spc="150">
                <a:solidFill>
                  <a:srgbClr val="0B1E3F"/>
                </a:solidFill>
                <a:latin typeface="Segoe UI Semibold"/>
              </a:rPr>
              <a:t>DEPORT</a:t>
            </a:r>
            <a:r>
              <a:rPr sz="1000" b="0" i="0">
                <a:solidFill>
                  <a:srgbClr val="475569"/>
                </a:solidFill>
                <a:latin typeface="Segoe UI"/>
              </a:rPr>
              <a:t>  ·  Disruption-Aware Logistics Decision Support</a:t>
            </a:r>
          </a:p>
        </p:txBody>
      </p:sp>
      <p:sp>
        <p:nvSpPr>
          <p:cNvPr id="9" name="TextBox 8"/>
          <p:cNvSpPr txBox="1"/>
          <p:nvPr/>
        </p:nvSpPr>
        <p:spPr>
          <a:xfrm>
            <a:off x="10725912" y="6464808"/>
            <a:ext cx="914400" cy="228600"/>
          </a:xfrm>
          <a:prstGeom prst="rect">
            <a:avLst/>
          </a:prstGeom>
          <a:noFill/>
        </p:spPr>
        <p:txBody>
          <a:bodyPr wrap="square" lIns="0" tIns="0" rIns="0" bIns="0" anchor="t">
            <a:spAutoFit/>
          </a:bodyPr>
          <a:lstStyle/>
          <a:p>
            <a:pPr algn="r">
              <a:lnSpc>
                <a:spcPct val="108000"/>
              </a:lnSpc>
              <a:spcAft>
                <a:spcPts val="400"/>
              </a:spcAft>
            </a:pPr>
            <a:r>
              <a:rPr sz="1000" b="0" i="0">
                <a:solidFill>
                  <a:srgbClr val="475569"/>
                </a:solidFill>
                <a:latin typeface="Segoe UI"/>
              </a:rPr>
              <a:t>2 / 17</a:t>
            </a:r>
          </a:p>
        </p:txBody>
      </p:sp>
      <p:sp>
        <p:nvSpPr>
          <p:cNvPr id="10" name="Rounded Rectangle 9"/>
          <p:cNvSpPr/>
          <p:nvPr/>
        </p:nvSpPr>
        <p:spPr>
          <a:xfrm>
            <a:off x="777240" y="1874519"/>
            <a:ext cx="3474720" cy="27432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1097280" y="2194560"/>
            <a:ext cx="713232" cy="713232"/>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2400" b="0">
                <a:solidFill>
                  <a:srgbClr val="0F172A"/>
                </a:solidFill>
                <a:latin typeface="Segoe UI Emoji"/>
              </a:rPr>
              <a:t>🚧</a:t>
            </a:r>
          </a:p>
        </p:txBody>
      </p:sp>
      <p:sp>
        <p:nvSpPr>
          <p:cNvPr id="12" name="TextBox 11"/>
          <p:cNvSpPr txBox="1"/>
          <p:nvPr/>
        </p:nvSpPr>
        <p:spPr>
          <a:xfrm>
            <a:off x="1097280" y="3044952"/>
            <a:ext cx="2926080" cy="384048"/>
          </a:xfrm>
          <a:prstGeom prst="rect">
            <a:avLst/>
          </a:prstGeom>
          <a:noFill/>
        </p:spPr>
        <p:txBody>
          <a:bodyPr wrap="square" lIns="0" tIns="0" rIns="0" bIns="0" anchor="t">
            <a:spAutoFit/>
          </a:bodyPr>
          <a:lstStyle/>
          <a:p>
            <a:pPr algn="l">
              <a:lnSpc>
                <a:spcPct val="108000"/>
              </a:lnSpc>
              <a:spcAft>
                <a:spcPts val="400"/>
              </a:spcAft>
            </a:pPr>
            <a:r>
              <a:rPr sz="1750" b="0" i="0">
                <a:solidFill>
                  <a:srgbClr val="0B1E3F"/>
                </a:solidFill>
                <a:latin typeface="Segoe UI Semibold"/>
              </a:rPr>
              <a:t>One block, many late parcels</a:t>
            </a:r>
          </a:p>
        </p:txBody>
      </p:sp>
      <p:sp>
        <p:nvSpPr>
          <p:cNvPr id="13" name="TextBox 12"/>
          <p:cNvSpPr txBox="1"/>
          <p:nvPr/>
        </p:nvSpPr>
        <p:spPr>
          <a:xfrm>
            <a:off x="1097280" y="3520440"/>
            <a:ext cx="2880360" cy="1051560"/>
          </a:xfrm>
          <a:prstGeom prst="rect">
            <a:avLst/>
          </a:prstGeom>
          <a:noFill/>
        </p:spPr>
        <p:txBody>
          <a:bodyPr wrap="square" lIns="0" tIns="0" rIns="0" bIns="0" anchor="t">
            <a:spAutoFit/>
          </a:bodyPr>
          <a:lstStyle/>
          <a:p>
            <a:pPr algn="l">
              <a:lnSpc>
                <a:spcPct val="115000"/>
              </a:lnSpc>
              <a:spcAft>
                <a:spcPts val="400"/>
              </a:spcAft>
            </a:pPr>
            <a:r>
              <a:rPr sz="1400" b="0" i="0">
                <a:solidFill>
                  <a:srgbClr val="475569"/>
                </a:solidFill>
                <a:latin typeface="Segoe UI"/>
              </a:rPr>
              <a:t>A single accident on a main road delays every delivery planned behind it on that route.</a:t>
            </a:r>
          </a:p>
        </p:txBody>
      </p:sp>
      <p:sp>
        <p:nvSpPr>
          <p:cNvPr id="14" name="Rounded Rectangle 13"/>
          <p:cNvSpPr/>
          <p:nvPr/>
        </p:nvSpPr>
        <p:spPr>
          <a:xfrm>
            <a:off x="4434840" y="1874519"/>
            <a:ext cx="3474720" cy="27432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4754879" y="2194560"/>
            <a:ext cx="713232" cy="713232"/>
          </a:xfrm>
          <a:prstGeom prst="ellipse">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2400" b="0">
                <a:solidFill>
                  <a:srgbClr val="0F172A"/>
                </a:solidFill>
                <a:latin typeface="Segoe UI Emoji"/>
              </a:rPr>
              <a:t>📞</a:t>
            </a:r>
          </a:p>
        </p:txBody>
      </p:sp>
      <p:sp>
        <p:nvSpPr>
          <p:cNvPr id="16" name="TextBox 15"/>
          <p:cNvSpPr txBox="1"/>
          <p:nvPr/>
        </p:nvSpPr>
        <p:spPr>
          <a:xfrm>
            <a:off x="4754879" y="3044952"/>
            <a:ext cx="2926080" cy="384048"/>
          </a:xfrm>
          <a:prstGeom prst="rect">
            <a:avLst/>
          </a:prstGeom>
          <a:noFill/>
        </p:spPr>
        <p:txBody>
          <a:bodyPr wrap="square" lIns="0" tIns="0" rIns="0" bIns="0" anchor="t">
            <a:spAutoFit/>
          </a:bodyPr>
          <a:lstStyle/>
          <a:p>
            <a:pPr algn="l">
              <a:lnSpc>
                <a:spcPct val="108000"/>
              </a:lnSpc>
              <a:spcAft>
                <a:spcPts val="400"/>
              </a:spcAft>
            </a:pPr>
            <a:r>
              <a:rPr sz="1750" b="0" i="0">
                <a:solidFill>
                  <a:srgbClr val="0B1E3F"/>
                </a:solidFill>
                <a:latin typeface="Segoe UI Semibold"/>
              </a:rPr>
              <a:t>Information is stuck in calls</a:t>
            </a:r>
          </a:p>
        </p:txBody>
      </p:sp>
      <p:sp>
        <p:nvSpPr>
          <p:cNvPr id="17" name="TextBox 16"/>
          <p:cNvSpPr txBox="1"/>
          <p:nvPr/>
        </p:nvSpPr>
        <p:spPr>
          <a:xfrm>
            <a:off x="4754879" y="3520440"/>
            <a:ext cx="2880360" cy="1051560"/>
          </a:xfrm>
          <a:prstGeom prst="rect">
            <a:avLst/>
          </a:prstGeom>
          <a:noFill/>
        </p:spPr>
        <p:txBody>
          <a:bodyPr wrap="square" lIns="0" tIns="0" rIns="0" bIns="0" anchor="t">
            <a:spAutoFit/>
          </a:bodyPr>
          <a:lstStyle/>
          <a:p>
            <a:pPr algn="l">
              <a:lnSpc>
                <a:spcPct val="115000"/>
              </a:lnSpc>
              <a:spcAft>
                <a:spcPts val="400"/>
              </a:spcAft>
            </a:pPr>
            <a:r>
              <a:rPr sz="1400" b="0" i="0">
                <a:solidFill>
                  <a:srgbClr val="475569"/>
                </a:solidFill>
                <a:latin typeface="Segoe UI"/>
              </a:rPr>
              <a:t>Drivers phone the office in Tamil or English. Nobody sees the full picture at once.</a:t>
            </a:r>
          </a:p>
        </p:txBody>
      </p:sp>
      <p:sp>
        <p:nvSpPr>
          <p:cNvPr id="18" name="Rounded Rectangle 17"/>
          <p:cNvSpPr/>
          <p:nvPr/>
        </p:nvSpPr>
        <p:spPr>
          <a:xfrm>
            <a:off x="8092440" y="1874519"/>
            <a:ext cx="3474720" cy="27432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8412480" y="2194560"/>
            <a:ext cx="713232" cy="713232"/>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2400" b="0">
                <a:solidFill>
                  <a:srgbClr val="0F172A"/>
                </a:solidFill>
                <a:latin typeface="Segoe UI Emoji"/>
              </a:rPr>
              <a:t>⏱️</a:t>
            </a:r>
          </a:p>
        </p:txBody>
      </p:sp>
      <p:sp>
        <p:nvSpPr>
          <p:cNvPr id="20" name="TextBox 19"/>
          <p:cNvSpPr txBox="1"/>
          <p:nvPr/>
        </p:nvSpPr>
        <p:spPr>
          <a:xfrm>
            <a:off x="8412480" y="3044952"/>
            <a:ext cx="2926080" cy="384048"/>
          </a:xfrm>
          <a:prstGeom prst="rect">
            <a:avLst/>
          </a:prstGeom>
          <a:noFill/>
        </p:spPr>
        <p:txBody>
          <a:bodyPr wrap="square" lIns="0" tIns="0" rIns="0" bIns="0" anchor="t">
            <a:spAutoFit/>
          </a:bodyPr>
          <a:lstStyle/>
          <a:p>
            <a:pPr algn="l">
              <a:lnSpc>
                <a:spcPct val="108000"/>
              </a:lnSpc>
              <a:spcAft>
                <a:spcPts val="400"/>
              </a:spcAft>
            </a:pPr>
            <a:r>
              <a:rPr sz="1750" b="0" i="0">
                <a:solidFill>
                  <a:srgbClr val="0B1E3F"/>
                </a:solidFill>
                <a:latin typeface="Segoe UI Semibold"/>
              </a:rPr>
              <a:t>Decisions come too late</a:t>
            </a:r>
          </a:p>
        </p:txBody>
      </p:sp>
      <p:sp>
        <p:nvSpPr>
          <p:cNvPr id="21" name="TextBox 20"/>
          <p:cNvSpPr txBox="1"/>
          <p:nvPr/>
        </p:nvSpPr>
        <p:spPr>
          <a:xfrm>
            <a:off x="8412480" y="3520440"/>
            <a:ext cx="2880360" cy="1051560"/>
          </a:xfrm>
          <a:prstGeom prst="rect">
            <a:avLst/>
          </a:prstGeom>
          <a:noFill/>
        </p:spPr>
        <p:txBody>
          <a:bodyPr wrap="square" lIns="0" tIns="0" rIns="0" bIns="0" anchor="t">
            <a:spAutoFit/>
          </a:bodyPr>
          <a:lstStyle/>
          <a:p>
            <a:pPr algn="l">
              <a:lnSpc>
                <a:spcPct val="115000"/>
              </a:lnSpc>
              <a:spcAft>
                <a:spcPts val="400"/>
              </a:spcAft>
            </a:pPr>
            <a:r>
              <a:rPr sz="1400" b="0" i="0">
                <a:solidFill>
                  <a:srgbClr val="475569"/>
                </a:solidFill>
                <a:latin typeface="Segoe UI"/>
              </a:rPr>
              <a:t>By the time someone works out a plan, the medicine or the milk is already late.</a:t>
            </a:r>
          </a:p>
        </p:txBody>
      </p:sp>
      <p:sp>
        <p:nvSpPr>
          <p:cNvPr id="22" name="Rounded Rectangle 21"/>
          <p:cNvSpPr/>
          <p:nvPr/>
        </p:nvSpPr>
        <p:spPr>
          <a:xfrm>
            <a:off x="777240" y="4892040"/>
            <a:ext cx="10789920" cy="1188720"/>
          </a:xfrm>
          <a:prstGeom prst="roundRect">
            <a:avLst>
              <a:gd name="adj" fmla="val 12000"/>
            </a:avLst>
          </a:prstGeom>
          <a:gradFill rotWithShape="1">
            <a:gsLst>
              <a:gs pos="0">
                <a:srgbClr val="0B1E3F"/>
              </a:gs>
              <a:gs pos="100000">
                <a:srgbClr val="1E3A8A"/>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097280" y="5047488"/>
            <a:ext cx="10241280" cy="274320"/>
          </a:xfrm>
          <a:prstGeom prst="rect">
            <a:avLst/>
          </a:prstGeom>
          <a:noFill/>
        </p:spPr>
        <p:txBody>
          <a:bodyPr wrap="square" lIns="0" tIns="0" rIns="0" bIns="0" anchor="t">
            <a:spAutoFit/>
          </a:bodyPr>
          <a:lstStyle/>
          <a:p>
            <a:pPr algn="l">
              <a:lnSpc>
                <a:spcPct val="108000"/>
              </a:lnSpc>
              <a:spcAft>
                <a:spcPts val="400"/>
              </a:spcAft>
            </a:pPr>
            <a:r>
              <a:rPr sz="1100" b="0" i="0" spc="200">
                <a:solidFill>
                  <a:srgbClr val="F59E0B"/>
                </a:solidFill>
                <a:latin typeface="Segoe UI Semibold"/>
              </a:rPr>
              <a:t>REAL EXAMPLE FROM OUR DEMO</a:t>
            </a:r>
          </a:p>
        </p:txBody>
      </p:sp>
      <p:sp>
        <p:nvSpPr>
          <p:cNvPr id="24" name="TextBox 23"/>
          <p:cNvSpPr txBox="1"/>
          <p:nvPr/>
        </p:nvSpPr>
        <p:spPr>
          <a:xfrm>
            <a:off x="1097280" y="5349240"/>
            <a:ext cx="10241280" cy="548640"/>
          </a:xfrm>
          <a:prstGeom prst="rect">
            <a:avLst/>
          </a:prstGeom>
          <a:noFill/>
        </p:spPr>
        <p:txBody>
          <a:bodyPr wrap="square" lIns="0" tIns="0" rIns="0" bIns="0" anchor="t">
            <a:spAutoFit/>
          </a:bodyPr>
          <a:lstStyle/>
          <a:p>
            <a:pPr algn="l">
              <a:lnSpc>
                <a:spcPct val="108000"/>
              </a:lnSpc>
              <a:spcAft>
                <a:spcPts val="400"/>
              </a:spcAft>
            </a:pPr>
            <a:r>
              <a:rPr sz="1900" b="0" i="0">
                <a:solidFill>
                  <a:srgbClr val="FFFFFF"/>
                </a:solidFill>
                <a:latin typeface="Segoe UI Semibold"/>
              </a:rPr>
              <a:t>1 accident on Avinashi Road</a:t>
            </a:r>
            <a:r>
              <a:rPr sz="1900" b="0" i="0">
                <a:solidFill>
                  <a:srgbClr val="93C5FD"/>
                </a:solidFill>
                <a:latin typeface="Segoe UI"/>
              </a:rPr>
              <a:t>  →  </a:t>
            </a:r>
            <a:r>
              <a:rPr sz="1900" b="0" i="0">
                <a:solidFill>
                  <a:srgbClr val="FFFFFF"/>
                </a:solidFill>
                <a:latin typeface="Segoe UI Semibold"/>
              </a:rPr>
              <a:t>9 deliveries hit</a:t>
            </a:r>
            <a:r>
              <a:rPr sz="1900" b="0" i="0">
                <a:solidFill>
                  <a:srgbClr val="93C5FD"/>
                </a:solidFill>
                <a:latin typeface="Segoe UI"/>
              </a:rPr>
              <a:t>  →  </a:t>
            </a:r>
            <a:r>
              <a:rPr sz="1900" b="0" i="0">
                <a:solidFill>
                  <a:srgbClr val="FCA5A5"/>
                </a:solidFill>
                <a:latin typeface="Segoe UI Semibold"/>
              </a:rPr>
              <a:t>3 deadlines missed</a:t>
            </a:r>
            <a:r>
              <a:rPr sz="1400" b="0" i="0">
                <a:solidFill>
                  <a:srgbClr val="CBD5E1"/>
                </a:solidFill>
                <a:latin typeface="Segoe UI"/>
              </a:rPr>
              <a:t>  (one is hospital insulin)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502920"/>
            <a:ext cx="82296" cy="896112"/>
          </a:xfrm>
          <a:prstGeom prst="roundRect">
            <a:avLst>
              <a:gd name="adj" fmla="val 50000"/>
            </a:avLst>
          </a:prstGeom>
          <a:gradFill rotWithShape="1">
            <a:gsLst>
              <a:gs pos="0">
                <a:srgbClr val="2563EB"/>
              </a:gs>
              <a:gs pos="100000">
                <a:srgbClr val="7C3AED"/>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04672" y="429768"/>
            <a:ext cx="9601200" cy="274320"/>
          </a:xfrm>
          <a:prstGeom prst="rect">
            <a:avLst/>
          </a:prstGeom>
          <a:noFill/>
        </p:spPr>
        <p:txBody>
          <a:bodyPr wrap="square" lIns="0" tIns="0" rIns="0" bIns="0" anchor="t">
            <a:spAutoFit/>
          </a:bodyPr>
          <a:lstStyle/>
          <a:p>
            <a:pPr algn="l">
              <a:lnSpc>
                <a:spcPct val="108000"/>
              </a:lnSpc>
              <a:spcAft>
                <a:spcPts val="400"/>
              </a:spcAft>
            </a:pPr>
            <a:r>
              <a:rPr sz="1100" b="0" i="0" spc="200">
                <a:solidFill>
                  <a:srgbClr val="2563EB"/>
                </a:solidFill>
                <a:latin typeface="Segoe UI Semibold"/>
              </a:rPr>
              <a:t>OUR SOLUTION</a:t>
            </a:r>
          </a:p>
        </p:txBody>
      </p:sp>
      <p:sp>
        <p:nvSpPr>
          <p:cNvPr id="4" name="TextBox 3"/>
          <p:cNvSpPr txBox="1"/>
          <p:nvPr/>
        </p:nvSpPr>
        <p:spPr>
          <a:xfrm>
            <a:off x="804672" y="676656"/>
            <a:ext cx="9875520" cy="566928"/>
          </a:xfrm>
          <a:prstGeom prst="rect">
            <a:avLst/>
          </a:prstGeom>
          <a:noFill/>
        </p:spPr>
        <p:txBody>
          <a:bodyPr wrap="square" lIns="0" tIns="0" rIns="0" bIns="0" anchor="t">
            <a:spAutoFit/>
          </a:bodyPr>
          <a:lstStyle/>
          <a:p>
            <a:pPr algn="l">
              <a:lnSpc>
                <a:spcPct val="100000"/>
              </a:lnSpc>
              <a:spcAft>
                <a:spcPts val="400"/>
              </a:spcAft>
            </a:pPr>
            <a:r>
              <a:rPr sz="3000" b="0" i="0">
                <a:solidFill>
                  <a:srgbClr val="0B1E3F"/>
                </a:solidFill>
                <a:latin typeface="Segoe UI Semibold"/>
              </a:rPr>
              <a:t>DEPORT in one line</a:t>
            </a:r>
          </a:p>
        </p:txBody>
      </p:sp>
      <p:pic>
        <p:nvPicPr>
          <p:cNvPr id="5" name="Picture 4" descr="logo_512.png"/>
          <p:cNvPicPr>
            <a:picLocks noChangeAspect="1"/>
          </p:cNvPicPr>
          <p:nvPr/>
        </p:nvPicPr>
        <p:blipFill>
          <a:blip r:embed="rId3"/>
          <a:stretch>
            <a:fillRect/>
          </a:stretch>
        </p:blipFill>
        <p:spPr>
          <a:xfrm>
            <a:off x="11137392" y="475488"/>
            <a:ext cx="475488" cy="475488"/>
          </a:xfrm>
          <a:prstGeom prst="rect">
            <a:avLst/>
          </a:prstGeom>
        </p:spPr>
      </p:pic>
      <p:sp>
        <p:nvSpPr>
          <p:cNvPr id="6" name="Rectangle 5"/>
          <p:cNvSpPr/>
          <p:nvPr/>
        </p:nvSpPr>
        <p:spPr>
          <a:xfrm>
            <a:off x="548640" y="6400800"/>
            <a:ext cx="11091672"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6464808"/>
            <a:ext cx="7315200" cy="228600"/>
          </a:xfrm>
          <a:prstGeom prst="rect">
            <a:avLst/>
          </a:prstGeom>
          <a:noFill/>
        </p:spPr>
        <p:txBody>
          <a:bodyPr wrap="square" lIns="0" tIns="0" rIns="0" bIns="0" anchor="t">
            <a:spAutoFit/>
          </a:bodyPr>
          <a:lstStyle/>
          <a:p>
            <a:pPr algn="l">
              <a:lnSpc>
                <a:spcPct val="108000"/>
              </a:lnSpc>
              <a:spcAft>
                <a:spcPts val="400"/>
              </a:spcAft>
            </a:pPr>
            <a:r>
              <a:rPr sz="1000" b="0" i="0" spc="150">
                <a:solidFill>
                  <a:srgbClr val="0B1E3F"/>
                </a:solidFill>
                <a:latin typeface="Segoe UI Semibold"/>
              </a:rPr>
              <a:t>DEPORT</a:t>
            </a:r>
            <a:r>
              <a:rPr sz="1000" b="0" i="0">
                <a:solidFill>
                  <a:srgbClr val="475569"/>
                </a:solidFill>
                <a:latin typeface="Segoe UI"/>
              </a:rPr>
              <a:t>  ·  Disruption-Aware Logistics Decision Support</a:t>
            </a:r>
          </a:p>
        </p:txBody>
      </p:sp>
      <p:sp>
        <p:nvSpPr>
          <p:cNvPr id="8" name="TextBox 7"/>
          <p:cNvSpPr txBox="1"/>
          <p:nvPr/>
        </p:nvSpPr>
        <p:spPr>
          <a:xfrm>
            <a:off x="10725912" y="6464808"/>
            <a:ext cx="914400" cy="228600"/>
          </a:xfrm>
          <a:prstGeom prst="rect">
            <a:avLst/>
          </a:prstGeom>
          <a:noFill/>
        </p:spPr>
        <p:txBody>
          <a:bodyPr wrap="square" lIns="0" tIns="0" rIns="0" bIns="0" anchor="t">
            <a:spAutoFit/>
          </a:bodyPr>
          <a:lstStyle/>
          <a:p>
            <a:pPr algn="r">
              <a:lnSpc>
                <a:spcPct val="108000"/>
              </a:lnSpc>
              <a:spcAft>
                <a:spcPts val="400"/>
              </a:spcAft>
            </a:pPr>
            <a:r>
              <a:rPr sz="1000" b="0" i="0">
                <a:solidFill>
                  <a:srgbClr val="475569"/>
                </a:solidFill>
                <a:latin typeface="Segoe UI"/>
              </a:rPr>
              <a:t>3 / 17</a:t>
            </a:r>
          </a:p>
        </p:txBody>
      </p:sp>
      <p:sp>
        <p:nvSpPr>
          <p:cNvPr id="9" name="Rounded Rectangle 8"/>
          <p:cNvSpPr/>
          <p:nvPr/>
        </p:nvSpPr>
        <p:spPr>
          <a:xfrm>
            <a:off x="777240" y="1737360"/>
            <a:ext cx="10789920" cy="1051560"/>
          </a:xfrm>
          <a:prstGeom prst="roundRect">
            <a:avLst>
              <a:gd name="adj" fmla="val 12000"/>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143000" y="1847088"/>
            <a:ext cx="10058400" cy="868680"/>
          </a:xfrm>
          <a:prstGeom prst="rect">
            <a:avLst/>
          </a:prstGeom>
          <a:noFill/>
        </p:spPr>
        <p:txBody>
          <a:bodyPr wrap="square" lIns="0" tIns="0" rIns="0" bIns="0" anchor="ctr">
            <a:spAutoFit/>
          </a:bodyPr>
          <a:lstStyle/>
          <a:p>
            <a:pPr algn="l">
              <a:lnSpc>
                <a:spcPct val="110000"/>
              </a:lnSpc>
              <a:spcAft>
                <a:spcPts val="400"/>
              </a:spcAft>
            </a:pPr>
            <a:r>
              <a:rPr sz="2200" b="0" i="0">
                <a:solidFill>
                  <a:srgbClr val="0B1E3F"/>
                </a:solidFill>
                <a:latin typeface="Segoe UI Semibold"/>
              </a:rPr>
              <a:t>“DEPORT turns a driver's voice note into a ready-to-approve recovery plan — in under a minute.”</a:t>
            </a:r>
          </a:p>
        </p:txBody>
      </p:sp>
      <p:sp>
        <p:nvSpPr>
          <p:cNvPr id="11" name="Rounded Rectangle 10"/>
          <p:cNvSpPr/>
          <p:nvPr/>
        </p:nvSpPr>
        <p:spPr>
          <a:xfrm>
            <a:off x="777240" y="3063240"/>
            <a:ext cx="3291840" cy="301752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1097280" y="3337560"/>
            <a:ext cx="566928" cy="566928"/>
          </a:xfrm>
          <a:prstGeom prst="ellipse">
            <a:avLst/>
          </a:prstGeom>
          <a:gradFill rotWithShape="1">
            <a:gsLst>
              <a:gs pos="0">
                <a:srgbClr val="2563EB"/>
              </a:gs>
              <a:gs pos="100000">
                <a:srgbClr val="7C3AED"/>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800" b="0">
                <a:solidFill>
                  <a:srgbClr val="FFFFFF"/>
                </a:solidFill>
                <a:latin typeface="Segoe UI Semibold"/>
              </a:rPr>
              <a:t>1</a:t>
            </a:r>
          </a:p>
        </p:txBody>
      </p:sp>
      <p:sp>
        <p:nvSpPr>
          <p:cNvPr id="13" name="TextBox 12"/>
          <p:cNvSpPr txBox="1"/>
          <p:nvPr/>
        </p:nvSpPr>
        <p:spPr>
          <a:xfrm>
            <a:off x="1783080" y="3401568"/>
            <a:ext cx="2194560" cy="457200"/>
          </a:xfrm>
          <a:prstGeom prst="rect">
            <a:avLst/>
          </a:prstGeom>
          <a:noFill/>
        </p:spPr>
        <p:txBody>
          <a:bodyPr wrap="square" lIns="0" tIns="0" rIns="0" bIns="0" anchor="t">
            <a:spAutoFit/>
          </a:bodyPr>
          <a:lstStyle/>
          <a:p>
            <a:pPr algn="l">
              <a:lnSpc>
                <a:spcPct val="108000"/>
              </a:lnSpc>
              <a:spcAft>
                <a:spcPts val="400"/>
              </a:spcAft>
            </a:pPr>
            <a:r>
              <a:rPr sz="2000" b="0" i="0">
                <a:solidFill>
                  <a:srgbClr val="0B1E3F"/>
                </a:solidFill>
                <a:latin typeface="Segoe UI Semibold"/>
              </a:rPr>
              <a:t>Report by voice</a:t>
            </a:r>
          </a:p>
        </p:txBody>
      </p:sp>
      <p:sp>
        <p:nvSpPr>
          <p:cNvPr id="14" name="TextBox 13"/>
          <p:cNvSpPr txBox="1"/>
          <p:nvPr/>
        </p:nvSpPr>
        <p:spPr>
          <a:xfrm>
            <a:off x="1097280" y="4160520"/>
            <a:ext cx="2743200" cy="1828800"/>
          </a:xfrm>
          <a:prstGeom prst="rect">
            <a:avLst/>
          </a:prstGeom>
          <a:noFill/>
        </p:spPr>
        <p:txBody>
          <a:bodyPr wrap="square" lIns="0" tIns="0" rIns="0" bIns="0" anchor="t">
            <a:spAutoFit/>
          </a:bodyPr>
          <a:lstStyle/>
          <a:p>
            <a:pPr algn="l">
              <a:lnSpc>
                <a:spcPct val="108000"/>
              </a:lnSpc>
              <a:spcAft>
                <a:spcPts val="900"/>
              </a:spcAft>
            </a:pPr>
            <a:r>
              <a:rPr sz="1100" b="0" i="0">
                <a:solidFill>
                  <a:srgbClr val="2563EB"/>
                </a:solidFill>
                <a:latin typeface="Segoe UI"/>
              </a:rPr>
              <a:t>●  </a:t>
            </a:r>
            <a:r>
              <a:rPr sz="1500" b="0" i="0">
                <a:solidFill>
                  <a:srgbClr val="0F172A"/>
                </a:solidFill>
                <a:latin typeface="Segoe UI"/>
              </a:rPr>
              <a:t>Tap a tile, speak or type</a:t>
            </a:r>
          </a:p>
          <a:p>
            <a:pPr algn="l">
              <a:lnSpc>
                <a:spcPct val="108000"/>
              </a:lnSpc>
              <a:spcAft>
                <a:spcPts val="900"/>
              </a:spcAft>
            </a:pPr>
            <a:r>
              <a:rPr sz="1100" b="0" i="0">
                <a:solidFill>
                  <a:srgbClr val="2563EB"/>
                </a:solidFill>
                <a:latin typeface="Segoe UI"/>
              </a:rPr>
              <a:t>●  </a:t>
            </a:r>
            <a:r>
              <a:rPr sz="1500" b="0" i="0">
                <a:solidFill>
                  <a:srgbClr val="0F172A"/>
                </a:solidFill>
                <a:latin typeface="Segoe UI"/>
              </a:rPr>
              <a:t>Tamil, English or both</a:t>
            </a:r>
          </a:p>
          <a:p>
            <a:pPr algn="l">
              <a:lnSpc>
                <a:spcPct val="108000"/>
              </a:lnSpc>
              <a:spcAft>
                <a:spcPts val="900"/>
              </a:spcAft>
            </a:pPr>
            <a:r>
              <a:rPr sz="1100" b="0" i="0">
                <a:solidFill>
                  <a:srgbClr val="2563EB"/>
                </a:solidFill>
                <a:latin typeface="Segoe UI"/>
              </a:rPr>
              <a:t>●  </a:t>
            </a:r>
            <a:r>
              <a:rPr sz="1500" b="0" i="0">
                <a:solidFill>
                  <a:srgbClr val="0F172A"/>
                </a:solidFill>
                <a:latin typeface="Segoe UI"/>
              </a:rPr>
              <a:t>Spelling mistakes are fine</a:t>
            </a:r>
          </a:p>
        </p:txBody>
      </p:sp>
      <p:sp>
        <p:nvSpPr>
          <p:cNvPr id="15" name="Right Arrow 14"/>
          <p:cNvSpPr/>
          <p:nvPr/>
        </p:nvSpPr>
        <p:spPr>
          <a:xfrm>
            <a:off x="4123944" y="4389120"/>
            <a:ext cx="347472" cy="365760"/>
          </a:xfrm>
          <a:prstGeom prst="rightArrow">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ounded Rectangle 15"/>
          <p:cNvSpPr/>
          <p:nvPr/>
        </p:nvSpPr>
        <p:spPr>
          <a:xfrm>
            <a:off x="4526279" y="3063240"/>
            <a:ext cx="3291840" cy="301752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4846319" y="3337560"/>
            <a:ext cx="566928" cy="566928"/>
          </a:xfrm>
          <a:prstGeom prst="ellipse">
            <a:avLst/>
          </a:prstGeom>
          <a:gradFill rotWithShape="1">
            <a:gsLst>
              <a:gs pos="0">
                <a:srgbClr val="2563EB"/>
              </a:gs>
              <a:gs pos="100000">
                <a:srgbClr val="7C3AED"/>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800" b="0">
                <a:solidFill>
                  <a:srgbClr val="FFFFFF"/>
                </a:solidFill>
                <a:latin typeface="Segoe UI Semibold"/>
              </a:rPr>
              <a:t>2</a:t>
            </a:r>
          </a:p>
        </p:txBody>
      </p:sp>
      <p:sp>
        <p:nvSpPr>
          <p:cNvPr id="18" name="TextBox 17"/>
          <p:cNvSpPr txBox="1"/>
          <p:nvPr/>
        </p:nvSpPr>
        <p:spPr>
          <a:xfrm>
            <a:off x="5532119" y="3401568"/>
            <a:ext cx="2194560" cy="457200"/>
          </a:xfrm>
          <a:prstGeom prst="rect">
            <a:avLst/>
          </a:prstGeom>
          <a:noFill/>
        </p:spPr>
        <p:txBody>
          <a:bodyPr wrap="square" lIns="0" tIns="0" rIns="0" bIns="0" anchor="t">
            <a:spAutoFit/>
          </a:bodyPr>
          <a:lstStyle/>
          <a:p>
            <a:pPr algn="l">
              <a:lnSpc>
                <a:spcPct val="108000"/>
              </a:lnSpc>
              <a:spcAft>
                <a:spcPts val="400"/>
              </a:spcAft>
            </a:pPr>
            <a:r>
              <a:rPr sz="2000" b="0" i="0">
                <a:solidFill>
                  <a:srgbClr val="0B1E3F"/>
                </a:solidFill>
                <a:latin typeface="Segoe UI Semibold"/>
              </a:rPr>
              <a:t>See the impact</a:t>
            </a:r>
          </a:p>
        </p:txBody>
      </p:sp>
      <p:sp>
        <p:nvSpPr>
          <p:cNvPr id="19" name="TextBox 18"/>
          <p:cNvSpPr txBox="1"/>
          <p:nvPr/>
        </p:nvSpPr>
        <p:spPr>
          <a:xfrm>
            <a:off x="4846319" y="4160520"/>
            <a:ext cx="2743200" cy="1828800"/>
          </a:xfrm>
          <a:prstGeom prst="rect">
            <a:avLst/>
          </a:prstGeom>
          <a:noFill/>
        </p:spPr>
        <p:txBody>
          <a:bodyPr wrap="square" lIns="0" tIns="0" rIns="0" bIns="0" anchor="t">
            <a:spAutoFit/>
          </a:bodyPr>
          <a:lstStyle/>
          <a:p>
            <a:pPr algn="l">
              <a:lnSpc>
                <a:spcPct val="108000"/>
              </a:lnSpc>
              <a:spcAft>
                <a:spcPts val="900"/>
              </a:spcAft>
            </a:pPr>
            <a:r>
              <a:rPr sz="1100" b="0" i="0">
                <a:solidFill>
                  <a:srgbClr val="2563EB"/>
                </a:solidFill>
                <a:latin typeface="Segoe UI"/>
              </a:rPr>
              <a:t>●  </a:t>
            </a:r>
            <a:r>
              <a:rPr sz="1500" b="0" i="0">
                <a:solidFill>
                  <a:srgbClr val="0F172A"/>
                </a:solidFill>
                <a:latin typeface="Segoe UI"/>
              </a:rPr>
              <a:t>Which deliveries will be late</a:t>
            </a:r>
          </a:p>
          <a:p>
            <a:pPr algn="l">
              <a:lnSpc>
                <a:spcPct val="108000"/>
              </a:lnSpc>
              <a:spcAft>
                <a:spcPts val="900"/>
              </a:spcAft>
            </a:pPr>
            <a:r>
              <a:rPr sz="1100" b="0" i="0">
                <a:solidFill>
                  <a:srgbClr val="2563EB"/>
                </a:solidFill>
                <a:latin typeface="Segoe UI"/>
              </a:rPr>
              <a:t>●  </a:t>
            </a:r>
            <a:r>
              <a:rPr sz="1500" b="0" i="0">
                <a:solidFill>
                  <a:srgbClr val="0F172A"/>
                </a:solidFill>
                <a:latin typeface="Segoe UI"/>
              </a:rPr>
              <a:t>By how many minutes</a:t>
            </a:r>
          </a:p>
          <a:p>
            <a:pPr algn="l">
              <a:lnSpc>
                <a:spcPct val="108000"/>
              </a:lnSpc>
              <a:spcAft>
                <a:spcPts val="900"/>
              </a:spcAft>
            </a:pPr>
            <a:r>
              <a:rPr sz="1100" b="0" i="0">
                <a:solidFill>
                  <a:srgbClr val="2563EB"/>
                </a:solidFill>
                <a:latin typeface="Segoe UI"/>
              </a:rPr>
              <a:t>●  </a:t>
            </a:r>
            <a:r>
              <a:rPr sz="1500" b="0" i="0">
                <a:solidFill>
                  <a:srgbClr val="0F172A"/>
                </a:solidFill>
                <a:latin typeface="Segoe UI"/>
              </a:rPr>
              <a:t>Risk: Critical · High · Medium · Low</a:t>
            </a:r>
          </a:p>
        </p:txBody>
      </p:sp>
      <p:sp>
        <p:nvSpPr>
          <p:cNvPr id="20" name="Right Arrow 19"/>
          <p:cNvSpPr/>
          <p:nvPr/>
        </p:nvSpPr>
        <p:spPr>
          <a:xfrm>
            <a:off x="7872983" y="4389120"/>
            <a:ext cx="347472" cy="365760"/>
          </a:xfrm>
          <a:prstGeom prst="rightArrow">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8275319" y="3063240"/>
            <a:ext cx="3291840" cy="301752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8595359" y="3337560"/>
            <a:ext cx="566928" cy="566928"/>
          </a:xfrm>
          <a:prstGeom prst="ellipse">
            <a:avLst/>
          </a:prstGeom>
          <a:gradFill rotWithShape="1">
            <a:gsLst>
              <a:gs pos="0">
                <a:srgbClr val="2563EB"/>
              </a:gs>
              <a:gs pos="100000">
                <a:srgbClr val="7C3AED"/>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800" b="0">
                <a:solidFill>
                  <a:srgbClr val="FFFFFF"/>
                </a:solidFill>
                <a:latin typeface="Segoe UI Semibold"/>
              </a:rPr>
              <a:t>3</a:t>
            </a:r>
          </a:p>
        </p:txBody>
      </p:sp>
      <p:sp>
        <p:nvSpPr>
          <p:cNvPr id="23" name="TextBox 22"/>
          <p:cNvSpPr txBox="1"/>
          <p:nvPr/>
        </p:nvSpPr>
        <p:spPr>
          <a:xfrm>
            <a:off x="9281159" y="3401568"/>
            <a:ext cx="2194560" cy="457200"/>
          </a:xfrm>
          <a:prstGeom prst="rect">
            <a:avLst/>
          </a:prstGeom>
          <a:noFill/>
        </p:spPr>
        <p:txBody>
          <a:bodyPr wrap="square" lIns="0" tIns="0" rIns="0" bIns="0" anchor="t">
            <a:spAutoFit/>
          </a:bodyPr>
          <a:lstStyle/>
          <a:p>
            <a:pPr algn="l">
              <a:lnSpc>
                <a:spcPct val="108000"/>
              </a:lnSpc>
              <a:spcAft>
                <a:spcPts val="400"/>
              </a:spcAft>
            </a:pPr>
            <a:r>
              <a:rPr sz="2000" b="0" i="0">
                <a:solidFill>
                  <a:srgbClr val="0B1E3F"/>
                </a:solidFill>
                <a:latin typeface="Segoe UI Semibold"/>
              </a:rPr>
              <a:t>Fix in one click</a:t>
            </a:r>
          </a:p>
        </p:txBody>
      </p:sp>
      <p:sp>
        <p:nvSpPr>
          <p:cNvPr id="24" name="TextBox 23"/>
          <p:cNvSpPr txBox="1"/>
          <p:nvPr/>
        </p:nvSpPr>
        <p:spPr>
          <a:xfrm>
            <a:off x="8595359" y="4160520"/>
            <a:ext cx="2743200" cy="1828800"/>
          </a:xfrm>
          <a:prstGeom prst="rect">
            <a:avLst/>
          </a:prstGeom>
          <a:noFill/>
        </p:spPr>
        <p:txBody>
          <a:bodyPr wrap="square" lIns="0" tIns="0" rIns="0" bIns="0" anchor="t">
            <a:spAutoFit/>
          </a:bodyPr>
          <a:lstStyle/>
          <a:p>
            <a:pPr algn="l">
              <a:lnSpc>
                <a:spcPct val="108000"/>
              </a:lnSpc>
              <a:spcAft>
                <a:spcPts val="900"/>
              </a:spcAft>
            </a:pPr>
            <a:r>
              <a:rPr sz="1100" b="0" i="0">
                <a:solidFill>
                  <a:srgbClr val="2563EB"/>
                </a:solidFill>
                <a:latin typeface="Segoe UI"/>
              </a:rPr>
              <a:t>●  </a:t>
            </a:r>
            <a:r>
              <a:rPr sz="1500" b="0" i="0">
                <a:solidFill>
                  <a:srgbClr val="0F172A"/>
                </a:solidFill>
                <a:latin typeface="Segoe UI"/>
              </a:rPr>
              <a:t>AI plan: backup van, reroute, notify</a:t>
            </a:r>
          </a:p>
          <a:p>
            <a:pPr algn="l">
              <a:lnSpc>
                <a:spcPct val="108000"/>
              </a:lnSpc>
              <a:spcAft>
                <a:spcPts val="900"/>
              </a:spcAft>
            </a:pPr>
            <a:r>
              <a:rPr sz="1100" b="0" i="0">
                <a:solidFill>
                  <a:srgbClr val="2563EB"/>
                </a:solidFill>
                <a:latin typeface="Segoe UI"/>
              </a:rPr>
              <a:t>●  </a:t>
            </a:r>
            <a:r>
              <a:rPr sz="1500" b="0" i="0">
                <a:solidFill>
                  <a:srgbClr val="0F172A"/>
                </a:solidFill>
                <a:latin typeface="Segoe UI"/>
              </a:rPr>
              <a:t>Admin taps Accept</a:t>
            </a:r>
          </a:p>
          <a:p>
            <a:pPr algn="l">
              <a:lnSpc>
                <a:spcPct val="108000"/>
              </a:lnSpc>
              <a:spcAft>
                <a:spcPts val="900"/>
              </a:spcAft>
            </a:pPr>
            <a:r>
              <a:rPr sz="1100" b="0" i="0">
                <a:solidFill>
                  <a:srgbClr val="2563EB"/>
                </a:solidFill>
                <a:latin typeface="Segoe UI"/>
              </a:rPr>
              <a:t>●  </a:t>
            </a:r>
            <a:r>
              <a:rPr sz="1500" b="0" i="0">
                <a:solidFill>
                  <a:srgbClr val="0F172A"/>
                </a:solidFill>
                <a:latin typeface="Segoe UI"/>
              </a:rPr>
              <a:t>Everyone is updated at once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502920"/>
            <a:ext cx="82296" cy="896112"/>
          </a:xfrm>
          <a:prstGeom prst="roundRect">
            <a:avLst>
              <a:gd name="adj" fmla="val 50000"/>
            </a:avLst>
          </a:prstGeom>
          <a:gradFill rotWithShape="1">
            <a:gsLst>
              <a:gs pos="0">
                <a:srgbClr val="2563EB"/>
              </a:gs>
              <a:gs pos="100000">
                <a:srgbClr val="7C3AED"/>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04672" y="429768"/>
            <a:ext cx="9601200" cy="274320"/>
          </a:xfrm>
          <a:prstGeom prst="rect">
            <a:avLst/>
          </a:prstGeom>
          <a:noFill/>
        </p:spPr>
        <p:txBody>
          <a:bodyPr wrap="square" lIns="0" tIns="0" rIns="0" bIns="0" anchor="t">
            <a:spAutoFit/>
          </a:bodyPr>
          <a:lstStyle/>
          <a:p>
            <a:pPr algn="l">
              <a:lnSpc>
                <a:spcPct val="108000"/>
              </a:lnSpc>
              <a:spcAft>
                <a:spcPts val="400"/>
              </a:spcAft>
            </a:pPr>
            <a:r>
              <a:rPr sz="1100" b="0" i="0" spc="200">
                <a:solidFill>
                  <a:srgbClr val="2563EB"/>
                </a:solidFill>
                <a:latin typeface="Segoe UI Semibold"/>
              </a:rPr>
              <a:t>WHO USES DEPORT</a:t>
            </a:r>
          </a:p>
        </p:txBody>
      </p:sp>
      <p:sp>
        <p:nvSpPr>
          <p:cNvPr id="4" name="TextBox 3"/>
          <p:cNvSpPr txBox="1"/>
          <p:nvPr/>
        </p:nvSpPr>
        <p:spPr>
          <a:xfrm>
            <a:off x="804672" y="676656"/>
            <a:ext cx="9875520" cy="566928"/>
          </a:xfrm>
          <a:prstGeom prst="rect">
            <a:avLst/>
          </a:prstGeom>
          <a:noFill/>
        </p:spPr>
        <p:txBody>
          <a:bodyPr wrap="square" lIns="0" tIns="0" rIns="0" bIns="0" anchor="t">
            <a:spAutoFit/>
          </a:bodyPr>
          <a:lstStyle/>
          <a:p>
            <a:pPr algn="l">
              <a:lnSpc>
                <a:spcPct val="100000"/>
              </a:lnSpc>
              <a:spcAft>
                <a:spcPts val="400"/>
              </a:spcAft>
            </a:pPr>
            <a:r>
              <a:rPr sz="3000" b="0" i="0">
                <a:solidFill>
                  <a:srgbClr val="0B1E3F"/>
                </a:solidFill>
                <a:latin typeface="Segoe UI Semibold"/>
              </a:rPr>
              <a:t>Three users, three simple screens</a:t>
            </a:r>
          </a:p>
        </p:txBody>
      </p:sp>
      <p:pic>
        <p:nvPicPr>
          <p:cNvPr id="5" name="Picture 4" descr="logo_512.png"/>
          <p:cNvPicPr>
            <a:picLocks noChangeAspect="1"/>
          </p:cNvPicPr>
          <p:nvPr/>
        </p:nvPicPr>
        <p:blipFill>
          <a:blip r:embed="rId3"/>
          <a:stretch>
            <a:fillRect/>
          </a:stretch>
        </p:blipFill>
        <p:spPr>
          <a:xfrm>
            <a:off x="11137392" y="475488"/>
            <a:ext cx="475488" cy="475488"/>
          </a:xfrm>
          <a:prstGeom prst="rect">
            <a:avLst/>
          </a:prstGeom>
        </p:spPr>
      </p:pic>
      <p:sp>
        <p:nvSpPr>
          <p:cNvPr id="6" name="Rectangle 5"/>
          <p:cNvSpPr/>
          <p:nvPr/>
        </p:nvSpPr>
        <p:spPr>
          <a:xfrm>
            <a:off x="548640" y="6400800"/>
            <a:ext cx="11091672"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6464808"/>
            <a:ext cx="7315200" cy="228600"/>
          </a:xfrm>
          <a:prstGeom prst="rect">
            <a:avLst/>
          </a:prstGeom>
          <a:noFill/>
        </p:spPr>
        <p:txBody>
          <a:bodyPr wrap="square" lIns="0" tIns="0" rIns="0" bIns="0" anchor="t">
            <a:spAutoFit/>
          </a:bodyPr>
          <a:lstStyle/>
          <a:p>
            <a:pPr algn="l">
              <a:lnSpc>
                <a:spcPct val="108000"/>
              </a:lnSpc>
              <a:spcAft>
                <a:spcPts val="400"/>
              </a:spcAft>
            </a:pPr>
            <a:r>
              <a:rPr sz="1000" b="0" i="0" spc="150">
                <a:solidFill>
                  <a:srgbClr val="0B1E3F"/>
                </a:solidFill>
                <a:latin typeface="Segoe UI Semibold"/>
              </a:rPr>
              <a:t>DEPORT</a:t>
            </a:r>
            <a:r>
              <a:rPr sz="1000" b="0" i="0">
                <a:solidFill>
                  <a:srgbClr val="475569"/>
                </a:solidFill>
                <a:latin typeface="Segoe UI"/>
              </a:rPr>
              <a:t>  ·  Disruption-Aware Logistics Decision Support</a:t>
            </a:r>
          </a:p>
        </p:txBody>
      </p:sp>
      <p:sp>
        <p:nvSpPr>
          <p:cNvPr id="8" name="TextBox 7"/>
          <p:cNvSpPr txBox="1"/>
          <p:nvPr/>
        </p:nvSpPr>
        <p:spPr>
          <a:xfrm>
            <a:off x="10725912" y="6464808"/>
            <a:ext cx="914400" cy="228600"/>
          </a:xfrm>
          <a:prstGeom prst="rect">
            <a:avLst/>
          </a:prstGeom>
          <a:noFill/>
        </p:spPr>
        <p:txBody>
          <a:bodyPr wrap="square" lIns="0" tIns="0" rIns="0" bIns="0" anchor="t">
            <a:spAutoFit/>
          </a:bodyPr>
          <a:lstStyle/>
          <a:p>
            <a:pPr algn="r">
              <a:lnSpc>
                <a:spcPct val="108000"/>
              </a:lnSpc>
              <a:spcAft>
                <a:spcPts val="400"/>
              </a:spcAft>
            </a:pPr>
            <a:r>
              <a:rPr sz="1000" b="0" i="0">
                <a:solidFill>
                  <a:srgbClr val="475569"/>
                </a:solidFill>
                <a:latin typeface="Segoe UI"/>
              </a:rPr>
              <a:t>4 / 17</a:t>
            </a:r>
          </a:p>
        </p:txBody>
      </p:sp>
      <p:sp>
        <p:nvSpPr>
          <p:cNvPr id="9" name="Rounded Rectangle 8"/>
          <p:cNvSpPr/>
          <p:nvPr/>
        </p:nvSpPr>
        <p:spPr>
          <a:xfrm>
            <a:off x="777240" y="1783080"/>
            <a:ext cx="3474720" cy="38862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ounded Rectangle 9"/>
          <p:cNvSpPr/>
          <p:nvPr/>
        </p:nvSpPr>
        <p:spPr>
          <a:xfrm>
            <a:off x="777240" y="1783080"/>
            <a:ext cx="3474720" cy="960120"/>
          </a:xfrm>
          <a:prstGeom prst="roundRect">
            <a:avLst>
              <a:gd name="adj" fmla="val 12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1051560" y="1947672"/>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2200" b="0">
                <a:solidFill>
                  <a:srgbClr val="0F172A"/>
                </a:solidFill>
                <a:latin typeface="Segoe UI Emoji"/>
              </a:rPr>
              <a:t>🛡️</a:t>
            </a:r>
          </a:p>
        </p:txBody>
      </p:sp>
      <p:sp>
        <p:nvSpPr>
          <p:cNvPr id="12" name="TextBox 11"/>
          <p:cNvSpPr txBox="1"/>
          <p:nvPr/>
        </p:nvSpPr>
        <p:spPr>
          <a:xfrm>
            <a:off x="1828800" y="1938528"/>
            <a:ext cx="2377440" cy="365760"/>
          </a:xfrm>
          <a:prstGeom prst="rect">
            <a:avLst/>
          </a:prstGeom>
          <a:noFill/>
        </p:spPr>
        <p:txBody>
          <a:bodyPr wrap="square" lIns="0" tIns="0" rIns="0" bIns="0" anchor="t">
            <a:spAutoFit/>
          </a:bodyPr>
          <a:lstStyle/>
          <a:p>
            <a:pPr algn="l">
              <a:lnSpc>
                <a:spcPct val="108000"/>
              </a:lnSpc>
              <a:spcAft>
                <a:spcPts val="400"/>
              </a:spcAft>
            </a:pPr>
            <a:r>
              <a:rPr sz="2000" b="0" i="0">
                <a:solidFill>
                  <a:srgbClr val="7C3AED"/>
                </a:solidFill>
                <a:latin typeface="Segoe UI Semibold"/>
              </a:rPr>
              <a:t>Super Admin</a:t>
            </a:r>
          </a:p>
        </p:txBody>
      </p:sp>
      <p:sp>
        <p:nvSpPr>
          <p:cNvPr id="13" name="TextBox 12"/>
          <p:cNvSpPr txBox="1"/>
          <p:nvPr/>
        </p:nvSpPr>
        <p:spPr>
          <a:xfrm>
            <a:off x="1828800" y="2331720"/>
            <a:ext cx="2377440" cy="320040"/>
          </a:xfrm>
          <a:prstGeom prst="rect">
            <a:avLst/>
          </a:prstGeom>
          <a:noFill/>
        </p:spPr>
        <p:txBody>
          <a:bodyPr wrap="square" lIns="0" tIns="0" rIns="0" bIns="0" anchor="t">
            <a:spAutoFit/>
          </a:bodyPr>
          <a:lstStyle/>
          <a:p>
            <a:pPr algn="l">
              <a:lnSpc>
                <a:spcPct val="108000"/>
              </a:lnSpc>
              <a:spcAft>
                <a:spcPts val="400"/>
              </a:spcAft>
            </a:pPr>
            <a:r>
              <a:rPr sz="1200" b="0" i="0">
                <a:solidFill>
                  <a:srgbClr val="475569"/>
                </a:solidFill>
                <a:latin typeface="Segoe UI"/>
              </a:rPr>
              <a:t>Laptop · hidden /console page</a:t>
            </a:r>
          </a:p>
        </p:txBody>
      </p:sp>
      <p:sp>
        <p:nvSpPr>
          <p:cNvPr id="14" name="TextBox 13"/>
          <p:cNvSpPr txBox="1"/>
          <p:nvPr/>
        </p:nvSpPr>
        <p:spPr>
          <a:xfrm>
            <a:off x="1051560" y="2926080"/>
            <a:ext cx="2926080" cy="274320"/>
          </a:xfrm>
          <a:prstGeom prst="rect">
            <a:avLst/>
          </a:prstGeom>
          <a:noFill/>
        </p:spPr>
        <p:txBody>
          <a:bodyPr wrap="square" lIns="0" tIns="0" rIns="0" bIns="0" anchor="t">
            <a:spAutoFit/>
          </a:bodyPr>
          <a:lstStyle/>
          <a:p>
            <a:pPr algn="l">
              <a:lnSpc>
                <a:spcPct val="108000"/>
              </a:lnSpc>
              <a:spcAft>
                <a:spcPts val="400"/>
              </a:spcAft>
            </a:pPr>
            <a:r>
              <a:rPr sz="1050" b="0" i="0" spc="150">
                <a:solidFill>
                  <a:srgbClr val="475569"/>
                </a:solidFill>
                <a:latin typeface="Segoe UI Semibold"/>
              </a:rPr>
              <a:t>SEES</a:t>
            </a:r>
          </a:p>
        </p:txBody>
      </p:sp>
      <p:sp>
        <p:nvSpPr>
          <p:cNvPr id="15" name="TextBox 14"/>
          <p:cNvSpPr txBox="1"/>
          <p:nvPr/>
        </p:nvSpPr>
        <p:spPr>
          <a:xfrm>
            <a:off x="1051560" y="3154680"/>
            <a:ext cx="2926080" cy="365760"/>
          </a:xfrm>
          <a:prstGeom prst="rect">
            <a:avLst/>
          </a:prstGeom>
          <a:noFill/>
        </p:spPr>
        <p:txBody>
          <a:bodyPr wrap="square" lIns="0" tIns="0" rIns="0" bIns="0" anchor="t">
            <a:spAutoFit/>
          </a:bodyPr>
          <a:lstStyle/>
          <a:p>
            <a:pPr algn="l">
              <a:lnSpc>
                <a:spcPct val="108000"/>
              </a:lnSpc>
              <a:spcAft>
                <a:spcPts val="400"/>
              </a:spcAft>
            </a:pPr>
            <a:r>
              <a:rPr sz="1500" b="0" i="0">
                <a:solidFill>
                  <a:srgbClr val="0F172A"/>
                </a:solidFill>
                <a:latin typeface="Segoe UI Semibold"/>
              </a:rPr>
              <a:t>All branches – summary only</a:t>
            </a:r>
          </a:p>
        </p:txBody>
      </p:sp>
      <p:sp>
        <p:nvSpPr>
          <p:cNvPr id="16" name="TextBox 15"/>
          <p:cNvSpPr txBox="1"/>
          <p:nvPr/>
        </p:nvSpPr>
        <p:spPr>
          <a:xfrm>
            <a:off x="1051560" y="3657600"/>
            <a:ext cx="2926080" cy="274320"/>
          </a:xfrm>
          <a:prstGeom prst="rect">
            <a:avLst/>
          </a:prstGeom>
          <a:noFill/>
        </p:spPr>
        <p:txBody>
          <a:bodyPr wrap="square" lIns="0" tIns="0" rIns="0" bIns="0" anchor="t">
            <a:spAutoFit/>
          </a:bodyPr>
          <a:lstStyle/>
          <a:p>
            <a:pPr algn="l">
              <a:lnSpc>
                <a:spcPct val="108000"/>
              </a:lnSpc>
              <a:spcAft>
                <a:spcPts val="400"/>
              </a:spcAft>
            </a:pPr>
            <a:r>
              <a:rPr sz="1050" b="0" i="0" spc="150">
                <a:solidFill>
                  <a:srgbClr val="475569"/>
                </a:solidFill>
                <a:latin typeface="Segoe UI Semibold"/>
              </a:rPr>
              <a:t>DOES</a:t>
            </a:r>
          </a:p>
        </p:txBody>
      </p:sp>
      <p:sp>
        <p:nvSpPr>
          <p:cNvPr id="17" name="TextBox 16"/>
          <p:cNvSpPr txBox="1"/>
          <p:nvPr/>
        </p:nvSpPr>
        <p:spPr>
          <a:xfrm>
            <a:off x="1051560" y="3904487"/>
            <a:ext cx="2971800" cy="1737360"/>
          </a:xfrm>
          <a:prstGeom prst="rect">
            <a:avLst/>
          </a:prstGeom>
          <a:noFill/>
        </p:spPr>
        <p:txBody>
          <a:bodyPr wrap="square" lIns="0" tIns="0" rIns="0" bIns="0" anchor="t">
            <a:spAutoFit/>
          </a:bodyPr>
          <a:lstStyle/>
          <a:p>
            <a:pPr algn="l">
              <a:lnSpc>
                <a:spcPct val="108000"/>
              </a:lnSpc>
              <a:spcAft>
                <a:spcPts val="700"/>
              </a:spcAft>
            </a:pPr>
            <a:r>
              <a:rPr sz="1000" b="0" i="0">
                <a:solidFill>
                  <a:srgbClr val="7C3AED"/>
                </a:solidFill>
                <a:latin typeface="Segoe UI"/>
              </a:rPr>
              <a:t>●  </a:t>
            </a:r>
            <a:r>
              <a:rPr sz="1400" b="0" i="0">
                <a:solidFill>
                  <a:srgbClr val="0F172A"/>
                </a:solidFill>
                <a:latin typeface="Segoe UI"/>
              </a:rPr>
              <a:t>Creates branches and branch admins</a:t>
            </a:r>
          </a:p>
          <a:p>
            <a:pPr algn="l">
              <a:lnSpc>
                <a:spcPct val="108000"/>
              </a:lnSpc>
              <a:spcAft>
                <a:spcPts val="700"/>
              </a:spcAft>
            </a:pPr>
            <a:r>
              <a:rPr sz="1000" b="0" i="0">
                <a:solidFill>
                  <a:srgbClr val="7C3AED"/>
                </a:solidFill>
                <a:latin typeface="Segoe UI"/>
              </a:rPr>
              <a:t>●  </a:t>
            </a:r>
            <a:r>
              <a:rPr sz="1400" b="0" i="0">
                <a:solidFill>
                  <a:srgbClr val="0F172A"/>
                </a:solidFill>
                <a:latin typeface="Segoe UI"/>
              </a:rPr>
              <a:t>Switches accounts on / off</a:t>
            </a:r>
          </a:p>
          <a:p>
            <a:pPr algn="l">
              <a:lnSpc>
                <a:spcPct val="108000"/>
              </a:lnSpc>
              <a:spcAft>
                <a:spcPts val="700"/>
              </a:spcAft>
            </a:pPr>
            <a:r>
              <a:rPr sz="1000" b="0" i="0">
                <a:solidFill>
                  <a:srgbClr val="7C3AED"/>
                </a:solidFill>
                <a:latin typeface="Segoe UI"/>
              </a:rPr>
              <a:t>●  </a:t>
            </a:r>
            <a:r>
              <a:rPr sz="1400" b="0" i="0">
                <a:solidFill>
                  <a:srgbClr val="0F172A"/>
                </a:solidFill>
                <a:latin typeface="Segoe UI"/>
              </a:rPr>
              <a:t>Reads the audit log</a:t>
            </a:r>
          </a:p>
        </p:txBody>
      </p:sp>
      <p:sp>
        <p:nvSpPr>
          <p:cNvPr id="18" name="Rounded Rectangle 17"/>
          <p:cNvSpPr/>
          <p:nvPr/>
        </p:nvSpPr>
        <p:spPr>
          <a:xfrm>
            <a:off x="4434840" y="1783080"/>
            <a:ext cx="3474720" cy="38862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Rounded Rectangle 18"/>
          <p:cNvSpPr/>
          <p:nvPr/>
        </p:nvSpPr>
        <p:spPr>
          <a:xfrm>
            <a:off x="4434840" y="1783080"/>
            <a:ext cx="3474720" cy="960120"/>
          </a:xfrm>
          <a:prstGeom prst="roundRect">
            <a:avLst>
              <a:gd name="adj" fmla="val 12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4709159" y="1947672"/>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2200" b="0">
                <a:solidFill>
                  <a:srgbClr val="0F172A"/>
                </a:solidFill>
                <a:latin typeface="Segoe UI Emoji"/>
              </a:rPr>
              <a:t>🧭</a:t>
            </a:r>
          </a:p>
        </p:txBody>
      </p:sp>
      <p:sp>
        <p:nvSpPr>
          <p:cNvPr id="21" name="TextBox 20"/>
          <p:cNvSpPr txBox="1"/>
          <p:nvPr/>
        </p:nvSpPr>
        <p:spPr>
          <a:xfrm>
            <a:off x="5486400" y="1938528"/>
            <a:ext cx="2377440" cy="365760"/>
          </a:xfrm>
          <a:prstGeom prst="rect">
            <a:avLst/>
          </a:prstGeom>
          <a:noFill/>
        </p:spPr>
        <p:txBody>
          <a:bodyPr wrap="square" lIns="0" tIns="0" rIns="0" bIns="0" anchor="t">
            <a:spAutoFit/>
          </a:bodyPr>
          <a:lstStyle/>
          <a:p>
            <a:pPr algn="l">
              <a:lnSpc>
                <a:spcPct val="108000"/>
              </a:lnSpc>
              <a:spcAft>
                <a:spcPts val="400"/>
              </a:spcAft>
            </a:pPr>
            <a:r>
              <a:rPr sz="2000" b="0" i="0">
                <a:solidFill>
                  <a:srgbClr val="2563EB"/>
                </a:solidFill>
                <a:latin typeface="Segoe UI Semibold"/>
              </a:rPr>
              <a:t>Branch Admin</a:t>
            </a:r>
          </a:p>
        </p:txBody>
      </p:sp>
      <p:sp>
        <p:nvSpPr>
          <p:cNvPr id="22" name="TextBox 21"/>
          <p:cNvSpPr txBox="1"/>
          <p:nvPr/>
        </p:nvSpPr>
        <p:spPr>
          <a:xfrm>
            <a:off x="5486400" y="2331720"/>
            <a:ext cx="2377440" cy="320040"/>
          </a:xfrm>
          <a:prstGeom prst="rect">
            <a:avLst/>
          </a:prstGeom>
          <a:noFill/>
        </p:spPr>
        <p:txBody>
          <a:bodyPr wrap="square" lIns="0" tIns="0" rIns="0" bIns="0" anchor="t">
            <a:spAutoFit/>
          </a:bodyPr>
          <a:lstStyle/>
          <a:p>
            <a:pPr algn="l">
              <a:lnSpc>
                <a:spcPct val="108000"/>
              </a:lnSpc>
              <a:spcAft>
                <a:spcPts val="400"/>
              </a:spcAft>
            </a:pPr>
            <a:r>
              <a:rPr sz="1200" b="0" i="0">
                <a:solidFill>
                  <a:srgbClr val="475569"/>
                </a:solidFill>
                <a:latin typeface="Segoe UI"/>
              </a:rPr>
              <a:t>Laptop · normal sign-in</a:t>
            </a:r>
          </a:p>
        </p:txBody>
      </p:sp>
      <p:sp>
        <p:nvSpPr>
          <p:cNvPr id="23" name="TextBox 22"/>
          <p:cNvSpPr txBox="1"/>
          <p:nvPr/>
        </p:nvSpPr>
        <p:spPr>
          <a:xfrm>
            <a:off x="4709159" y="2926080"/>
            <a:ext cx="2926080" cy="274320"/>
          </a:xfrm>
          <a:prstGeom prst="rect">
            <a:avLst/>
          </a:prstGeom>
          <a:noFill/>
        </p:spPr>
        <p:txBody>
          <a:bodyPr wrap="square" lIns="0" tIns="0" rIns="0" bIns="0" anchor="t">
            <a:spAutoFit/>
          </a:bodyPr>
          <a:lstStyle/>
          <a:p>
            <a:pPr algn="l">
              <a:lnSpc>
                <a:spcPct val="108000"/>
              </a:lnSpc>
              <a:spcAft>
                <a:spcPts val="400"/>
              </a:spcAft>
            </a:pPr>
            <a:r>
              <a:rPr sz="1050" b="0" i="0" spc="150">
                <a:solidFill>
                  <a:srgbClr val="475569"/>
                </a:solidFill>
                <a:latin typeface="Segoe UI Semibold"/>
              </a:rPr>
              <a:t>SEES</a:t>
            </a:r>
          </a:p>
        </p:txBody>
      </p:sp>
      <p:sp>
        <p:nvSpPr>
          <p:cNvPr id="24" name="TextBox 23"/>
          <p:cNvSpPr txBox="1"/>
          <p:nvPr/>
        </p:nvSpPr>
        <p:spPr>
          <a:xfrm>
            <a:off x="4709159" y="3154680"/>
            <a:ext cx="2926080" cy="365760"/>
          </a:xfrm>
          <a:prstGeom prst="rect">
            <a:avLst/>
          </a:prstGeom>
          <a:noFill/>
        </p:spPr>
        <p:txBody>
          <a:bodyPr wrap="square" lIns="0" tIns="0" rIns="0" bIns="0" anchor="t">
            <a:spAutoFit/>
          </a:bodyPr>
          <a:lstStyle/>
          <a:p>
            <a:pPr algn="l">
              <a:lnSpc>
                <a:spcPct val="108000"/>
              </a:lnSpc>
              <a:spcAft>
                <a:spcPts val="400"/>
              </a:spcAft>
            </a:pPr>
            <a:r>
              <a:rPr sz="1500" b="0" i="0">
                <a:solidFill>
                  <a:srgbClr val="0F172A"/>
                </a:solidFill>
                <a:latin typeface="Segoe UI Semibold"/>
              </a:rPr>
              <a:t>Only their own branch</a:t>
            </a:r>
          </a:p>
        </p:txBody>
      </p:sp>
      <p:sp>
        <p:nvSpPr>
          <p:cNvPr id="25" name="TextBox 24"/>
          <p:cNvSpPr txBox="1"/>
          <p:nvPr/>
        </p:nvSpPr>
        <p:spPr>
          <a:xfrm>
            <a:off x="4709159" y="3657600"/>
            <a:ext cx="2926080" cy="274320"/>
          </a:xfrm>
          <a:prstGeom prst="rect">
            <a:avLst/>
          </a:prstGeom>
          <a:noFill/>
        </p:spPr>
        <p:txBody>
          <a:bodyPr wrap="square" lIns="0" tIns="0" rIns="0" bIns="0" anchor="t">
            <a:spAutoFit/>
          </a:bodyPr>
          <a:lstStyle/>
          <a:p>
            <a:pPr algn="l">
              <a:lnSpc>
                <a:spcPct val="108000"/>
              </a:lnSpc>
              <a:spcAft>
                <a:spcPts val="400"/>
              </a:spcAft>
            </a:pPr>
            <a:r>
              <a:rPr sz="1050" b="0" i="0" spc="150">
                <a:solidFill>
                  <a:srgbClr val="475569"/>
                </a:solidFill>
                <a:latin typeface="Segoe UI Semibold"/>
              </a:rPr>
              <a:t>DOES</a:t>
            </a:r>
          </a:p>
        </p:txBody>
      </p:sp>
      <p:sp>
        <p:nvSpPr>
          <p:cNvPr id="26" name="TextBox 25"/>
          <p:cNvSpPr txBox="1"/>
          <p:nvPr/>
        </p:nvSpPr>
        <p:spPr>
          <a:xfrm>
            <a:off x="4709159" y="3904487"/>
            <a:ext cx="2971800" cy="1737360"/>
          </a:xfrm>
          <a:prstGeom prst="rect">
            <a:avLst/>
          </a:prstGeom>
          <a:noFill/>
        </p:spPr>
        <p:txBody>
          <a:bodyPr wrap="square" lIns="0" tIns="0" rIns="0" bIns="0" anchor="t">
            <a:spAutoFit/>
          </a:bodyPr>
          <a:lstStyle/>
          <a:p>
            <a:pPr algn="l">
              <a:lnSpc>
                <a:spcPct val="108000"/>
              </a:lnSpc>
              <a:spcAft>
                <a:spcPts val="700"/>
              </a:spcAft>
            </a:pPr>
            <a:r>
              <a:rPr sz="1000" b="0" i="0">
                <a:solidFill>
                  <a:srgbClr val="2563EB"/>
                </a:solidFill>
                <a:latin typeface="Segoe UI"/>
              </a:rPr>
              <a:t>●  </a:t>
            </a:r>
            <a:r>
              <a:rPr sz="1400" b="0" i="0">
                <a:solidFill>
                  <a:srgbClr val="0F172A"/>
                </a:solidFill>
                <a:latin typeface="Segoe UI"/>
              </a:rPr>
              <a:t>Reviews alerts, accepts AI plans</a:t>
            </a:r>
          </a:p>
          <a:p>
            <a:pPr algn="l">
              <a:lnSpc>
                <a:spcPct val="108000"/>
              </a:lnSpc>
              <a:spcAft>
                <a:spcPts val="700"/>
              </a:spcAft>
            </a:pPr>
            <a:r>
              <a:rPr sz="1000" b="0" i="0">
                <a:solidFill>
                  <a:srgbClr val="2563EB"/>
                </a:solidFill>
                <a:latin typeface="Segoe UI"/>
              </a:rPr>
              <a:t>●  </a:t>
            </a:r>
            <a:r>
              <a:rPr sz="1400" b="0" i="0">
                <a:solidFill>
                  <a:srgbClr val="0F172A"/>
                </a:solidFill>
                <a:latin typeface="Segoe UI"/>
              </a:rPr>
              <a:t>Watches the live map</a:t>
            </a:r>
          </a:p>
          <a:p>
            <a:pPr algn="l">
              <a:lnSpc>
                <a:spcPct val="108000"/>
              </a:lnSpc>
              <a:spcAft>
                <a:spcPts val="700"/>
              </a:spcAft>
            </a:pPr>
            <a:r>
              <a:rPr sz="1000" b="0" i="0">
                <a:solidFill>
                  <a:srgbClr val="2563EB"/>
                </a:solidFill>
                <a:latin typeface="Segoe UI"/>
              </a:rPr>
              <a:t>●  </a:t>
            </a:r>
            <a:r>
              <a:rPr sz="1400" b="0" i="0">
                <a:solidFill>
                  <a:srgbClr val="0F172A"/>
                </a:solidFill>
                <a:latin typeface="Segoe UI"/>
              </a:rPr>
              <a:t>Assigns new work to partners</a:t>
            </a:r>
          </a:p>
        </p:txBody>
      </p:sp>
      <p:sp>
        <p:nvSpPr>
          <p:cNvPr id="27" name="Rounded Rectangle 26"/>
          <p:cNvSpPr/>
          <p:nvPr/>
        </p:nvSpPr>
        <p:spPr>
          <a:xfrm>
            <a:off x="8092440" y="1783080"/>
            <a:ext cx="3474720" cy="38862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8092440" y="1783080"/>
            <a:ext cx="3474720" cy="960120"/>
          </a:xfrm>
          <a:prstGeom prst="roundRect">
            <a:avLst>
              <a:gd name="adj" fmla="val 12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8366760" y="1947672"/>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2200" b="0">
                <a:solidFill>
                  <a:srgbClr val="0F172A"/>
                </a:solidFill>
                <a:latin typeface="Segoe UI Emoji"/>
              </a:rPr>
              <a:t>🛵</a:t>
            </a:r>
          </a:p>
        </p:txBody>
      </p:sp>
      <p:sp>
        <p:nvSpPr>
          <p:cNvPr id="30" name="TextBox 29"/>
          <p:cNvSpPr txBox="1"/>
          <p:nvPr/>
        </p:nvSpPr>
        <p:spPr>
          <a:xfrm>
            <a:off x="9144000" y="1938528"/>
            <a:ext cx="2377440" cy="365760"/>
          </a:xfrm>
          <a:prstGeom prst="rect">
            <a:avLst/>
          </a:prstGeom>
          <a:noFill/>
        </p:spPr>
        <p:txBody>
          <a:bodyPr wrap="square" lIns="0" tIns="0" rIns="0" bIns="0" anchor="t">
            <a:spAutoFit/>
          </a:bodyPr>
          <a:lstStyle/>
          <a:p>
            <a:pPr algn="l">
              <a:lnSpc>
                <a:spcPct val="108000"/>
              </a:lnSpc>
              <a:spcAft>
                <a:spcPts val="400"/>
              </a:spcAft>
            </a:pPr>
            <a:r>
              <a:rPr sz="2000" b="0" i="0">
                <a:solidFill>
                  <a:srgbClr val="16A34A"/>
                </a:solidFill>
                <a:latin typeface="Segoe UI Semibold"/>
              </a:rPr>
              <a:t>Delivery Partner</a:t>
            </a:r>
          </a:p>
        </p:txBody>
      </p:sp>
      <p:sp>
        <p:nvSpPr>
          <p:cNvPr id="31" name="TextBox 30"/>
          <p:cNvSpPr txBox="1"/>
          <p:nvPr/>
        </p:nvSpPr>
        <p:spPr>
          <a:xfrm>
            <a:off x="9144000" y="2331720"/>
            <a:ext cx="2377440" cy="320040"/>
          </a:xfrm>
          <a:prstGeom prst="rect">
            <a:avLst/>
          </a:prstGeom>
          <a:noFill/>
        </p:spPr>
        <p:txBody>
          <a:bodyPr wrap="square" lIns="0" tIns="0" rIns="0" bIns="0" anchor="t">
            <a:spAutoFit/>
          </a:bodyPr>
          <a:lstStyle/>
          <a:p>
            <a:pPr algn="l">
              <a:lnSpc>
                <a:spcPct val="108000"/>
              </a:lnSpc>
              <a:spcAft>
                <a:spcPts val="400"/>
              </a:spcAft>
            </a:pPr>
            <a:r>
              <a:rPr sz="1200" b="0" i="0">
                <a:solidFill>
                  <a:srgbClr val="475569"/>
                </a:solidFill>
                <a:latin typeface="Segoe UI"/>
              </a:rPr>
              <a:t>Phone · big buttons</a:t>
            </a:r>
          </a:p>
        </p:txBody>
      </p:sp>
      <p:sp>
        <p:nvSpPr>
          <p:cNvPr id="32" name="TextBox 31"/>
          <p:cNvSpPr txBox="1"/>
          <p:nvPr/>
        </p:nvSpPr>
        <p:spPr>
          <a:xfrm>
            <a:off x="8366760" y="2926080"/>
            <a:ext cx="2926080" cy="274320"/>
          </a:xfrm>
          <a:prstGeom prst="rect">
            <a:avLst/>
          </a:prstGeom>
          <a:noFill/>
        </p:spPr>
        <p:txBody>
          <a:bodyPr wrap="square" lIns="0" tIns="0" rIns="0" bIns="0" anchor="t">
            <a:spAutoFit/>
          </a:bodyPr>
          <a:lstStyle/>
          <a:p>
            <a:pPr algn="l">
              <a:lnSpc>
                <a:spcPct val="108000"/>
              </a:lnSpc>
              <a:spcAft>
                <a:spcPts val="400"/>
              </a:spcAft>
            </a:pPr>
            <a:r>
              <a:rPr sz="1050" b="0" i="0" spc="150">
                <a:solidFill>
                  <a:srgbClr val="475569"/>
                </a:solidFill>
                <a:latin typeface="Segoe UI Semibold"/>
              </a:rPr>
              <a:t>SEES</a:t>
            </a:r>
          </a:p>
        </p:txBody>
      </p:sp>
      <p:sp>
        <p:nvSpPr>
          <p:cNvPr id="33" name="TextBox 32"/>
          <p:cNvSpPr txBox="1"/>
          <p:nvPr/>
        </p:nvSpPr>
        <p:spPr>
          <a:xfrm>
            <a:off x="8366760" y="3154680"/>
            <a:ext cx="2926080" cy="365760"/>
          </a:xfrm>
          <a:prstGeom prst="rect">
            <a:avLst/>
          </a:prstGeom>
          <a:noFill/>
        </p:spPr>
        <p:txBody>
          <a:bodyPr wrap="square" lIns="0" tIns="0" rIns="0" bIns="0" anchor="t">
            <a:spAutoFit/>
          </a:bodyPr>
          <a:lstStyle/>
          <a:p>
            <a:pPr algn="l">
              <a:lnSpc>
                <a:spcPct val="108000"/>
              </a:lnSpc>
              <a:spcAft>
                <a:spcPts val="400"/>
              </a:spcAft>
            </a:pPr>
            <a:r>
              <a:rPr sz="1500" b="0" i="0">
                <a:solidFill>
                  <a:srgbClr val="0F172A"/>
                </a:solidFill>
                <a:latin typeface="Segoe UI Semibold"/>
              </a:rPr>
              <a:t>Only their own deliveries</a:t>
            </a:r>
          </a:p>
        </p:txBody>
      </p:sp>
      <p:sp>
        <p:nvSpPr>
          <p:cNvPr id="34" name="TextBox 33"/>
          <p:cNvSpPr txBox="1"/>
          <p:nvPr/>
        </p:nvSpPr>
        <p:spPr>
          <a:xfrm>
            <a:off x="8366760" y="3657600"/>
            <a:ext cx="2926080" cy="274320"/>
          </a:xfrm>
          <a:prstGeom prst="rect">
            <a:avLst/>
          </a:prstGeom>
          <a:noFill/>
        </p:spPr>
        <p:txBody>
          <a:bodyPr wrap="square" lIns="0" tIns="0" rIns="0" bIns="0" anchor="t">
            <a:spAutoFit/>
          </a:bodyPr>
          <a:lstStyle/>
          <a:p>
            <a:pPr algn="l">
              <a:lnSpc>
                <a:spcPct val="108000"/>
              </a:lnSpc>
              <a:spcAft>
                <a:spcPts val="400"/>
              </a:spcAft>
            </a:pPr>
            <a:r>
              <a:rPr sz="1050" b="0" i="0" spc="150">
                <a:solidFill>
                  <a:srgbClr val="475569"/>
                </a:solidFill>
                <a:latin typeface="Segoe UI Semibold"/>
              </a:rPr>
              <a:t>DOES</a:t>
            </a:r>
          </a:p>
        </p:txBody>
      </p:sp>
      <p:sp>
        <p:nvSpPr>
          <p:cNvPr id="35" name="TextBox 34"/>
          <p:cNvSpPr txBox="1"/>
          <p:nvPr/>
        </p:nvSpPr>
        <p:spPr>
          <a:xfrm>
            <a:off x="8366760" y="3904487"/>
            <a:ext cx="2971800" cy="1737360"/>
          </a:xfrm>
          <a:prstGeom prst="rect">
            <a:avLst/>
          </a:prstGeom>
          <a:noFill/>
        </p:spPr>
        <p:txBody>
          <a:bodyPr wrap="square" lIns="0" tIns="0" rIns="0" bIns="0" anchor="t">
            <a:spAutoFit/>
          </a:bodyPr>
          <a:lstStyle/>
          <a:p>
            <a:pPr algn="l">
              <a:lnSpc>
                <a:spcPct val="108000"/>
              </a:lnSpc>
              <a:spcAft>
                <a:spcPts val="700"/>
              </a:spcAft>
            </a:pPr>
            <a:r>
              <a:rPr sz="1000" b="0" i="0">
                <a:solidFill>
                  <a:srgbClr val="16A34A"/>
                </a:solidFill>
                <a:latin typeface="Segoe UI"/>
              </a:rPr>
              <a:t>●  </a:t>
            </a:r>
            <a:r>
              <a:rPr sz="1400" b="0" i="0">
                <a:solidFill>
                  <a:srgbClr val="0F172A"/>
                </a:solidFill>
                <a:latin typeface="Segoe UI"/>
              </a:rPr>
              <a:t>Reports problems by voice</a:t>
            </a:r>
          </a:p>
          <a:p>
            <a:pPr algn="l">
              <a:lnSpc>
                <a:spcPct val="108000"/>
              </a:lnSpc>
              <a:spcAft>
                <a:spcPts val="700"/>
              </a:spcAft>
            </a:pPr>
            <a:r>
              <a:rPr sz="1000" b="0" i="0">
                <a:solidFill>
                  <a:srgbClr val="16A34A"/>
                </a:solidFill>
                <a:latin typeface="Segoe UI"/>
              </a:rPr>
              <a:t>●  </a:t>
            </a:r>
            <a:r>
              <a:rPr sz="1400" b="0" i="0">
                <a:solidFill>
                  <a:srgbClr val="0F172A"/>
                </a:solidFill>
                <a:latin typeface="Segoe UI"/>
              </a:rPr>
              <a:t>Accept → Picked up → Start → Delivered</a:t>
            </a:r>
          </a:p>
          <a:p>
            <a:pPr algn="l">
              <a:lnSpc>
                <a:spcPct val="108000"/>
              </a:lnSpc>
              <a:spcAft>
                <a:spcPts val="700"/>
              </a:spcAft>
            </a:pPr>
            <a:r>
              <a:rPr sz="1000" b="0" i="0">
                <a:solidFill>
                  <a:srgbClr val="16A34A"/>
                </a:solidFill>
                <a:latin typeface="Segoe UI"/>
              </a:rPr>
              <a:t>●  </a:t>
            </a:r>
            <a:r>
              <a:rPr sz="1400" b="0" i="0">
                <a:solidFill>
                  <a:srgbClr val="0F172A"/>
                </a:solidFill>
                <a:latin typeface="Segoe UI"/>
              </a:rPr>
              <a:t>Gets 'Route changed' instantly</a:t>
            </a:r>
          </a:p>
        </p:txBody>
      </p:sp>
      <p:sp>
        <p:nvSpPr>
          <p:cNvPr id="36" name="Rounded Rectangle 35"/>
          <p:cNvSpPr/>
          <p:nvPr/>
        </p:nvSpPr>
        <p:spPr>
          <a:xfrm>
            <a:off x="777240" y="5833872"/>
            <a:ext cx="10789920" cy="457200"/>
          </a:xfrm>
          <a:prstGeom prst="roundRect">
            <a:avLst>
              <a:gd name="adj" fmla="val 5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300" b="0">
                <a:solidFill>
                  <a:srgbClr val="0F172A"/>
                </a:solidFill>
                <a:latin typeface="Segoe UI Emoji"/>
              </a:rPr>
              <a:t>🔒  </a:t>
            </a:r>
            <a:r>
              <a:rPr sz="1300" b="0">
                <a:solidFill>
                  <a:srgbClr val="475569"/>
                </a:solidFill>
                <a:latin typeface="Segoe UI"/>
              </a:rPr>
              <a:t>One sign-in page, own screens per role – checked in the server code, not just hidden buttons.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502920"/>
            <a:ext cx="82296" cy="896112"/>
          </a:xfrm>
          <a:prstGeom prst="roundRect">
            <a:avLst>
              <a:gd name="adj" fmla="val 50000"/>
            </a:avLst>
          </a:prstGeom>
          <a:gradFill rotWithShape="1">
            <a:gsLst>
              <a:gs pos="0">
                <a:srgbClr val="2563EB"/>
              </a:gs>
              <a:gs pos="100000">
                <a:srgbClr val="7C3AED"/>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04672" y="429768"/>
            <a:ext cx="9601200" cy="274320"/>
          </a:xfrm>
          <a:prstGeom prst="rect">
            <a:avLst/>
          </a:prstGeom>
          <a:noFill/>
        </p:spPr>
        <p:txBody>
          <a:bodyPr wrap="square" lIns="0" tIns="0" rIns="0" bIns="0" anchor="t">
            <a:spAutoFit/>
          </a:bodyPr>
          <a:lstStyle/>
          <a:p>
            <a:pPr algn="l">
              <a:lnSpc>
                <a:spcPct val="108000"/>
              </a:lnSpc>
              <a:spcAft>
                <a:spcPts val="400"/>
              </a:spcAft>
            </a:pPr>
            <a:r>
              <a:rPr sz="1100" b="0" i="0" spc="200">
                <a:solidFill>
                  <a:srgbClr val="2563EB"/>
                </a:solidFill>
                <a:latin typeface="Segoe UI Semibold"/>
              </a:rPr>
              <a:t>HOW IT WORKS</a:t>
            </a:r>
          </a:p>
        </p:txBody>
      </p:sp>
      <p:sp>
        <p:nvSpPr>
          <p:cNvPr id="4" name="TextBox 3"/>
          <p:cNvSpPr txBox="1"/>
          <p:nvPr/>
        </p:nvSpPr>
        <p:spPr>
          <a:xfrm>
            <a:off x="804672" y="676656"/>
            <a:ext cx="9875520" cy="566928"/>
          </a:xfrm>
          <a:prstGeom prst="rect">
            <a:avLst/>
          </a:prstGeom>
          <a:noFill/>
        </p:spPr>
        <p:txBody>
          <a:bodyPr wrap="square" lIns="0" tIns="0" rIns="0" bIns="0" anchor="t">
            <a:spAutoFit/>
          </a:bodyPr>
          <a:lstStyle/>
          <a:p>
            <a:pPr algn="l">
              <a:lnSpc>
                <a:spcPct val="100000"/>
              </a:lnSpc>
              <a:spcAft>
                <a:spcPts val="400"/>
              </a:spcAft>
            </a:pPr>
            <a:r>
              <a:rPr sz="3000" b="0" i="0">
                <a:solidFill>
                  <a:srgbClr val="0B1E3F"/>
                </a:solidFill>
                <a:latin typeface="Segoe UI Semibold"/>
              </a:rPr>
              <a:t>From a voice note to an updated route – 8 simple steps</a:t>
            </a:r>
          </a:p>
        </p:txBody>
      </p:sp>
      <p:pic>
        <p:nvPicPr>
          <p:cNvPr id="5" name="Picture 4" descr="logo_512.png"/>
          <p:cNvPicPr>
            <a:picLocks noChangeAspect="1"/>
          </p:cNvPicPr>
          <p:nvPr/>
        </p:nvPicPr>
        <p:blipFill>
          <a:blip r:embed="rId3"/>
          <a:stretch>
            <a:fillRect/>
          </a:stretch>
        </p:blipFill>
        <p:spPr>
          <a:xfrm>
            <a:off x="11137392" y="475488"/>
            <a:ext cx="475488" cy="475488"/>
          </a:xfrm>
          <a:prstGeom prst="rect">
            <a:avLst/>
          </a:prstGeom>
        </p:spPr>
      </p:pic>
      <p:sp>
        <p:nvSpPr>
          <p:cNvPr id="6" name="Rectangle 5"/>
          <p:cNvSpPr/>
          <p:nvPr/>
        </p:nvSpPr>
        <p:spPr>
          <a:xfrm>
            <a:off x="548640" y="6400800"/>
            <a:ext cx="11091672"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6464808"/>
            <a:ext cx="7315200" cy="228600"/>
          </a:xfrm>
          <a:prstGeom prst="rect">
            <a:avLst/>
          </a:prstGeom>
          <a:noFill/>
        </p:spPr>
        <p:txBody>
          <a:bodyPr wrap="square" lIns="0" tIns="0" rIns="0" bIns="0" anchor="t">
            <a:spAutoFit/>
          </a:bodyPr>
          <a:lstStyle/>
          <a:p>
            <a:pPr algn="l">
              <a:lnSpc>
                <a:spcPct val="108000"/>
              </a:lnSpc>
              <a:spcAft>
                <a:spcPts val="400"/>
              </a:spcAft>
            </a:pPr>
            <a:r>
              <a:rPr sz="1000" b="0" i="0" spc="150">
                <a:solidFill>
                  <a:srgbClr val="0B1E3F"/>
                </a:solidFill>
                <a:latin typeface="Segoe UI Semibold"/>
              </a:rPr>
              <a:t>DEPORT</a:t>
            </a:r>
            <a:r>
              <a:rPr sz="1000" b="0" i="0">
                <a:solidFill>
                  <a:srgbClr val="475569"/>
                </a:solidFill>
                <a:latin typeface="Segoe UI"/>
              </a:rPr>
              <a:t>  ·  Disruption-Aware Logistics Decision Support</a:t>
            </a:r>
          </a:p>
        </p:txBody>
      </p:sp>
      <p:sp>
        <p:nvSpPr>
          <p:cNvPr id="8" name="TextBox 7"/>
          <p:cNvSpPr txBox="1"/>
          <p:nvPr/>
        </p:nvSpPr>
        <p:spPr>
          <a:xfrm>
            <a:off x="10725912" y="6464808"/>
            <a:ext cx="914400" cy="228600"/>
          </a:xfrm>
          <a:prstGeom prst="rect">
            <a:avLst/>
          </a:prstGeom>
          <a:noFill/>
        </p:spPr>
        <p:txBody>
          <a:bodyPr wrap="square" lIns="0" tIns="0" rIns="0" bIns="0" anchor="t">
            <a:spAutoFit/>
          </a:bodyPr>
          <a:lstStyle/>
          <a:p>
            <a:pPr algn="r">
              <a:lnSpc>
                <a:spcPct val="108000"/>
              </a:lnSpc>
              <a:spcAft>
                <a:spcPts val="400"/>
              </a:spcAft>
            </a:pPr>
            <a:r>
              <a:rPr sz="1000" b="0" i="0">
                <a:solidFill>
                  <a:srgbClr val="475569"/>
                </a:solidFill>
                <a:latin typeface="Segoe UI"/>
              </a:rPr>
              <a:t>5 / 17</a:t>
            </a:r>
          </a:p>
        </p:txBody>
      </p:sp>
      <p:sp>
        <p:nvSpPr>
          <p:cNvPr id="9" name="Rounded Rectangle 8"/>
          <p:cNvSpPr/>
          <p:nvPr/>
        </p:nvSpPr>
        <p:spPr>
          <a:xfrm>
            <a:off x="777240" y="1783080"/>
            <a:ext cx="2468880" cy="16002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978408" y="1984248"/>
            <a:ext cx="420624" cy="420624"/>
          </a:xfrm>
          <a:prstGeom prst="ellipse">
            <a:avLst/>
          </a:prstGeom>
          <a:gradFill rotWithShape="1">
            <a:gsLst>
              <a:gs pos="0">
                <a:srgbClr val="2563EB"/>
              </a:gs>
              <a:gs pos="100000">
                <a:srgbClr val="7C3AED"/>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300" b="0">
                <a:solidFill>
                  <a:srgbClr val="FFFFFF"/>
                </a:solidFill>
                <a:latin typeface="Segoe UI Semibold"/>
              </a:rPr>
              <a:t>1</a:t>
            </a:r>
          </a:p>
        </p:txBody>
      </p:sp>
      <p:sp>
        <p:nvSpPr>
          <p:cNvPr id="11" name="TextBox 10"/>
          <p:cNvSpPr txBox="1"/>
          <p:nvPr/>
        </p:nvSpPr>
        <p:spPr>
          <a:xfrm>
            <a:off x="1508760" y="2011680"/>
            <a:ext cx="1691640" cy="411480"/>
          </a:xfrm>
          <a:prstGeom prst="rect">
            <a:avLst/>
          </a:prstGeom>
          <a:noFill/>
        </p:spPr>
        <p:txBody>
          <a:bodyPr wrap="square" lIns="0" tIns="0" rIns="0" bIns="0" anchor="t">
            <a:spAutoFit/>
          </a:bodyPr>
          <a:lstStyle/>
          <a:p>
            <a:pPr algn="l">
              <a:lnSpc>
                <a:spcPct val="108000"/>
              </a:lnSpc>
              <a:spcAft>
                <a:spcPts val="400"/>
              </a:spcAft>
            </a:pPr>
            <a:r>
              <a:rPr sz="1550" b="0" i="0">
                <a:solidFill>
                  <a:srgbClr val="0B1E3F"/>
                </a:solidFill>
                <a:latin typeface="Segoe UI Semibold"/>
              </a:rPr>
              <a:t>Voice / text</a:t>
            </a:r>
          </a:p>
        </p:txBody>
      </p:sp>
      <p:sp>
        <p:nvSpPr>
          <p:cNvPr id="12" name="TextBox 11"/>
          <p:cNvSpPr txBox="1"/>
          <p:nvPr/>
        </p:nvSpPr>
        <p:spPr>
          <a:xfrm>
            <a:off x="978408" y="2560320"/>
            <a:ext cx="2103120" cy="777240"/>
          </a:xfrm>
          <a:prstGeom prst="rect">
            <a:avLst/>
          </a:prstGeom>
          <a:noFill/>
        </p:spPr>
        <p:txBody>
          <a:bodyPr wrap="square" lIns="0" tIns="0" rIns="0" bIns="0" anchor="t">
            <a:spAutoFit/>
          </a:bodyPr>
          <a:lstStyle/>
          <a:p>
            <a:pPr algn="l">
              <a:lnSpc>
                <a:spcPct val="112000"/>
              </a:lnSpc>
              <a:spcAft>
                <a:spcPts val="400"/>
              </a:spcAft>
            </a:pPr>
            <a:r>
              <a:rPr sz="1250" b="0" i="0">
                <a:solidFill>
                  <a:srgbClr val="475569"/>
                </a:solidFill>
                <a:latin typeface="Segoe UI"/>
              </a:rPr>
              <a:t>Partner taps a tile, speaks or types</a:t>
            </a:r>
          </a:p>
        </p:txBody>
      </p:sp>
      <p:sp>
        <p:nvSpPr>
          <p:cNvPr id="13" name="Freeform 12"/>
          <p:cNvSpPr/>
          <p:nvPr/>
        </p:nvSpPr>
        <p:spPr>
          <a:xfrm>
            <a:off x="3282696" y="2578608"/>
            <a:ext cx="246888" cy="0"/>
          </a:xfrm>
          <a:custGeom>
            <a:avLst/>
            <a:gdLst/>
            <a:ahLst/>
            <a:cxnLst/>
            <a:rect l="l" t="t" r="r" b="b"/>
            <a:pathLst>
              <a:path w="246888">
                <a:moveTo>
                  <a:pt x="0" y="0"/>
                </a:moveTo>
                <a:lnTo>
                  <a:pt x="246888" y="0"/>
                </a:lnTo>
              </a:path>
            </a:pathLst>
          </a:custGeom>
          <a:noFill/>
          <a:ln w="28575">
            <a:solidFill>
              <a:srgbClr val="2563EB"/>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566160" y="1783080"/>
            <a:ext cx="2468880" cy="16002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3767328" y="1984248"/>
            <a:ext cx="420624" cy="420624"/>
          </a:xfrm>
          <a:prstGeom prst="ellipse">
            <a:avLst/>
          </a:prstGeom>
          <a:gradFill rotWithShape="1">
            <a:gsLst>
              <a:gs pos="0">
                <a:srgbClr val="2563EB"/>
              </a:gs>
              <a:gs pos="100000">
                <a:srgbClr val="7C3AED"/>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300" b="0">
                <a:solidFill>
                  <a:srgbClr val="FFFFFF"/>
                </a:solidFill>
                <a:latin typeface="Segoe UI Semibold"/>
              </a:rPr>
              <a:t>2</a:t>
            </a:r>
          </a:p>
        </p:txBody>
      </p:sp>
      <p:sp>
        <p:nvSpPr>
          <p:cNvPr id="16" name="TextBox 15"/>
          <p:cNvSpPr txBox="1"/>
          <p:nvPr/>
        </p:nvSpPr>
        <p:spPr>
          <a:xfrm>
            <a:off x="4297680" y="2011680"/>
            <a:ext cx="1691640" cy="411480"/>
          </a:xfrm>
          <a:prstGeom prst="rect">
            <a:avLst/>
          </a:prstGeom>
          <a:noFill/>
        </p:spPr>
        <p:txBody>
          <a:bodyPr wrap="square" lIns="0" tIns="0" rIns="0" bIns="0" anchor="t">
            <a:spAutoFit/>
          </a:bodyPr>
          <a:lstStyle/>
          <a:p>
            <a:pPr algn="l">
              <a:lnSpc>
                <a:spcPct val="108000"/>
              </a:lnSpc>
              <a:spcAft>
                <a:spcPts val="400"/>
              </a:spcAft>
            </a:pPr>
            <a:r>
              <a:rPr sz="1550" b="0" i="0">
                <a:solidFill>
                  <a:srgbClr val="0B1E3F"/>
                </a:solidFill>
                <a:latin typeface="Segoe UI Semibold"/>
              </a:rPr>
              <a:t>Speech to text</a:t>
            </a:r>
          </a:p>
        </p:txBody>
      </p:sp>
      <p:sp>
        <p:nvSpPr>
          <p:cNvPr id="17" name="TextBox 16"/>
          <p:cNvSpPr txBox="1"/>
          <p:nvPr/>
        </p:nvSpPr>
        <p:spPr>
          <a:xfrm>
            <a:off x="3767328" y="2560320"/>
            <a:ext cx="2103120" cy="777240"/>
          </a:xfrm>
          <a:prstGeom prst="rect">
            <a:avLst/>
          </a:prstGeom>
          <a:noFill/>
        </p:spPr>
        <p:txBody>
          <a:bodyPr wrap="square" lIns="0" tIns="0" rIns="0" bIns="0" anchor="t">
            <a:spAutoFit/>
          </a:bodyPr>
          <a:lstStyle/>
          <a:p>
            <a:pPr algn="l">
              <a:lnSpc>
                <a:spcPct val="112000"/>
              </a:lnSpc>
              <a:spcAft>
                <a:spcPts val="400"/>
              </a:spcAft>
            </a:pPr>
            <a:r>
              <a:rPr sz="1250" b="0" i="0">
                <a:solidFill>
                  <a:srgbClr val="475569"/>
                </a:solidFill>
                <a:latin typeface="Segoe UI"/>
              </a:rPr>
              <a:t>Whisper or free Google speech; Tamil + English</a:t>
            </a:r>
          </a:p>
        </p:txBody>
      </p:sp>
      <p:sp>
        <p:nvSpPr>
          <p:cNvPr id="18" name="Freeform 17"/>
          <p:cNvSpPr/>
          <p:nvPr/>
        </p:nvSpPr>
        <p:spPr>
          <a:xfrm>
            <a:off x="6071616" y="2578608"/>
            <a:ext cx="246888" cy="0"/>
          </a:xfrm>
          <a:custGeom>
            <a:avLst/>
            <a:gdLst/>
            <a:ahLst/>
            <a:cxnLst/>
            <a:rect l="l" t="t" r="r" b="b"/>
            <a:pathLst>
              <a:path w="246888">
                <a:moveTo>
                  <a:pt x="0" y="0"/>
                </a:moveTo>
                <a:lnTo>
                  <a:pt x="246888" y="0"/>
                </a:lnTo>
              </a:path>
            </a:pathLst>
          </a:custGeom>
          <a:noFill/>
          <a:ln w="28575">
            <a:solidFill>
              <a:srgbClr val="2563EB"/>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355079" y="1783080"/>
            <a:ext cx="2468880" cy="16002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6556247" y="1984248"/>
            <a:ext cx="420624" cy="420624"/>
          </a:xfrm>
          <a:prstGeom prst="ellipse">
            <a:avLst/>
          </a:prstGeom>
          <a:gradFill rotWithShape="1">
            <a:gsLst>
              <a:gs pos="0">
                <a:srgbClr val="2563EB"/>
              </a:gs>
              <a:gs pos="100000">
                <a:srgbClr val="7C3AED"/>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300" b="0">
                <a:solidFill>
                  <a:srgbClr val="FFFFFF"/>
                </a:solidFill>
                <a:latin typeface="Segoe UI Semibold"/>
              </a:rPr>
              <a:t>3</a:t>
            </a:r>
          </a:p>
        </p:txBody>
      </p:sp>
      <p:sp>
        <p:nvSpPr>
          <p:cNvPr id="21" name="TextBox 20"/>
          <p:cNvSpPr txBox="1"/>
          <p:nvPr/>
        </p:nvSpPr>
        <p:spPr>
          <a:xfrm>
            <a:off x="7086599" y="2011680"/>
            <a:ext cx="1691640" cy="411480"/>
          </a:xfrm>
          <a:prstGeom prst="rect">
            <a:avLst/>
          </a:prstGeom>
          <a:noFill/>
        </p:spPr>
        <p:txBody>
          <a:bodyPr wrap="square" lIns="0" tIns="0" rIns="0" bIns="0" anchor="t">
            <a:spAutoFit/>
          </a:bodyPr>
          <a:lstStyle/>
          <a:p>
            <a:pPr algn="l">
              <a:lnSpc>
                <a:spcPct val="108000"/>
              </a:lnSpc>
              <a:spcAft>
                <a:spcPts val="400"/>
              </a:spcAft>
            </a:pPr>
            <a:r>
              <a:rPr sz="1550" b="0" i="0">
                <a:solidFill>
                  <a:srgbClr val="0B1E3F"/>
                </a:solidFill>
                <a:latin typeface="Segoe UI Semibold"/>
              </a:rPr>
              <a:t>Understand</a:t>
            </a:r>
          </a:p>
        </p:txBody>
      </p:sp>
      <p:sp>
        <p:nvSpPr>
          <p:cNvPr id="22" name="TextBox 21"/>
          <p:cNvSpPr txBox="1"/>
          <p:nvPr/>
        </p:nvSpPr>
        <p:spPr>
          <a:xfrm>
            <a:off x="6556247" y="2560320"/>
            <a:ext cx="2103120" cy="777240"/>
          </a:xfrm>
          <a:prstGeom prst="rect">
            <a:avLst/>
          </a:prstGeom>
          <a:noFill/>
        </p:spPr>
        <p:txBody>
          <a:bodyPr wrap="square" lIns="0" tIns="0" rIns="0" bIns="0" anchor="t">
            <a:spAutoFit/>
          </a:bodyPr>
          <a:lstStyle/>
          <a:p>
            <a:pPr algn="l">
              <a:lnSpc>
                <a:spcPct val="112000"/>
              </a:lnSpc>
              <a:spcAft>
                <a:spcPts val="400"/>
              </a:spcAft>
            </a:pPr>
            <a:r>
              <a:rPr sz="1250" b="0" i="0">
                <a:solidFill>
                  <a:srgbClr val="475569"/>
                </a:solidFill>
                <a:latin typeface="Segoe UI"/>
              </a:rPr>
              <a:t>What happened, which road, how long – typos OK</a:t>
            </a:r>
          </a:p>
        </p:txBody>
      </p:sp>
      <p:sp>
        <p:nvSpPr>
          <p:cNvPr id="23" name="Freeform 22"/>
          <p:cNvSpPr/>
          <p:nvPr/>
        </p:nvSpPr>
        <p:spPr>
          <a:xfrm>
            <a:off x="8860536" y="2578608"/>
            <a:ext cx="246888" cy="0"/>
          </a:xfrm>
          <a:custGeom>
            <a:avLst/>
            <a:gdLst/>
            <a:ahLst/>
            <a:cxnLst/>
            <a:rect l="l" t="t" r="r" b="b"/>
            <a:pathLst>
              <a:path w="246888">
                <a:moveTo>
                  <a:pt x="0" y="0"/>
                </a:moveTo>
                <a:lnTo>
                  <a:pt x="246888" y="0"/>
                </a:lnTo>
              </a:path>
            </a:pathLst>
          </a:custGeom>
          <a:noFill/>
          <a:ln w="28575">
            <a:solidFill>
              <a:srgbClr val="2563EB"/>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143999" y="1783080"/>
            <a:ext cx="2468880" cy="1600200"/>
          </a:xfrm>
          <a:prstGeom prst="roundRect">
            <a:avLst>
              <a:gd name="adj" fmla="val 8000"/>
            </a:avLst>
          </a:prstGeom>
          <a:solidFill>
            <a:srgbClr val="EEF2FF"/>
          </a:solidFill>
          <a:ln w="9525">
            <a:solidFill>
              <a:srgbClr val="C7D2F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9345167" y="1984248"/>
            <a:ext cx="420624" cy="420624"/>
          </a:xfrm>
          <a:prstGeom prst="ellipse">
            <a:avLst/>
          </a:prstGeom>
          <a:gradFill rotWithShape="1">
            <a:gsLst>
              <a:gs pos="0">
                <a:srgbClr val="2563EB"/>
              </a:gs>
              <a:gs pos="100000">
                <a:srgbClr val="7C3AED"/>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300" b="0">
                <a:solidFill>
                  <a:srgbClr val="FFFFFF"/>
                </a:solidFill>
                <a:latin typeface="Segoe UI Semibold"/>
              </a:rPr>
              <a:t>4</a:t>
            </a:r>
          </a:p>
        </p:txBody>
      </p:sp>
      <p:sp>
        <p:nvSpPr>
          <p:cNvPr id="26" name="TextBox 25"/>
          <p:cNvSpPr txBox="1"/>
          <p:nvPr/>
        </p:nvSpPr>
        <p:spPr>
          <a:xfrm>
            <a:off x="9875519" y="2011680"/>
            <a:ext cx="1691640" cy="411480"/>
          </a:xfrm>
          <a:prstGeom prst="rect">
            <a:avLst/>
          </a:prstGeom>
          <a:noFill/>
        </p:spPr>
        <p:txBody>
          <a:bodyPr wrap="square" lIns="0" tIns="0" rIns="0" bIns="0" anchor="t">
            <a:spAutoFit/>
          </a:bodyPr>
          <a:lstStyle/>
          <a:p>
            <a:pPr algn="l">
              <a:lnSpc>
                <a:spcPct val="108000"/>
              </a:lnSpc>
              <a:spcAft>
                <a:spcPts val="400"/>
              </a:spcAft>
            </a:pPr>
            <a:r>
              <a:rPr sz="1550" b="0" i="0">
                <a:solidFill>
                  <a:srgbClr val="0B1E3F"/>
                </a:solidFill>
                <a:latin typeface="Segoe UI Semibold"/>
              </a:rPr>
              <a:t>Ripple Impact</a:t>
            </a:r>
          </a:p>
        </p:txBody>
      </p:sp>
      <p:sp>
        <p:nvSpPr>
          <p:cNvPr id="27" name="TextBox 26"/>
          <p:cNvSpPr txBox="1"/>
          <p:nvPr/>
        </p:nvSpPr>
        <p:spPr>
          <a:xfrm>
            <a:off x="9345167" y="2560320"/>
            <a:ext cx="2103120" cy="777240"/>
          </a:xfrm>
          <a:prstGeom prst="rect">
            <a:avLst/>
          </a:prstGeom>
          <a:noFill/>
        </p:spPr>
        <p:txBody>
          <a:bodyPr wrap="square" lIns="0" tIns="0" rIns="0" bIns="0" anchor="t">
            <a:spAutoFit/>
          </a:bodyPr>
          <a:lstStyle/>
          <a:p>
            <a:pPr algn="l">
              <a:lnSpc>
                <a:spcPct val="112000"/>
              </a:lnSpc>
              <a:spcAft>
                <a:spcPts val="400"/>
              </a:spcAft>
            </a:pPr>
            <a:r>
              <a:rPr sz="1250" b="0" i="0">
                <a:solidFill>
                  <a:srgbClr val="475569"/>
                </a:solidFill>
                <a:latin typeface="Segoe UI"/>
              </a:rPr>
              <a:t>Which stops come after the block and how late</a:t>
            </a:r>
          </a:p>
        </p:txBody>
      </p:sp>
      <p:sp>
        <p:nvSpPr>
          <p:cNvPr id="28" name="Rounded Rectangle 27"/>
          <p:cNvSpPr/>
          <p:nvPr/>
        </p:nvSpPr>
        <p:spPr>
          <a:xfrm>
            <a:off x="777240" y="3794760"/>
            <a:ext cx="2468880" cy="16002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978408" y="3995928"/>
            <a:ext cx="420624" cy="420624"/>
          </a:xfrm>
          <a:prstGeom prst="ellipse">
            <a:avLst/>
          </a:prstGeom>
          <a:gradFill rotWithShape="1">
            <a:gsLst>
              <a:gs pos="0">
                <a:srgbClr val="2563EB"/>
              </a:gs>
              <a:gs pos="100000">
                <a:srgbClr val="7C3AED"/>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300" b="0">
                <a:solidFill>
                  <a:srgbClr val="FFFFFF"/>
                </a:solidFill>
                <a:latin typeface="Segoe UI Semibold"/>
              </a:rPr>
              <a:t>5</a:t>
            </a:r>
          </a:p>
        </p:txBody>
      </p:sp>
      <p:sp>
        <p:nvSpPr>
          <p:cNvPr id="30" name="TextBox 29"/>
          <p:cNvSpPr txBox="1"/>
          <p:nvPr/>
        </p:nvSpPr>
        <p:spPr>
          <a:xfrm>
            <a:off x="1508760" y="4023360"/>
            <a:ext cx="1691640" cy="411480"/>
          </a:xfrm>
          <a:prstGeom prst="rect">
            <a:avLst/>
          </a:prstGeom>
          <a:noFill/>
        </p:spPr>
        <p:txBody>
          <a:bodyPr wrap="square" lIns="0" tIns="0" rIns="0" bIns="0" anchor="t">
            <a:spAutoFit/>
          </a:bodyPr>
          <a:lstStyle/>
          <a:p>
            <a:pPr algn="l">
              <a:lnSpc>
                <a:spcPct val="108000"/>
              </a:lnSpc>
              <a:spcAft>
                <a:spcPts val="400"/>
              </a:spcAft>
            </a:pPr>
            <a:r>
              <a:rPr sz="1550" b="0" i="0">
                <a:solidFill>
                  <a:srgbClr val="0B1E3F"/>
                </a:solidFill>
                <a:latin typeface="Segoe UI Semibold"/>
              </a:rPr>
              <a:t>Risk score</a:t>
            </a:r>
          </a:p>
        </p:txBody>
      </p:sp>
      <p:sp>
        <p:nvSpPr>
          <p:cNvPr id="31" name="TextBox 30"/>
          <p:cNvSpPr txBox="1"/>
          <p:nvPr/>
        </p:nvSpPr>
        <p:spPr>
          <a:xfrm>
            <a:off x="978408" y="4572000"/>
            <a:ext cx="2103120" cy="777240"/>
          </a:xfrm>
          <a:prstGeom prst="rect">
            <a:avLst/>
          </a:prstGeom>
          <a:noFill/>
        </p:spPr>
        <p:txBody>
          <a:bodyPr wrap="square" lIns="0" tIns="0" rIns="0" bIns="0" anchor="t">
            <a:spAutoFit/>
          </a:bodyPr>
          <a:lstStyle/>
          <a:p>
            <a:pPr algn="l">
              <a:lnSpc>
                <a:spcPct val="112000"/>
              </a:lnSpc>
              <a:spcAft>
                <a:spcPts val="400"/>
              </a:spcAft>
            </a:pPr>
            <a:r>
              <a:rPr sz="1250" b="0" i="0">
                <a:solidFill>
                  <a:srgbClr val="475569"/>
                </a:solidFill>
                <a:latin typeface="Segoe UI"/>
              </a:rPr>
              <a:t>0–100 from deadline, priority, closeness, severity</a:t>
            </a:r>
          </a:p>
        </p:txBody>
      </p:sp>
      <p:sp>
        <p:nvSpPr>
          <p:cNvPr id="32" name="Freeform 31"/>
          <p:cNvSpPr/>
          <p:nvPr/>
        </p:nvSpPr>
        <p:spPr>
          <a:xfrm>
            <a:off x="3282696" y="4590288"/>
            <a:ext cx="246888" cy="0"/>
          </a:xfrm>
          <a:custGeom>
            <a:avLst/>
            <a:gdLst/>
            <a:ahLst/>
            <a:cxnLst/>
            <a:rect l="l" t="t" r="r" b="b"/>
            <a:pathLst>
              <a:path w="246888">
                <a:moveTo>
                  <a:pt x="0" y="0"/>
                </a:moveTo>
                <a:lnTo>
                  <a:pt x="246888" y="0"/>
                </a:lnTo>
              </a:path>
            </a:pathLst>
          </a:custGeom>
          <a:noFill/>
          <a:ln w="28575">
            <a:solidFill>
              <a:srgbClr val="2563EB"/>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3566160" y="3794760"/>
            <a:ext cx="2468880" cy="1600200"/>
          </a:xfrm>
          <a:prstGeom prst="roundRect">
            <a:avLst>
              <a:gd name="adj" fmla="val 8000"/>
            </a:avLst>
          </a:prstGeom>
          <a:solidFill>
            <a:srgbClr val="EEF2FF"/>
          </a:solidFill>
          <a:ln w="9525">
            <a:solidFill>
              <a:srgbClr val="C7D2F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Oval 33"/>
          <p:cNvSpPr/>
          <p:nvPr/>
        </p:nvSpPr>
        <p:spPr>
          <a:xfrm>
            <a:off x="3767328" y="3995928"/>
            <a:ext cx="420624" cy="420624"/>
          </a:xfrm>
          <a:prstGeom prst="ellipse">
            <a:avLst/>
          </a:prstGeom>
          <a:gradFill rotWithShape="1">
            <a:gsLst>
              <a:gs pos="0">
                <a:srgbClr val="2563EB"/>
              </a:gs>
              <a:gs pos="100000">
                <a:srgbClr val="7C3AED"/>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300" b="0">
                <a:solidFill>
                  <a:srgbClr val="FFFFFF"/>
                </a:solidFill>
                <a:latin typeface="Segoe UI Semibold"/>
              </a:rPr>
              <a:t>6</a:t>
            </a:r>
          </a:p>
        </p:txBody>
      </p:sp>
      <p:sp>
        <p:nvSpPr>
          <p:cNvPr id="35" name="TextBox 34"/>
          <p:cNvSpPr txBox="1"/>
          <p:nvPr/>
        </p:nvSpPr>
        <p:spPr>
          <a:xfrm>
            <a:off x="4297680" y="4023360"/>
            <a:ext cx="1691640" cy="411480"/>
          </a:xfrm>
          <a:prstGeom prst="rect">
            <a:avLst/>
          </a:prstGeom>
          <a:noFill/>
        </p:spPr>
        <p:txBody>
          <a:bodyPr wrap="square" lIns="0" tIns="0" rIns="0" bIns="0" anchor="t">
            <a:spAutoFit/>
          </a:bodyPr>
          <a:lstStyle/>
          <a:p>
            <a:pPr algn="l">
              <a:lnSpc>
                <a:spcPct val="108000"/>
              </a:lnSpc>
              <a:spcAft>
                <a:spcPts val="400"/>
              </a:spcAft>
            </a:pPr>
            <a:r>
              <a:rPr sz="1550" b="0" i="0">
                <a:solidFill>
                  <a:srgbClr val="0B1E3F"/>
                </a:solidFill>
                <a:latin typeface="Segoe UI Semibold"/>
              </a:rPr>
              <a:t>Recovery plan</a:t>
            </a:r>
          </a:p>
        </p:txBody>
      </p:sp>
      <p:sp>
        <p:nvSpPr>
          <p:cNvPr id="36" name="TextBox 35"/>
          <p:cNvSpPr txBox="1"/>
          <p:nvPr/>
        </p:nvSpPr>
        <p:spPr>
          <a:xfrm>
            <a:off x="3767328" y="4572000"/>
            <a:ext cx="2103120" cy="777240"/>
          </a:xfrm>
          <a:prstGeom prst="rect">
            <a:avLst/>
          </a:prstGeom>
          <a:noFill/>
        </p:spPr>
        <p:txBody>
          <a:bodyPr wrap="square" lIns="0" tIns="0" rIns="0" bIns="0" anchor="t">
            <a:spAutoFit/>
          </a:bodyPr>
          <a:lstStyle/>
          <a:p>
            <a:pPr algn="l">
              <a:lnSpc>
                <a:spcPct val="112000"/>
              </a:lnSpc>
              <a:spcAft>
                <a:spcPts val="400"/>
              </a:spcAft>
            </a:pPr>
            <a:r>
              <a:rPr sz="1250" b="0" i="0">
                <a:solidFill>
                  <a:srgbClr val="475569"/>
                </a:solidFill>
                <a:latin typeface="Segoe UI"/>
              </a:rPr>
              <a:t>Backup van, reroute, prioritise or notify – with reasons</a:t>
            </a:r>
          </a:p>
        </p:txBody>
      </p:sp>
      <p:sp>
        <p:nvSpPr>
          <p:cNvPr id="37" name="Freeform 36"/>
          <p:cNvSpPr/>
          <p:nvPr/>
        </p:nvSpPr>
        <p:spPr>
          <a:xfrm>
            <a:off x="6071616" y="4590288"/>
            <a:ext cx="246888" cy="0"/>
          </a:xfrm>
          <a:custGeom>
            <a:avLst/>
            <a:gdLst/>
            <a:ahLst/>
            <a:cxnLst/>
            <a:rect l="l" t="t" r="r" b="b"/>
            <a:pathLst>
              <a:path w="246888">
                <a:moveTo>
                  <a:pt x="0" y="0"/>
                </a:moveTo>
                <a:lnTo>
                  <a:pt x="246888" y="0"/>
                </a:lnTo>
              </a:path>
            </a:pathLst>
          </a:custGeom>
          <a:noFill/>
          <a:ln w="28575">
            <a:solidFill>
              <a:srgbClr val="2563EB"/>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355079" y="3794760"/>
            <a:ext cx="2468880" cy="16002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Oval 38"/>
          <p:cNvSpPr/>
          <p:nvPr/>
        </p:nvSpPr>
        <p:spPr>
          <a:xfrm>
            <a:off x="6556247" y="3995928"/>
            <a:ext cx="420624" cy="420624"/>
          </a:xfrm>
          <a:prstGeom prst="ellipse">
            <a:avLst/>
          </a:prstGeom>
          <a:gradFill rotWithShape="1">
            <a:gsLst>
              <a:gs pos="0">
                <a:srgbClr val="2563EB"/>
              </a:gs>
              <a:gs pos="100000">
                <a:srgbClr val="7C3AED"/>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300" b="0">
                <a:solidFill>
                  <a:srgbClr val="FFFFFF"/>
                </a:solidFill>
                <a:latin typeface="Segoe UI Semibold"/>
              </a:rPr>
              <a:t>7</a:t>
            </a:r>
          </a:p>
        </p:txBody>
      </p:sp>
      <p:sp>
        <p:nvSpPr>
          <p:cNvPr id="40" name="TextBox 39"/>
          <p:cNvSpPr txBox="1"/>
          <p:nvPr/>
        </p:nvSpPr>
        <p:spPr>
          <a:xfrm>
            <a:off x="7086599" y="4023360"/>
            <a:ext cx="1691640" cy="411480"/>
          </a:xfrm>
          <a:prstGeom prst="rect">
            <a:avLst/>
          </a:prstGeom>
          <a:noFill/>
        </p:spPr>
        <p:txBody>
          <a:bodyPr wrap="square" lIns="0" tIns="0" rIns="0" bIns="0" anchor="t">
            <a:spAutoFit/>
          </a:bodyPr>
          <a:lstStyle/>
          <a:p>
            <a:pPr algn="l">
              <a:lnSpc>
                <a:spcPct val="108000"/>
              </a:lnSpc>
              <a:spcAft>
                <a:spcPts val="400"/>
              </a:spcAft>
            </a:pPr>
            <a:r>
              <a:rPr sz="1550" b="0" i="0">
                <a:solidFill>
                  <a:srgbClr val="0B1E3F"/>
                </a:solidFill>
                <a:latin typeface="Segoe UI Semibold"/>
              </a:rPr>
              <a:t>Admin approves</a:t>
            </a:r>
          </a:p>
        </p:txBody>
      </p:sp>
      <p:sp>
        <p:nvSpPr>
          <p:cNvPr id="41" name="TextBox 40"/>
          <p:cNvSpPr txBox="1"/>
          <p:nvPr/>
        </p:nvSpPr>
        <p:spPr>
          <a:xfrm>
            <a:off x="6556247" y="4572000"/>
            <a:ext cx="2103120" cy="777240"/>
          </a:xfrm>
          <a:prstGeom prst="rect">
            <a:avLst/>
          </a:prstGeom>
          <a:noFill/>
        </p:spPr>
        <p:txBody>
          <a:bodyPr wrap="square" lIns="0" tIns="0" rIns="0" bIns="0" anchor="t">
            <a:spAutoFit/>
          </a:bodyPr>
          <a:lstStyle/>
          <a:p>
            <a:pPr algn="l">
              <a:lnSpc>
                <a:spcPct val="112000"/>
              </a:lnSpc>
              <a:spcAft>
                <a:spcPts val="400"/>
              </a:spcAft>
            </a:pPr>
            <a:r>
              <a:rPr sz="1250" b="0" i="0">
                <a:solidFill>
                  <a:srgbClr val="475569"/>
                </a:solidFill>
                <a:latin typeface="Segoe UI"/>
              </a:rPr>
              <a:t>One tap: Accept, Modify or Reject</a:t>
            </a:r>
          </a:p>
        </p:txBody>
      </p:sp>
      <p:sp>
        <p:nvSpPr>
          <p:cNvPr id="42" name="Freeform 41"/>
          <p:cNvSpPr/>
          <p:nvPr/>
        </p:nvSpPr>
        <p:spPr>
          <a:xfrm>
            <a:off x="8860536" y="4590288"/>
            <a:ext cx="246888" cy="0"/>
          </a:xfrm>
          <a:custGeom>
            <a:avLst/>
            <a:gdLst/>
            <a:ahLst/>
            <a:cxnLst/>
            <a:rect l="l" t="t" r="r" b="b"/>
            <a:pathLst>
              <a:path w="246888">
                <a:moveTo>
                  <a:pt x="0" y="0"/>
                </a:moveTo>
                <a:lnTo>
                  <a:pt x="246888" y="0"/>
                </a:lnTo>
              </a:path>
            </a:pathLst>
          </a:custGeom>
          <a:noFill/>
          <a:ln w="28575">
            <a:solidFill>
              <a:srgbClr val="2563EB"/>
            </a:solidFill>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9143999" y="3794760"/>
            <a:ext cx="2468880" cy="16002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Oval 43"/>
          <p:cNvSpPr/>
          <p:nvPr/>
        </p:nvSpPr>
        <p:spPr>
          <a:xfrm>
            <a:off x="9345167" y="3995928"/>
            <a:ext cx="420624" cy="420624"/>
          </a:xfrm>
          <a:prstGeom prst="ellipse">
            <a:avLst/>
          </a:prstGeom>
          <a:gradFill rotWithShape="1">
            <a:gsLst>
              <a:gs pos="0">
                <a:srgbClr val="2563EB"/>
              </a:gs>
              <a:gs pos="100000">
                <a:srgbClr val="7C3AED"/>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300" b="0">
                <a:solidFill>
                  <a:srgbClr val="FFFFFF"/>
                </a:solidFill>
                <a:latin typeface="Segoe UI Semibold"/>
              </a:rPr>
              <a:t>8</a:t>
            </a:r>
          </a:p>
        </p:txBody>
      </p:sp>
      <p:sp>
        <p:nvSpPr>
          <p:cNvPr id="45" name="TextBox 44"/>
          <p:cNvSpPr txBox="1"/>
          <p:nvPr/>
        </p:nvSpPr>
        <p:spPr>
          <a:xfrm>
            <a:off x="9875519" y="4023360"/>
            <a:ext cx="1691640" cy="411480"/>
          </a:xfrm>
          <a:prstGeom prst="rect">
            <a:avLst/>
          </a:prstGeom>
          <a:noFill/>
        </p:spPr>
        <p:txBody>
          <a:bodyPr wrap="square" lIns="0" tIns="0" rIns="0" bIns="0" anchor="t">
            <a:spAutoFit/>
          </a:bodyPr>
          <a:lstStyle/>
          <a:p>
            <a:pPr algn="l">
              <a:lnSpc>
                <a:spcPct val="108000"/>
              </a:lnSpc>
              <a:spcAft>
                <a:spcPts val="400"/>
              </a:spcAft>
            </a:pPr>
            <a:r>
              <a:rPr sz="1550" b="0" i="0">
                <a:solidFill>
                  <a:srgbClr val="0B1E3F"/>
                </a:solidFill>
                <a:latin typeface="Segoe UI Semibold"/>
              </a:rPr>
              <a:t>Everyone updated</a:t>
            </a:r>
          </a:p>
        </p:txBody>
      </p:sp>
      <p:sp>
        <p:nvSpPr>
          <p:cNvPr id="46" name="TextBox 45"/>
          <p:cNvSpPr txBox="1"/>
          <p:nvPr/>
        </p:nvSpPr>
        <p:spPr>
          <a:xfrm>
            <a:off x="9345167" y="4572000"/>
            <a:ext cx="2103120" cy="777240"/>
          </a:xfrm>
          <a:prstGeom prst="rect">
            <a:avLst/>
          </a:prstGeom>
          <a:noFill/>
        </p:spPr>
        <p:txBody>
          <a:bodyPr wrap="square" lIns="0" tIns="0" rIns="0" bIns="0" anchor="t">
            <a:spAutoFit/>
          </a:bodyPr>
          <a:lstStyle/>
          <a:p>
            <a:pPr algn="l">
              <a:lnSpc>
                <a:spcPct val="112000"/>
              </a:lnSpc>
              <a:spcAft>
                <a:spcPts val="400"/>
              </a:spcAft>
            </a:pPr>
            <a:r>
              <a:rPr sz="1250" b="0" i="0">
                <a:solidFill>
                  <a:srgbClr val="475569"/>
                </a:solidFill>
                <a:latin typeface="Segoe UI"/>
              </a:rPr>
              <a:t>Routes, ETAs, map, phones, customer SMS – in one save</a:t>
            </a:r>
          </a:p>
        </p:txBody>
      </p:sp>
      <p:sp>
        <p:nvSpPr>
          <p:cNvPr id="47" name="Freeform 46"/>
          <p:cNvSpPr/>
          <p:nvPr/>
        </p:nvSpPr>
        <p:spPr>
          <a:xfrm>
            <a:off x="2011680" y="3401568"/>
            <a:ext cx="8366759" cy="365760"/>
          </a:xfrm>
          <a:custGeom>
            <a:avLst/>
            <a:gdLst/>
            <a:ahLst/>
            <a:cxnLst/>
            <a:rect l="l" t="t" r="r" b="b"/>
            <a:pathLst>
              <a:path w="8366759" h="365760">
                <a:moveTo>
                  <a:pt x="8366759" y="0"/>
                </a:moveTo>
                <a:lnTo>
                  <a:pt x="8366759" y="146304"/>
                </a:lnTo>
                <a:lnTo>
                  <a:pt x="0" y="146304"/>
                </a:lnTo>
                <a:lnTo>
                  <a:pt x="0" y="365760"/>
                </a:lnTo>
              </a:path>
            </a:pathLst>
          </a:custGeom>
          <a:noFill/>
          <a:ln w="22225">
            <a:solidFill>
              <a:srgbClr val="94A3B8"/>
            </a:solidFill>
            <a:prstDash val="dash"/>
            <a:tailEnd type="triangle"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2788920" y="5852160"/>
            <a:ext cx="6629400" cy="438912"/>
          </a:xfrm>
          <a:prstGeom prst="roundRect">
            <a:avLst>
              <a:gd name="adj" fmla="val 50000"/>
            </a:avLst>
          </a:prstGeom>
          <a:solidFill>
            <a:srgbClr val="0B1E3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350" b="0">
                <a:solidFill>
                  <a:srgbClr val="FFFFFF"/>
                </a:solidFill>
                <a:latin typeface="Segoe UI Semibold"/>
              </a:rPr>
              <a:t>AI suggests, a person decides – </a:t>
            </a:r>
            <a:r>
              <a:rPr sz="1350" b="0">
                <a:solidFill>
                  <a:srgbClr val="BFDBFE"/>
                </a:solidFill>
                <a:latin typeface="Segoe UI"/>
              </a:rPr>
              <a:t>nothing changes until the admin taps Accept.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502920"/>
            <a:ext cx="82296" cy="896112"/>
          </a:xfrm>
          <a:prstGeom prst="roundRect">
            <a:avLst>
              <a:gd name="adj" fmla="val 50000"/>
            </a:avLst>
          </a:prstGeom>
          <a:gradFill rotWithShape="1">
            <a:gsLst>
              <a:gs pos="0">
                <a:srgbClr val="2563EB"/>
              </a:gs>
              <a:gs pos="100000">
                <a:srgbClr val="7C3AED"/>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04672" y="429768"/>
            <a:ext cx="9601200" cy="274320"/>
          </a:xfrm>
          <a:prstGeom prst="rect">
            <a:avLst/>
          </a:prstGeom>
          <a:noFill/>
        </p:spPr>
        <p:txBody>
          <a:bodyPr wrap="square" lIns="0" tIns="0" rIns="0" bIns="0" anchor="t">
            <a:spAutoFit/>
          </a:bodyPr>
          <a:lstStyle/>
          <a:p>
            <a:pPr algn="l">
              <a:lnSpc>
                <a:spcPct val="108000"/>
              </a:lnSpc>
              <a:spcAft>
                <a:spcPts val="400"/>
              </a:spcAft>
            </a:pPr>
            <a:r>
              <a:rPr sz="1100" b="0" i="0" spc="200">
                <a:solidFill>
                  <a:srgbClr val="2563EB"/>
                </a:solidFill>
                <a:latin typeface="Segoe UI Semibold"/>
              </a:rPr>
              <a:t>LIVE DEMO STORY</a:t>
            </a:r>
          </a:p>
        </p:txBody>
      </p:sp>
      <p:sp>
        <p:nvSpPr>
          <p:cNvPr id="4" name="TextBox 3"/>
          <p:cNvSpPr txBox="1"/>
          <p:nvPr/>
        </p:nvSpPr>
        <p:spPr>
          <a:xfrm>
            <a:off x="804672" y="676656"/>
            <a:ext cx="9875520" cy="566928"/>
          </a:xfrm>
          <a:prstGeom prst="rect">
            <a:avLst/>
          </a:prstGeom>
          <a:noFill/>
        </p:spPr>
        <p:txBody>
          <a:bodyPr wrap="square" lIns="0" tIns="0" rIns="0" bIns="0" anchor="t">
            <a:spAutoFit/>
          </a:bodyPr>
          <a:lstStyle/>
          <a:p>
            <a:pPr algn="l">
              <a:lnSpc>
                <a:spcPct val="100000"/>
              </a:lnSpc>
              <a:spcAft>
                <a:spcPts val="400"/>
              </a:spcAft>
            </a:pPr>
            <a:r>
              <a:rPr sz="3000" b="0" i="0">
                <a:solidFill>
                  <a:srgbClr val="0B1E3F"/>
                </a:solidFill>
                <a:latin typeface="Segoe UI Semibold"/>
              </a:rPr>
              <a:t>One accident, fixed in one click</a:t>
            </a:r>
          </a:p>
        </p:txBody>
      </p:sp>
      <p:pic>
        <p:nvPicPr>
          <p:cNvPr id="5" name="Picture 4" descr="logo_512.png"/>
          <p:cNvPicPr>
            <a:picLocks noChangeAspect="1"/>
          </p:cNvPicPr>
          <p:nvPr/>
        </p:nvPicPr>
        <p:blipFill>
          <a:blip r:embed="rId3"/>
          <a:stretch>
            <a:fillRect/>
          </a:stretch>
        </p:blipFill>
        <p:spPr>
          <a:xfrm>
            <a:off x="11137392" y="475488"/>
            <a:ext cx="475488" cy="475488"/>
          </a:xfrm>
          <a:prstGeom prst="rect">
            <a:avLst/>
          </a:prstGeom>
        </p:spPr>
      </p:pic>
      <p:sp>
        <p:nvSpPr>
          <p:cNvPr id="6" name="Rectangle 5"/>
          <p:cNvSpPr/>
          <p:nvPr/>
        </p:nvSpPr>
        <p:spPr>
          <a:xfrm>
            <a:off x="548640" y="6400800"/>
            <a:ext cx="11091672"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6464808"/>
            <a:ext cx="7315200" cy="228600"/>
          </a:xfrm>
          <a:prstGeom prst="rect">
            <a:avLst/>
          </a:prstGeom>
          <a:noFill/>
        </p:spPr>
        <p:txBody>
          <a:bodyPr wrap="square" lIns="0" tIns="0" rIns="0" bIns="0" anchor="t">
            <a:spAutoFit/>
          </a:bodyPr>
          <a:lstStyle/>
          <a:p>
            <a:pPr algn="l">
              <a:lnSpc>
                <a:spcPct val="108000"/>
              </a:lnSpc>
              <a:spcAft>
                <a:spcPts val="400"/>
              </a:spcAft>
            </a:pPr>
            <a:r>
              <a:rPr sz="1000" b="0" i="0" spc="150">
                <a:solidFill>
                  <a:srgbClr val="0B1E3F"/>
                </a:solidFill>
                <a:latin typeface="Segoe UI Semibold"/>
              </a:rPr>
              <a:t>DEPORT</a:t>
            </a:r>
            <a:r>
              <a:rPr sz="1000" b="0" i="0">
                <a:solidFill>
                  <a:srgbClr val="475569"/>
                </a:solidFill>
                <a:latin typeface="Segoe UI"/>
              </a:rPr>
              <a:t>  ·  Disruption-Aware Logistics Decision Support</a:t>
            </a:r>
          </a:p>
        </p:txBody>
      </p:sp>
      <p:sp>
        <p:nvSpPr>
          <p:cNvPr id="8" name="TextBox 7"/>
          <p:cNvSpPr txBox="1"/>
          <p:nvPr/>
        </p:nvSpPr>
        <p:spPr>
          <a:xfrm>
            <a:off x="10725912" y="6464808"/>
            <a:ext cx="914400" cy="228600"/>
          </a:xfrm>
          <a:prstGeom prst="rect">
            <a:avLst/>
          </a:prstGeom>
          <a:noFill/>
        </p:spPr>
        <p:txBody>
          <a:bodyPr wrap="square" lIns="0" tIns="0" rIns="0" bIns="0" anchor="t">
            <a:spAutoFit/>
          </a:bodyPr>
          <a:lstStyle/>
          <a:p>
            <a:pPr algn="r">
              <a:lnSpc>
                <a:spcPct val="108000"/>
              </a:lnSpc>
              <a:spcAft>
                <a:spcPts val="400"/>
              </a:spcAft>
            </a:pPr>
            <a:r>
              <a:rPr sz="1000" b="0" i="0">
                <a:solidFill>
                  <a:srgbClr val="475569"/>
                </a:solidFill>
                <a:latin typeface="Segoe UI"/>
              </a:rPr>
              <a:t>6 / 17</a:t>
            </a:r>
          </a:p>
        </p:txBody>
      </p:sp>
      <p:sp>
        <p:nvSpPr>
          <p:cNvPr id="9" name="Rounded Rectangle 8"/>
          <p:cNvSpPr/>
          <p:nvPr/>
        </p:nvSpPr>
        <p:spPr>
          <a:xfrm>
            <a:off x="777240" y="1783080"/>
            <a:ext cx="4754880" cy="4434840"/>
          </a:xfrm>
          <a:prstGeom prst="roundRect">
            <a:avLst>
              <a:gd name="adj" fmla="val 6000"/>
            </a:avLst>
          </a:prstGeom>
          <a:gradFill rotWithShape="1">
            <a:gsLst>
              <a:gs pos="0">
                <a:srgbClr val="0B1E3F"/>
              </a:gs>
              <a:gs pos="100000">
                <a:srgbClr val="172554"/>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97280" y="2011680"/>
            <a:ext cx="4206240" cy="274320"/>
          </a:xfrm>
          <a:prstGeom prst="rect">
            <a:avLst/>
          </a:prstGeom>
          <a:noFill/>
        </p:spPr>
        <p:txBody>
          <a:bodyPr wrap="square" lIns="0" tIns="0" rIns="0" bIns="0" anchor="t">
            <a:spAutoFit/>
          </a:bodyPr>
          <a:lstStyle/>
          <a:p>
            <a:pPr algn="l">
              <a:lnSpc>
                <a:spcPct val="108000"/>
              </a:lnSpc>
              <a:spcAft>
                <a:spcPts val="400"/>
              </a:spcAft>
            </a:pPr>
            <a:r>
              <a:rPr sz="1100" b="0" i="0" spc="200">
                <a:solidFill>
                  <a:srgbClr val="F59E0B"/>
                </a:solidFill>
                <a:latin typeface="Segoe UI Semibold"/>
              </a:rPr>
              <a:t>THE SCENARIO</a:t>
            </a:r>
          </a:p>
        </p:txBody>
      </p:sp>
      <p:sp>
        <p:nvSpPr>
          <p:cNvPr id="11" name="TextBox 10"/>
          <p:cNvSpPr txBox="1"/>
          <p:nvPr/>
        </p:nvSpPr>
        <p:spPr>
          <a:xfrm>
            <a:off x="1097280" y="2331720"/>
            <a:ext cx="4206240" cy="3840480"/>
          </a:xfrm>
          <a:prstGeom prst="rect">
            <a:avLst/>
          </a:prstGeom>
          <a:noFill/>
        </p:spPr>
        <p:txBody>
          <a:bodyPr wrap="square" lIns="0" tIns="0" rIns="0" bIns="0" anchor="t">
            <a:spAutoFit/>
          </a:bodyPr>
          <a:lstStyle/>
          <a:p>
            <a:pPr algn="l">
              <a:lnSpc>
                <a:spcPct val="108000"/>
              </a:lnSpc>
              <a:spcAft>
                <a:spcPts val="800"/>
              </a:spcAft>
            </a:pPr>
            <a:r>
              <a:rPr sz="1450" b="0" i="0">
                <a:solidFill>
                  <a:srgbClr val="CBD5E1"/>
                </a:solidFill>
                <a:latin typeface="Segoe UI"/>
              </a:rPr>
              <a:t>9:00 AM, Coimbatore East. Karthik (DP102) records:</a:t>
            </a:r>
          </a:p>
          <a:p>
            <a:pPr algn="l">
              <a:lnSpc>
                <a:spcPct val="108000"/>
              </a:lnSpc>
              <a:spcAft>
                <a:spcPts val="1200"/>
              </a:spcAft>
            </a:pPr>
            <a:r>
              <a:rPr sz="1550" b="0" i="1">
                <a:solidFill>
                  <a:srgbClr val="FFFFFF"/>
                </a:solidFill>
                <a:latin typeface="Segoe UI"/>
              </a:rPr>
              <a:t>“avinasi rd la accident, full block, rendu mani neram aagum”</a:t>
            </a:r>
          </a:p>
          <a:p>
            <a:pPr algn="l">
              <a:lnSpc>
                <a:spcPct val="108000"/>
              </a:lnSpc>
              <a:spcAft>
                <a:spcPts val="1200"/>
              </a:spcAft>
            </a:pPr>
            <a:r>
              <a:rPr sz="1400" b="0" i="0">
                <a:solidFill>
                  <a:srgbClr val="93C5FD"/>
                </a:solidFill>
                <a:latin typeface="Segoe UI Semibold"/>
              </a:rPr>
              <a:t>DEPORT understood:  </a:t>
            </a:r>
            <a:r>
              <a:rPr sz="1400" b="0" i="0">
                <a:solidFill>
                  <a:srgbClr val="FFFFFF"/>
                </a:solidFill>
                <a:latin typeface="Segoe UI"/>
              </a:rPr>
              <a:t>Accident · Avinashi Road · ~2 hours · critical</a:t>
            </a:r>
          </a:p>
          <a:p>
            <a:pPr algn="l">
              <a:lnSpc>
                <a:spcPct val="112000"/>
              </a:lnSpc>
              <a:spcAft>
                <a:spcPts val="1200"/>
              </a:spcAft>
            </a:pPr>
            <a:r>
              <a:rPr sz="1400" b="0" i="0">
                <a:solidFill>
                  <a:srgbClr val="93C5FD"/>
                </a:solidFill>
                <a:latin typeface="Segoe UI Semibold"/>
              </a:rPr>
              <a:t>The plan:  </a:t>
            </a:r>
            <a:r>
              <a:rPr sz="1400" b="0" i="0">
                <a:solidFill>
                  <a:srgbClr val="FFFFFF"/>
                </a:solidFill>
                <a:latin typeface="Segoe UI"/>
              </a:rPr>
              <a:t>insulin + milk move to backup van V6; 3 vehicles reroute via Peelamedu–Hope College; other customers get a new ETA by SMS.</a:t>
            </a:r>
          </a:p>
          <a:p>
            <a:pPr algn="l">
              <a:lnSpc>
                <a:spcPct val="108000"/>
              </a:lnSpc>
              <a:spcAft>
                <a:spcPts val="400"/>
              </a:spcAft>
            </a:pPr>
            <a:r>
              <a:rPr sz="1450" b="0" i="0">
                <a:solidFill>
                  <a:srgbClr val="F59E0B"/>
                </a:solidFill>
                <a:latin typeface="Segoe UI Semibold"/>
              </a:rPr>
              <a:t>Admin taps Accept → done.</a:t>
            </a:r>
          </a:p>
        </p:txBody>
      </p:sp>
      <p:sp>
        <p:nvSpPr>
          <p:cNvPr id="12" name="Rounded Rectangle 11"/>
          <p:cNvSpPr/>
          <p:nvPr/>
        </p:nvSpPr>
        <p:spPr>
          <a:xfrm>
            <a:off x="5806440" y="1783080"/>
            <a:ext cx="2743200" cy="210312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080759" y="2039112"/>
            <a:ext cx="2286000" cy="365760"/>
          </a:xfrm>
          <a:prstGeom prst="rect">
            <a:avLst/>
          </a:prstGeom>
          <a:noFill/>
        </p:spPr>
        <p:txBody>
          <a:bodyPr wrap="square" lIns="0" tIns="0" rIns="0" bIns="0" anchor="t">
            <a:spAutoFit/>
          </a:bodyPr>
          <a:lstStyle/>
          <a:p>
            <a:pPr algn="l">
              <a:lnSpc>
                <a:spcPct val="108000"/>
              </a:lnSpc>
              <a:spcAft>
                <a:spcPts val="400"/>
              </a:spcAft>
            </a:pPr>
            <a:r>
              <a:rPr sz="1300" b="0" i="0">
                <a:solidFill>
                  <a:srgbClr val="475569"/>
                </a:solidFill>
                <a:latin typeface="Segoe UI Semibold"/>
              </a:rPr>
              <a:t>Missed deadlines</a:t>
            </a:r>
          </a:p>
        </p:txBody>
      </p:sp>
      <p:sp>
        <p:nvSpPr>
          <p:cNvPr id="14" name="TextBox 13"/>
          <p:cNvSpPr txBox="1"/>
          <p:nvPr/>
        </p:nvSpPr>
        <p:spPr>
          <a:xfrm>
            <a:off x="6080759" y="2468880"/>
            <a:ext cx="2377440" cy="731520"/>
          </a:xfrm>
          <a:prstGeom prst="rect">
            <a:avLst/>
          </a:prstGeom>
          <a:noFill/>
        </p:spPr>
        <p:txBody>
          <a:bodyPr wrap="square" lIns="0" tIns="0" rIns="0" bIns="0" anchor="t">
            <a:spAutoFit/>
          </a:bodyPr>
          <a:lstStyle/>
          <a:p>
            <a:pPr algn="l">
              <a:lnSpc>
                <a:spcPct val="108000"/>
              </a:lnSpc>
              <a:spcAft>
                <a:spcPts val="0"/>
              </a:spcAft>
            </a:pPr>
            <a:r>
              <a:rPr sz="3400" b="0" i="0">
                <a:solidFill>
                  <a:srgbClr val="DC2626"/>
                </a:solidFill>
                <a:latin typeface="Segoe UI Black"/>
              </a:rPr>
              <a:t>3</a:t>
            </a:r>
            <a:r>
              <a:rPr sz="2600" b="0" i="0">
                <a:solidFill>
                  <a:srgbClr val="94A3B8"/>
                </a:solidFill>
                <a:latin typeface="Segoe UI"/>
              </a:rPr>
              <a:t>  →  </a:t>
            </a:r>
            <a:r>
              <a:rPr sz="3400" b="0" i="0">
                <a:solidFill>
                  <a:srgbClr val="16A34A"/>
                </a:solidFill>
                <a:latin typeface="Segoe UI Black"/>
              </a:rPr>
              <a:t>0</a:t>
            </a:r>
          </a:p>
        </p:txBody>
      </p:sp>
      <p:sp>
        <p:nvSpPr>
          <p:cNvPr id="15" name="TextBox 14"/>
          <p:cNvSpPr txBox="1"/>
          <p:nvPr/>
        </p:nvSpPr>
        <p:spPr>
          <a:xfrm>
            <a:off x="6080759" y="3246120"/>
            <a:ext cx="2286000" cy="365760"/>
          </a:xfrm>
          <a:prstGeom prst="rect">
            <a:avLst/>
          </a:prstGeom>
          <a:noFill/>
        </p:spPr>
        <p:txBody>
          <a:bodyPr wrap="square" lIns="0" tIns="0" rIns="0" bIns="0" anchor="t">
            <a:spAutoFit/>
          </a:bodyPr>
          <a:lstStyle/>
          <a:p>
            <a:pPr algn="l">
              <a:lnSpc>
                <a:spcPct val="108000"/>
              </a:lnSpc>
              <a:spcAft>
                <a:spcPts val="400"/>
              </a:spcAft>
            </a:pPr>
            <a:r>
              <a:rPr sz="1250" b="0" i="0">
                <a:solidFill>
                  <a:srgbClr val="475569"/>
                </a:solidFill>
                <a:latin typeface="Segoe UI"/>
              </a:rPr>
              <a:t>after the plan</a:t>
            </a:r>
          </a:p>
        </p:txBody>
      </p:sp>
      <p:sp>
        <p:nvSpPr>
          <p:cNvPr id="16" name="Rounded Rectangle 15"/>
          <p:cNvSpPr/>
          <p:nvPr/>
        </p:nvSpPr>
        <p:spPr>
          <a:xfrm>
            <a:off x="8732520" y="1783080"/>
            <a:ext cx="2743200" cy="210312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9006840" y="2039112"/>
            <a:ext cx="2286000" cy="365760"/>
          </a:xfrm>
          <a:prstGeom prst="rect">
            <a:avLst/>
          </a:prstGeom>
          <a:noFill/>
        </p:spPr>
        <p:txBody>
          <a:bodyPr wrap="square" lIns="0" tIns="0" rIns="0" bIns="0" anchor="t">
            <a:spAutoFit/>
          </a:bodyPr>
          <a:lstStyle/>
          <a:p>
            <a:pPr algn="l">
              <a:lnSpc>
                <a:spcPct val="108000"/>
              </a:lnSpc>
              <a:spcAft>
                <a:spcPts val="400"/>
              </a:spcAft>
            </a:pPr>
            <a:r>
              <a:rPr sz="1300" b="0" i="0">
                <a:solidFill>
                  <a:srgbClr val="475569"/>
                </a:solidFill>
                <a:latin typeface="Segoe UI Semibold"/>
              </a:rPr>
              <a:t>Average delay per delivery</a:t>
            </a:r>
          </a:p>
        </p:txBody>
      </p:sp>
      <p:sp>
        <p:nvSpPr>
          <p:cNvPr id="18" name="TextBox 17"/>
          <p:cNvSpPr txBox="1"/>
          <p:nvPr/>
        </p:nvSpPr>
        <p:spPr>
          <a:xfrm>
            <a:off x="9006840" y="2468880"/>
            <a:ext cx="2377440" cy="731520"/>
          </a:xfrm>
          <a:prstGeom prst="rect">
            <a:avLst/>
          </a:prstGeom>
          <a:noFill/>
        </p:spPr>
        <p:txBody>
          <a:bodyPr wrap="square" lIns="0" tIns="0" rIns="0" bIns="0" anchor="t">
            <a:spAutoFit/>
          </a:bodyPr>
          <a:lstStyle/>
          <a:p>
            <a:pPr algn="l">
              <a:lnSpc>
                <a:spcPct val="108000"/>
              </a:lnSpc>
              <a:spcAft>
                <a:spcPts val="0"/>
              </a:spcAft>
            </a:pPr>
            <a:r>
              <a:rPr sz="3400" b="0" i="0">
                <a:solidFill>
                  <a:srgbClr val="DC2626"/>
                </a:solidFill>
                <a:latin typeface="Segoe UI Black"/>
              </a:rPr>
              <a:t>+95</a:t>
            </a:r>
            <a:r>
              <a:rPr sz="2600" b="0" i="0">
                <a:solidFill>
                  <a:srgbClr val="94A3B8"/>
                </a:solidFill>
                <a:latin typeface="Segoe UI"/>
              </a:rPr>
              <a:t>  →  </a:t>
            </a:r>
            <a:r>
              <a:rPr sz="3400" b="0" i="0">
                <a:solidFill>
                  <a:srgbClr val="16A34A"/>
                </a:solidFill>
                <a:latin typeface="Segoe UI Black"/>
              </a:rPr>
              <a:t>+17</a:t>
            </a:r>
          </a:p>
        </p:txBody>
      </p:sp>
      <p:sp>
        <p:nvSpPr>
          <p:cNvPr id="19" name="TextBox 18"/>
          <p:cNvSpPr txBox="1"/>
          <p:nvPr/>
        </p:nvSpPr>
        <p:spPr>
          <a:xfrm>
            <a:off x="9006840" y="3246120"/>
            <a:ext cx="2286000" cy="365760"/>
          </a:xfrm>
          <a:prstGeom prst="rect">
            <a:avLst/>
          </a:prstGeom>
          <a:noFill/>
        </p:spPr>
        <p:txBody>
          <a:bodyPr wrap="square" lIns="0" tIns="0" rIns="0" bIns="0" anchor="t">
            <a:spAutoFit/>
          </a:bodyPr>
          <a:lstStyle/>
          <a:p>
            <a:pPr algn="l">
              <a:lnSpc>
                <a:spcPct val="108000"/>
              </a:lnSpc>
              <a:spcAft>
                <a:spcPts val="400"/>
              </a:spcAft>
            </a:pPr>
            <a:r>
              <a:rPr sz="1250" b="0" i="0">
                <a:solidFill>
                  <a:srgbClr val="475569"/>
                </a:solidFill>
                <a:latin typeface="Segoe UI"/>
              </a:rPr>
              <a:t>minutes late, on average</a:t>
            </a:r>
          </a:p>
        </p:txBody>
      </p:sp>
      <p:sp>
        <p:nvSpPr>
          <p:cNvPr id="20" name="Rounded Rectangle 19"/>
          <p:cNvSpPr/>
          <p:nvPr/>
        </p:nvSpPr>
        <p:spPr>
          <a:xfrm>
            <a:off x="5806440" y="4050791"/>
            <a:ext cx="2743200" cy="210312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080759" y="4306824"/>
            <a:ext cx="2286000" cy="365760"/>
          </a:xfrm>
          <a:prstGeom prst="rect">
            <a:avLst/>
          </a:prstGeom>
          <a:noFill/>
        </p:spPr>
        <p:txBody>
          <a:bodyPr wrap="square" lIns="0" tIns="0" rIns="0" bIns="0" anchor="t">
            <a:spAutoFit/>
          </a:bodyPr>
          <a:lstStyle/>
          <a:p>
            <a:pPr algn="l">
              <a:lnSpc>
                <a:spcPct val="108000"/>
              </a:lnSpc>
              <a:spcAft>
                <a:spcPts val="400"/>
              </a:spcAft>
            </a:pPr>
            <a:r>
              <a:rPr sz="1300" b="0" i="0">
                <a:solidFill>
                  <a:srgbClr val="475569"/>
                </a:solidFill>
                <a:latin typeface="Segoe UI Semibold"/>
              </a:rPr>
              <a:t>Critical deliveries at risk</a:t>
            </a:r>
          </a:p>
        </p:txBody>
      </p:sp>
      <p:sp>
        <p:nvSpPr>
          <p:cNvPr id="22" name="TextBox 21"/>
          <p:cNvSpPr txBox="1"/>
          <p:nvPr/>
        </p:nvSpPr>
        <p:spPr>
          <a:xfrm>
            <a:off x="6080759" y="4736592"/>
            <a:ext cx="2377440" cy="731520"/>
          </a:xfrm>
          <a:prstGeom prst="rect">
            <a:avLst/>
          </a:prstGeom>
          <a:noFill/>
        </p:spPr>
        <p:txBody>
          <a:bodyPr wrap="square" lIns="0" tIns="0" rIns="0" bIns="0" anchor="t">
            <a:spAutoFit/>
          </a:bodyPr>
          <a:lstStyle/>
          <a:p>
            <a:pPr algn="l">
              <a:lnSpc>
                <a:spcPct val="108000"/>
              </a:lnSpc>
              <a:spcAft>
                <a:spcPts val="0"/>
              </a:spcAft>
            </a:pPr>
            <a:r>
              <a:rPr sz="3400" b="0" i="0">
                <a:solidFill>
                  <a:srgbClr val="DC2626"/>
                </a:solidFill>
                <a:latin typeface="Segoe UI Black"/>
              </a:rPr>
              <a:t>3</a:t>
            </a:r>
            <a:r>
              <a:rPr sz="2600" b="0" i="0">
                <a:solidFill>
                  <a:srgbClr val="94A3B8"/>
                </a:solidFill>
                <a:latin typeface="Segoe UI"/>
              </a:rPr>
              <a:t>  →  </a:t>
            </a:r>
            <a:r>
              <a:rPr sz="3400" b="0" i="0">
                <a:solidFill>
                  <a:srgbClr val="16A34A"/>
                </a:solidFill>
                <a:latin typeface="Segoe UI Black"/>
              </a:rPr>
              <a:t>0</a:t>
            </a:r>
          </a:p>
        </p:txBody>
      </p:sp>
      <p:sp>
        <p:nvSpPr>
          <p:cNvPr id="23" name="TextBox 22"/>
          <p:cNvSpPr txBox="1"/>
          <p:nvPr/>
        </p:nvSpPr>
        <p:spPr>
          <a:xfrm>
            <a:off x="6080759" y="5513831"/>
            <a:ext cx="2286000" cy="365760"/>
          </a:xfrm>
          <a:prstGeom prst="rect">
            <a:avLst/>
          </a:prstGeom>
          <a:noFill/>
        </p:spPr>
        <p:txBody>
          <a:bodyPr wrap="square" lIns="0" tIns="0" rIns="0" bIns="0" anchor="t">
            <a:spAutoFit/>
          </a:bodyPr>
          <a:lstStyle/>
          <a:p>
            <a:pPr algn="l">
              <a:lnSpc>
                <a:spcPct val="108000"/>
              </a:lnSpc>
              <a:spcAft>
                <a:spcPts val="400"/>
              </a:spcAft>
            </a:pPr>
            <a:r>
              <a:rPr sz="1250" b="0" i="0">
                <a:solidFill>
                  <a:srgbClr val="475569"/>
                </a:solidFill>
                <a:latin typeface="Segoe UI"/>
              </a:rPr>
              <a:t>no critical stop left</a:t>
            </a:r>
          </a:p>
        </p:txBody>
      </p:sp>
      <p:sp>
        <p:nvSpPr>
          <p:cNvPr id="24" name="Rounded Rectangle 23"/>
          <p:cNvSpPr/>
          <p:nvPr/>
        </p:nvSpPr>
        <p:spPr>
          <a:xfrm>
            <a:off x="8732520" y="4050791"/>
            <a:ext cx="2743200" cy="210312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9006840" y="4306824"/>
            <a:ext cx="2286000" cy="365760"/>
          </a:xfrm>
          <a:prstGeom prst="rect">
            <a:avLst/>
          </a:prstGeom>
          <a:noFill/>
        </p:spPr>
        <p:txBody>
          <a:bodyPr wrap="square" lIns="0" tIns="0" rIns="0" bIns="0" anchor="t">
            <a:spAutoFit/>
          </a:bodyPr>
          <a:lstStyle/>
          <a:p>
            <a:pPr algn="l">
              <a:lnSpc>
                <a:spcPct val="108000"/>
              </a:lnSpc>
              <a:spcAft>
                <a:spcPts val="400"/>
              </a:spcAft>
            </a:pPr>
            <a:r>
              <a:rPr sz="1300" b="0" i="0">
                <a:solidFill>
                  <a:srgbClr val="475569"/>
                </a:solidFill>
                <a:latin typeface="Segoe UI Semibold"/>
              </a:rPr>
              <a:t>Hospital insulin (KMCH)</a:t>
            </a:r>
          </a:p>
        </p:txBody>
      </p:sp>
      <p:sp>
        <p:nvSpPr>
          <p:cNvPr id="26" name="TextBox 25"/>
          <p:cNvSpPr txBox="1"/>
          <p:nvPr/>
        </p:nvSpPr>
        <p:spPr>
          <a:xfrm>
            <a:off x="9006840" y="4736592"/>
            <a:ext cx="2377440" cy="731520"/>
          </a:xfrm>
          <a:prstGeom prst="rect">
            <a:avLst/>
          </a:prstGeom>
          <a:noFill/>
        </p:spPr>
        <p:txBody>
          <a:bodyPr wrap="square" lIns="0" tIns="0" rIns="0" bIns="0" anchor="t">
            <a:spAutoFit/>
          </a:bodyPr>
          <a:lstStyle/>
          <a:p>
            <a:pPr algn="l">
              <a:lnSpc>
                <a:spcPct val="108000"/>
              </a:lnSpc>
              <a:spcAft>
                <a:spcPts val="0"/>
              </a:spcAft>
            </a:pPr>
            <a:r>
              <a:rPr sz="3400" b="0" i="0">
                <a:solidFill>
                  <a:srgbClr val="16A34A"/>
                </a:solidFill>
                <a:latin typeface="Segoe UI Black"/>
              </a:rPr>
              <a:t>10:44</a:t>
            </a:r>
          </a:p>
        </p:txBody>
      </p:sp>
      <p:sp>
        <p:nvSpPr>
          <p:cNvPr id="27" name="TextBox 26"/>
          <p:cNvSpPr txBox="1"/>
          <p:nvPr/>
        </p:nvSpPr>
        <p:spPr>
          <a:xfrm>
            <a:off x="9006840" y="5513831"/>
            <a:ext cx="2286000" cy="365760"/>
          </a:xfrm>
          <a:prstGeom prst="rect">
            <a:avLst/>
          </a:prstGeom>
          <a:noFill/>
        </p:spPr>
        <p:txBody>
          <a:bodyPr wrap="square" lIns="0" tIns="0" rIns="0" bIns="0" anchor="t">
            <a:spAutoFit/>
          </a:bodyPr>
          <a:lstStyle/>
          <a:p>
            <a:pPr algn="l">
              <a:lnSpc>
                <a:spcPct val="108000"/>
              </a:lnSpc>
              <a:spcAft>
                <a:spcPts val="400"/>
              </a:spcAft>
            </a:pPr>
            <a:r>
              <a:rPr sz="1250" b="0" i="0">
                <a:solidFill>
                  <a:srgbClr val="475569"/>
                </a:solidFill>
                <a:latin typeface="Segoe UI"/>
              </a:rPr>
              <a:t>delivered · deadline 11:30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502920"/>
            <a:ext cx="82296" cy="896112"/>
          </a:xfrm>
          <a:prstGeom prst="roundRect">
            <a:avLst>
              <a:gd name="adj" fmla="val 50000"/>
            </a:avLst>
          </a:prstGeom>
          <a:gradFill rotWithShape="1">
            <a:gsLst>
              <a:gs pos="0">
                <a:srgbClr val="2563EB"/>
              </a:gs>
              <a:gs pos="100000">
                <a:srgbClr val="7C3AED"/>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04672" y="429768"/>
            <a:ext cx="9601200" cy="274320"/>
          </a:xfrm>
          <a:prstGeom prst="rect">
            <a:avLst/>
          </a:prstGeom>
          <a:noFill/>
        </p:spPr>
        <p:txBody>
          <a:bodyPr wrap="square" lIns="0" tIns="0" rIns="0" bIns="0" anchor="t">
            <a:spAutoFit/>
          </a:bodyPr>
          <a:lstStyle/>
          <a:p>
            <a:pPr algn="l">
              <a:lnSpc>
                <a:spcPct val="108000"/>
              </a:lnSpc>
              <a:spcAft>
                <a:spcPts val="400"/>
              </a:spcAft>
            </a:pPr>
            <a:r>
              <a:rPr sz="1100" b="0" i="0" spc="200">
                <a:solidFill>
                  <a:srgbClr val="2563EB"/>
                </a:solidFill>
                <a:latin typeface="Segoe UI Semibold"/>
              </a:rPr>
              <a:t>BRANCH ADMIN · LAPTOP</a:t>
            </a:r>
          </a:p>
        </p:txBody>
      </p:sp>
      <p:sp>
        <p:nvSpPr>
          <p:cNvPr id="4" name="TextBox 3"/>
          <p:cNvSpPr txBox="1"/>
          <p:nvPr/>
        </p:nvSpPr>
        <p:spPr>
          <a:xfrm>
            <a:off x="804672" y="676656"/>
            <a:ext cx="9875520" cy="566928"/>
          </a:xfrm>
          <a:prstGeom prst="rect">
            <a:avLst/>
          </a:prstGeom>
          <a:noFill/>
        </p:spPr>
        <p:txBody>
          <a:bodyPr wrap="square" lIns="0" tIns="0" rIns="0" bIns="0" anchor="t">
            <a:spAutoFit/>
          </a:bodyPr>
          <a:lstStyle/>
          <a:p>
            <a:pPr algn="l">
              <a:lnSpc>
                <a:spcPct val="100000"/>
              </a:lnSpc>
              <a:spcAft>
                <a:spcPts val="400"/>
              </a:spcAft>
            </a:pPr>
            <a:r>
              <a:rPr sz="3000" b="0" i="0">
                <a:solidFill>
                  <a:srgbClr val="0B1E3F"/>
                </a:solidFill>
                <a:latin typeface="Segoe UI Semibold"/>
              </a:rPr>
              <a:t>Command Center – everything urgent on one screen</a:t>
            </a:r>
          </a:p>
        </p:txBody>
      </p:sp>
      <p:pic>
        <p:nvPicPr>
          <p:cNvPr id="5" name="Picture 4" descr="logo_512.png"/>
          <p:cNvPicPr>
            <a:picLocks noChangeAspect="1"/>
          </p:cNvPicPr>
          <p:nvPr/>
        </p:nvPicPr>
        <p:blipFill>
          <a:blip r:embed="rId3"/>
          <a:stretch>
            <a:fillRect/>
          </a:stretch>
        </p:blipFill>
        <p:spPr>
          <a:xfrm>
            <a:off x="11137392" y="475488"/>
            <a:ext cx="475488" cy="475488"/>
          </a:xfrm>
          <a:prstGeom prst="rect">
            <a:avLst/>
          </a:prstGeom>
        </p:spPr>
      </p:pic>
      <p:sp>
        <p:nvSpPr>
          <p:cNvPr id="6" name="Rectangle 5"/>
          <p:cNvSpPr/>
          <p:nvPr/>
        </p:nvSpPr>
        <p:spPr>
          <a:xfrm>
            <a:off x="548640" y="6400800"/>
            <a:ext cx="11091672"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6464808"/>
            <a:ext cx="7315200" cy="228600"/>
          </a:xfrm>
          <a:prstGeom prst="rect">
            <a:avLst/>
          </a:prstGeom>
          <a:noFill/>
        </p:spPr>
        <p:txBody>
          <a:bodyPr wrap="square" lIns="0" tIns="0" rIns="0" bIns="0" anchor="t">
            <a:spAutoFit/>
          </a:bodyPr>
          <a:lstStyle/>
          <a:p>
            <a:pPr algn="l">
              <a:lnSpc>
                <a:spcPct val="108000"/>
              </a:lnSpc>
              <a:spcAft>
                <a:spcPts val="400"/>
              </a:spcAft>
            </a:pPr>
            <a:r>
              <a:rPr sz="1000" b="0" i="0" spc="150">
                <a:solidFill>
                  <a:srgbClr val="0B1E3F"/>
                </a:solidFill>
                <a:latin typeface="Segoe UI Semibold"/>
              </a:rPr>
              <a:t>DEPORT</a:t>
            </a:r>
            <a:r>
              <a:rPr sz="1000" b="0" i="0">
                <a:solidFill>
                  <a:srgbClr val="475569"/>
                </a:solidFill>
                <a:latin typeface="Segoe UI"/>
              </a:rPr>
              <a:t>  ·  Disruption-Aware Logistics Decision Support</a:t>
            </a:r>
          </a:p>
        </p:txBody>
      </p:sp>
      <p:sp>
        <p:nvSpPr>
          <p:cNvPr id="8" name="TextBox 7"/>
          <p:cNvSpPr txBox="1"/>
          <p:nvPr/>
        </p:nvSpPr>
        <p:spPr>
          <a:xfrm>
            <a:off x="10725912" y="6464808"/>
            <a:ext cx="914400" cy="228600"/>
          </a:xfrm>
          <a:prstGeom prst="rect">
            <a:avLst/>
          </a:prstGeom>
          <a:noFill/>
        </p:spPr>
        <p:txBody>
          <a:bodyPr wrap="square" lIns="0" tIns="0" rIns="0" bIns="0" anchor="t">
            <a:spAutoFit/>
          </a:bodyPr>
          <a:lstStyle/>
          <a:p>
            <a:pPr algn="r">
              <a:lnSpc>
                <a:spcPct val="108000"/>
              </a:lnSpc>
              <a:spcAft>
                <a:spcPts val="400"/>
              </a:spcAft>
            </a:pPr>
            <a:r>
              <a:rPr sz="1000" b="0" i="0">
                <a:solidFill>
                  <a:srgbClr val="475569"/>
                </a:solidFill>
                <a:latin typeface="Segoe UI"/>
              </a:rPr>
              <a:t>7 / 17</a:t>
            </a:r>
          </a:p>
        </p:txBody>
      </p:sp>
      <p:sp>
        <p:nvSpPr>
          <p:cNvPr id="9" name="Rounded Rectangle 8"/>
          <p:cNvSpPr/>
          <p:nvPr/>
        </p:nvSpPr>
        <p:spPr>
          <a:xfrm>
            <a:off x="777240" y="1737360"/>
            <a:ext cx="6016752" cy="4462272"/>
          </a:xfrm>
          <a:prstGeom prst="roundRect">
            <a:avLst>
              <a:gd name="adj" fmla="val 3000"/>
            </a:avLst>
          </a:prstGeom>
          <a:solidFill>
            <a:srgbClr val="0F172A"/>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932688" y="1865376"/>
            <a:ext cx="91440" cy="91440"/>
          </a:xfrm>
          <a:prstGeom prst="ellipse">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1088136" y="1865376"/>
            <a:ext cx="91440" cy="91440"/>
          </a:xfrm>
          <a:prstGeom prst="ellipse">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1243584" y="1865376"/>
            <a:ext cx="91440" cy="91440"/>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command_center.png"/>
          <p:cNvPicPr>
            <a:picLocks noChangeAspect="1"/>
          </p:cNvPicPr>
          <p:nvPr/>
        </p:nvPicPr>
        <p:blipFill>
          <a:blip r:embed="rId4"/>
          <a:stretch>
            <a:fillRect/>
          </a:stretch>
        </p:blipFill>
        <p:spPr>
          <a:xfrm>
            <a:off x="822960" y="2039112"/>
            <a:ext cx="5925312" cy="4114800"/>
          </a:xfrm>
          <a:prstGeom prst="rect">
            <a:avLst/>
          </a:prstGeom>
        </p:spPr>
      </p:pic>
      <p:sp>
        <p:nvSpPr>
          <p:cNvPr id="14" name="Oval 13"/>
          <p:cNvSpPr/>
          <p:nvPr/>
        </p:nvSpPr>
        <p:spPr>
          <a:xfrm>
            <a:off x="7086600" y="1828800"/>
            <a:ext cx="420624" cy="420624"/>
          </a:xfrm>
          <a:prstGeom prst="ellipse">
            <a:avLst/>
          </a:prstGeom>
          <a:gradFill rotWithShape="1">
            <a:gsLst>
              <a:gs pos="0">
                <a:srgbClr val="2563EB"/>
              </a:gs>
              <a:gs pos="100000">
                <a:srgbClr val="7C3AED"/>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300" b="0">
                <a:solidFill>
                  <a:srgbClr val="FFFFFF"/>
                </a:solidFill>
                <a:latin typeface="Segoe UI Semibold"/>
              </a:rPr>
              <a:t>1</a:t>
            </a:r>
          </a:p>
        </p:txBody>
      </p:sp>
      <p:sp>
        <p:nvSpPr>
          <p:cNvPr id="15" name="TextBox 14"/>
          <p:cNvSpPr txBox="1"/>
          <p:nvPr/>
        </p:nvSpPr>
        <p:spPr>
          <a:xfrm>
            <a:off x="7662672" y="1810512"/>
            <a:ext cx="3931920" cy="365760"/>
          </a:xfrm>
          <a:prstGeom prst="rect">
            <a:avLst/>
          </a:prstGeom>
          <a:noFill/>
        </p:spPr>
        <p:txBody>
          <a:bodyPr wrap="square" lIns="0" tIns="0" rIns="0" bIns="0" anchor="t">
            <a:spAutoFit/>
          </a:bodyPr>
          <a:lstStyle/>
          <a:p>
            <a:pPr algn="l">
              <a:lnSpc>
                <a:spcPct val="108000"/>
              </a:lnSpc>
              <a:spcAft>
                <a:spcPts val="400"/>
              </a:spcAft>
            </a:pPr>
            <a:r>
              <a:rPr sz="1650" b="0" i="0">
                <a:solidFill>
                  <a:srgbClr val="0B1E3F"/>
                </a:solidFill>
                <a:latin typeface="Segoe UI Semibold"/>
              </a:rPr>
              <a:t>Alert banner</a:t>
            </a:r>
          </a:p>
        </p:txBody>
      </p:sp>
      <p:sp>
        <p:nvSpPr>
          <p:cNvPr id="16" name="TextBox 15"/>
          <p:cNvSpPr txBox="1"/>
          <p:nvPr/>
        </p:nvSpPr>
        <p:spPr>
          <a:xfrm>
            <a:off x="7662672" y="2157984"/>
            <a:ext cx="3931920" cy="685800"/>
          </a:xfrm>
          <a:prstGeom prst="rect">
            <a:avLst/>
          </a:prstGeom>
          <a:noFill/>
        </p:spPr>
        <p:txBody>
          <a:bodyPr wrap="square" lIns="0" tIns="0" rIns="0" bIns="0" anchor="t">
            <a:spAutoFit/>
          </a:bodyPr>
          <a:lstStyle/>
          <a:p>
            <a:pPr algn="l">
              <a:lnSpc>
                <a:spcPct val="112000"/>
              </a:lnSpc>
              <a:spcAft>
                <a:spcPts val="400"/>
              </a:spcAft>
            </a:pPr>
            <a:r>
              <a:rPr sz="1300" b="0" i="0">
                <a:solidFill>
                  <a:srgbClr val="475569"/>
                </a:solidFill>
                <a:latin typeface="Segoe UI"/>
              </a:rPr>
              <a:t>Only when something is wrong: who, what, where and how many deliveries are hit.</a:t>
            </a:r>
          </a:p>
        </p:txBody>
      </p:sp>
      <p:sp>
        <p:nvSpPr>
          <p:cNvPr id="17" name="Oval 16"/>
          <p:cNvSpPr/>
          <p:nvPr/>
        </p:nvSpPr>
        <p:spPr>
          <a:xfrm>
            <a:off x="7086600" y="2907791"/>
            <a:ext cx="420624" cy="420624"/>
          </a:xfrm>
          <a:prstGeom prst="ellipse">
            <a:avLst/>
          </a:prstGeom>
          <a:gradFill rotWithShape="1">
            <a:gsLst>
              <a:gs pos="0">
                <a:srgbClr val="2563EB"/>
              </a:gs>
              <a:gs pos="100000">
                <a:srgbClr val="7C3AED"/>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300" b="0">
                <a:solidFill>
                  <a:srgbClr val="FFFFFF"/>
                </a:solidFill>
                <a:latin typeface="Segoe UI Semibold"/>
              </a:rPr>
              <a:t>2</a:t>
            </a:r>
          </a:p>
        </p:txBody>
      </p:sp>
      <p:sp>
        <p:nvSpPr>
          <p:cNvPr id="18" name="TextBox 17"/>
          <p:cNvSpPr txBox="1"/>
          <p:nvPr/>
        </p:nvSpPr>
        <p:spPr>
          <a:xfrm>
            <a:off x="7662672" y="2889503"/>
            <a:ext cx="3931920" cy="365760"/>
          </a:xfrm>
          <a:prstGeom prst="rect">
            <a:avLst/>
          </a:prstGeom>
          <a:noFill/>
        </p:spPr>
        <p:txBody>
          <a:bodyPr wrap="square" lIns="0" tIns="0" rIns="0" bIns="0" anchor="t">
            <a:spAutoFit/>
          </a:bodyPr>
          <a:lstStyle/>
          <a:p>
            <a:pPr algn="l">
              <a:lnSpc>
                <a:spcPct val="108000"/>
              </a:lnSpc>
              <a:spcAft>
                <a:spcPts val="400"/>
              </a:spcAft>
            </a:pPr>
            <a:r>
              <a:rPr sz="1650" b="0" i="0">
                <a:solidFill>
                  <a:srgbClr val="0B1E3F"/>
                </a:solidFill>
                <a:latin typeface="Segoe UI Semibold"/>
              </a:rPr>
              <a:t>Six live numbers</a:t>
            </a:r>
          </a:p>
        </p:txBody>
      </p:sp>
      <p:sp>
        <p:nvSpPr>
          <p:cNvPr id="19" name="TextBox 18"/>
          <p:cNvSpPr txBox="1"/>
          <p:nvPr/>
        </p:nvSpPr>
        <p:spPr>
          <a:xfrm>
            <a:off x="7662672" y="3236975"/>
            <a:ext cx="3931920" cy="685800"/>
          </a:xfrm>
          <a:prstGeom prst="rect">
            <a:avLst/>
          </a:prstGeom>
          <a:noFill/>
        </p:spPr>
        <p:txBody>
          <a:bodyPr wrap="square" lIns="0" tIns="0" rIns="0" bIns="0" anchor="t">
            <a:spAutoFit/>
          </a:bodyPr>
          <a:lstStyle/>
          <a:p>
            <a:pPr algn="l">
              <a:lnSpc>
                <a:spcPct val="112000"/>
              </a:lnSpc>
              <a:spcAft>
                <a:spcPts val="400"/>
              </a:spcAft>
            </a:pPr>
            <a:r>
              <a:rPr sz="1300" b="0" i="0">
                <a:solidFill>
                  <a:srgbClr val="475569"/>
                </a:solidFill>
                <a:latin typeface="Segoe UI"/>
              </a:rPr>
              <a:t>Active partners, deliveries, delayed, critical, open alerts, free vehicles.</a:t>
            </a:r>
          </a:p>
        </p:txBody>
      </p:sp>
      <p:sp>
        <p:nvSpPr>
          <p:cNvPr id="20" name="Oval 19"/>
          <p:cNvSpPr/>
          <p:nvPr/>
        </p:nvSpPr>
        <p:spPr>
          <a:xfrm>
            <a:off x="7086600" y="3986783"/>
            <a:ext cx="420624" cy="420624"/>
          </a:xfrm>
          <a:prstGeom prst="ellipse">
            <a:avLst/>
          </a:prstGeom>
          <a:gradFill rotWithShape="1">
            <a:gsLst>
              <a:gs pos="0">
                <a:srgbClr val="2563EB"/>
              </a:gs>
              <a:gs pos="100000">
                <a:srgbClr val="7C3AED"/>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300" b="0">
                <a:solidFill>
                  <a:srgbClr val="FFFFFF"/>
                </a:solidFill>
                <a:latin typeface="Segoe UI Semibold"/>
              </a:rPr>
              <a:t>3</a:t>
            </a:r>
          </a:p>
        </p:txBody>
      </p:sp>
      <p:sp>
        <p:nvSpPr>
          <p:cNvPr id="21" name="TextBox 20"/>
          <p:cNvSpPr txBox="1"/>
          <p:nvPr/>
        </p:nvSpPr>
        <p:spPr>
          <a:xfrm>
            <a:off x="7662672" y="3968496"/>
            <a:ext cx="3931920" cy="365760"/>
          </a:xfrm>
          <a:prstGeom prst="rect">
            <a:avLst/>
          </a:prstGeom>
          <a:noFill/>
        </p:spPr>
        <p:txBody>
          <a:bodyPr wrap="square" lIns="0" tIns="0" rIns="0" bIns="0" anchor="t">
            <a:spAutoFit/>
          </a:bodyPr>
          <a:lstStyle/>
          <a:p>
            <a:pPr algn="l">
              <a:lnSpc>
                <a:spcPct val="108000"/>
              </a:lnSpc>
              <a:spcAft>
                <a:spcPts val="400"/>
              </a:spcAft>
            </a:pPr>
            <a:r>
              <a:rPr sz="1650" b="0" i="0">
                <a:solidFill>
                  <a:srgbClr val="0B1E3F"/>
                </a:solidFill>
                <a:latin typeface="Segoe UI Semibold"/>
              </a:rPr>
              <a:t>Live map</a:t>
            </a:r>
          </a:p>
        </p:txBody>
      </p:sp>
      <p:sp>
        <p:nvSpPr>
          <p:cNvPr id="22" name="TextBox 21"/>
          <p:cNvSpPr txBox="1"/>
          <p:nvPr/>
        </p:nvSpPr>
        <p:spPr>
          <a:xfrm>
            <a:off x="7662672" y="4315968"/>
            <a:ext cx="3931920" cy="685800"/>
          </a:xfrm>
          <a:prstGeom prst="rect">
            <a:avLst/>
          </a:prstGeom>
          <a:noFill/>
        </p:spPr>
        <p:txBody>
          <a:bodyPr wrap="square" lIns="0" tIns="0" rIns="0" bIns="0" anchor="t">
            <a:spAutoFit/>
          </a:bodyPr>
          <a:lstStyle/>
          <a:p>
            <a:pPr algn="l">
              <a:lnSpc>
                <a:spcPct val="112000"/>
              </a:lnSpc>
              <a:spcAft>
                <a:spcPts val="400"/>
              </a:spcAft>
            </a:pPr>
            <a:r>
              <a:rPr sz="1300" b="0" i="0">
                <a:solidFill>
                  <a:srgbClr val="475569"/>
                </a:solidFill>
                <a:latin typeface="Segoe UI"/>
              </a:rPr>
              <a:t>Every vehicle and stop on real Coimbatore roads, coloured by status.</a:t>
            </a:r>
          </a:p>
        </p:txBody>
      </p:sp>
      <p:sp>
        <p:nvSpPr>
          <p:cNvPr id="23" name="Oval 22"/>
          <p:cNvSpPr/>
          <p:nvPr/>
        </p:nvSpPr>
        <p:spPr>
          <a:xfrm>
            <a:off x="7086600" y="5065776"/>
            <a:ext cx="420624" cy="420624"/>
          </a:xfrm>
          <a:prstGeom prst="ellipse">
            <a:avLst/>
          </a:prstGeom>
          <a:gradFill rotWithShape="1">
            <a:gsLst>
              <a:gs pos="0">
                <a:srgbClr val="2563EB"/>
              </a:gs>
              <a:gs pos="100000">
                <a:srgbClr val="7C3AED"/>
              </a:gs>
            </a:gsLst>
            <a:lin ang="13500000" scaled="0"/>
          </a:gra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300" b="0">
                <a:solidFill>
                  <a:srgbClr val="FFFFFF"/>
                </a:solidFill>
                <a:latin typeface="Segoe UI Semibold"/>
              </a:rPr>
              <a:t>4</a:t>
            </a:r>
          </a:p>
        </p:txBody>
      </p:sp>
      <p:sp>
        <p:nvSpPr>
          <p:cNvPr id="24" name="TextBox 23"/>
          <p:cNvSpPr txBox="1"/>
          <p:nvPr/>
        </p:nvSpPr>
        <p:spPr>
          <a:xfrm>
            <a:off x="7662672" y="5047488"/>
            <a:ext cx="3931920" cy="365760"/>
          </a:xfrm>
          <a:prstGeom prst="rect">
            <a:avLst/>
          </a:prstGeom>
          <a:noFill/>
        </p:spPr>
        <p:txBody>
          <a:bodyPr wrap="square" lIns="0" tIns="0" rIns="0" bIns="0" anchor="t">
            <a:spAutoFit/>
          </a:bodyPr>
          <a:lstStyle/>
          <a:p>
            <a:pPr algn="l">
              <a:lnSpc>
                <a:spcPct val="108000"/>
              </a:lnSpc>
              <a:spcAft>
                <a:spcPts val="400"/>
              </a:spcAft>
            </a:pPr>
            <a:r>
              <a:rPr sz="1650" b="0" i="0">
                <a:solidFill>
                  <a:srgbClr val="0B1E3F"/>
                </a:solidFill>
                <a:latin typeface="Segoe UI Semibold"/>
              </a:rPr>
              <a:t>At risk now</a:t>
            </a:r>
          </a:p>
        </p:txBody>
      </p:sp>
      <p:sp>
        <p:nvSpPr>
          <p:cNvPr id="25" name="TextBox 24"/>
          <p:cNvSpPr txBox="1"/>
          <p:nvPr/>
        </p:nvSpPr>
        <p:spPr>
          <a:xfrm>
            <a:off x="7662672" y="5394960"/>
            <a:ext cx="3931920" cy="685800"/>
          </a:xfrm>
          <a:prstGeom prst="rect">
            <a:avLst/>
          </a:prstGeom>
          <a:noFill/>
        </p:spPr>
        <p:txBody>
          <a:bodyPr wrap="square" lIns="0" tIns="0" rIns="0" bIns="0" anchor="t">
            <a:spAutoFit/>
          </a:bodyPr>
          <a:lstStyle/>
          <a:p>
            <a:pPr algn="l">
              <a:lnSpc>
                <a:spcPct val="112000"/>
              </a:lnSpc>
              <a:spcAft>
                <a:spcPts val="400"/>
              </a:spcAft>
            </a:pPr>
            <a:r>
              <a:rPr sz="1300" b="0" i="0">
                <a:solidFill>
                  <a:srgbClr val="475569"/>
                </a:solidFill>
                <a:latin typeface="Segoe UI"/>
              </a:rPr>
              <a:t>The five most urgent deliveries, worst first – with how late they will be.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502920"/>
            <a:ext cx="82296" cy="896112"/>
          </a:xfrm>
          <a:prstGeom prst="roundRect">
            <a:avLst>
              <a:gd name="adj" fmla="val 50000"/>
            </a:avLst>
          </a:prstGeom>
          <a:gradFill rotWithShape="1">
            <a:gsLst>
              <a:gs pos="0">
                <a:srgbClr val="2563EB"/>
              </a:gs>
              <a:gs pos="100000">
                <a:srgbClr val="7C3AED"/>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04672" y="429768"/>
            <a:ext cx="9601200" cy="274320"/>
          </a:xfrm>
          <a:prstGeom prst="rect">
            <a:avLst/>
          </a:prstGeom>
          <a:noFill/>
        </p:spPr>
        <p:txBody>
          <a:bodyPr wrap="square" lIns="0" tIns="0" rIns="0" bIns="0" anchor="t">
            <a:spAutoFit/>
          </a:bodyPr>
          <a:lstStyle/>
          <a:p>
            <a:pPr algn="l">
              <a:lnSpc>
                <a:spcPct val="108000"/>
              </a:lnSpc>
              <a:spcAft>
                <a:spcPts val="400"/>
              </a:spcAft>
            </a:pPr>
            <a:r>
              <a:rPr sz="1100" b="0" i="0" spc="200">
                <a:solidFill>
                  <a:srgbClr val="2563EB"/>
                </a:solidFill>
                <a:latin typeface="Segoe UI Semibold"/>
              </a:rPr>
              <a:t>BRANCH ADMIN · ALERTS</a:t>
            </a:r>
          </a:p>
        </p:txBody>
      </p:sp>
      <p:sp>
        <p:nvSpPr>
          <p:cNvPr id="4" name="TextBox 3"/>
          <p:cNvSpPr txBox="1"/>
          <p:nvPr/>
        </p:nvSpPr>
        <p:spPr>
          <a:xfrm>
            <a:off x="804672" y="676656"/>
            <a:ext cx="9875520" cy="566928"/>
          </a:xfrm>
          <a:prstGeom prst="rect">
            <a:avLst/>
          </a:prstGeom>
          <a:noFill/>
        </p:spPr>
        <p:txBody>
          <a:bodyPr wrap="square" lIns="0" tIns="0" rIns="0" bIns="0" anchor="t">
            <a:spAutoFit/>
          </a:bodyPr>
          <a:lstStyle/>
          <a:p>
            <a:pPr algn="l">
              <a:lnSpc>
                <a:spcPct val="100000"/>
              </a:lnSpc>
              <a:spcAft>
                <a:spcPts val="400"/>
              </a:spcAft>
            </a:pPr>
            <a:r>
              <a:rPr sz="3000" b="0" i="0">
                <a:solidFill>
                  <a:srgbClr val="0B1E3F"/>
                </a:solidFill>
                <a:latin typeface="Segoe UI Semibold"/>
              </a:rPr>
              <a:t>Alerts in 3 simple steps</a:t>
            </a:r>
          </a:p>
        </p:txBody>
      </p:sp>
      <p:sp>
        <p:nvSpPr>
          <p:cNvPr id="5" name="TextBox 4"/>
          <p:cNvSpPr txBox="1"/>
          <p:nvPr/>
        </p:nvSpPr>
        <p:spPr>
          <a:xfrm>
            <a:off x="804672" y="1243584"/>
            <a:ext cx="10241280" cy="365760"/>
          </a:xfrm>
          <a:prstGeom prst="rect">
            <a:avLst/>
          </a:prstGeom>
          <a:noFill/>
        </p:spPr>
        <p:txBody>
          <a:bodyPr wrap="square" lIns="0" tIns="0" rIns="0" bIns="0" anchor="t">
            <a:spAutoFit/>
          </a:bodyPr>
          <a:lstStyle/>
          <a:p>
            <a:pPr algn="l">
              <a:lnSpc>
                <a:spcPct val="108000"/>
              </a:lnSpc>
              <a:spcAft>
                <a:spcPts val="400"/>
              </a:spcAft>
            </a:pPr>
            <a:r>
              <a:rPr sz="1500" b="0" i="0">
                <a:solidFill>
                  <a:srgbClr val="475569"/>
                </a:solidFill>
                <a:latin typeface="Segoe UI"/>
              </a:rPr>
              <a:t>①  What changed    →    ②  What's affected    →    ③  What to do  (Accept plan)</a:t>
            </a:r>
          </a:p>
        </p:txBody>
      </p:sp>
      <p:pic>
        <p:nvPicPr>
          <p:cNvPr id="6" name="Picture 5" descr="logo_512.png"/>
          <p:cNvPicPr>
            <a:picLocks noChangeAspect="1"/>
          </p:cNvPicPr>
          <p:nvPr/>
        </p:nvPicPr>
        <p:blipFill>
          <a:blip r:embed="rId3"/>
          <a:stretch>
            <a:fillRect/>
          </a:stretch>
        </p:blipFill>
        <p:spPr>
          <a:xfrm>
            <a:off x="11137392" y="475488"/>
            <a:ext cx="475488" cy="475488"/>
          </a:xfrm>
          <a:prstGeom prst="rect">
            <a:avLst/>
          </a:prstGeom>
        </p:spPr>
      </p:pic>
      <p:sp>
        <p:nvSpPr>
          <p:cNvPr id="7" name="Rectangle 6"/>
          <p:cNvSpPr/>
          <p:nvPr/>
        </p:nvSpPr>
        <p:spPr>
          <a:xfrm>
            <a:off x="548640" y="6400800"/>
            <a:ext cx="11091672"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6464808"/>
            <a:ext cx="7315200" cy="228600"/>
          </a:xfrm>
          <a:prstGeom prst="rect">
            <a:avLst/>
          </a:prstGeom>
          <a:noFill/>
        </p:spPr>
        <p:txBody>
          <a:bodyPr wrap="square" lIns="0" tIns="0" rIns="0" bIns="0" anchor="t">
            <a:spAutoFit/>
          </a:bodyPr>
          <a:lstStyle/>
          <a:p>
            <a:pPr algn="l">
              <a:lnSpc>
                <a:spcPct val="108000"/>
              </a:lnSpc>
              <a:spcAft>
                <a:spcPts val="400"/>
              </a:spcAft>
            </a:pPr>
            <a:r>
              <a:rPr sz="1000" b="0" i="0" spc="150">
                <a:solidFill>
                  <a:srgbClr val="0B1E3F"/>
                </a:solidFill>
                <a:latin typeface="Segoe UI Semibold"/>
              </a:rPr>
              <a:t>DEPORT</a:t>
            </a:r>
            <a:r>
              <a:rPr sz="1000" b="0" i="0">
                <a:solidFill>
                  <a:srgbClr val="475569"/>
                </a:solidFill>
                <a:latin typeface="Segoe UI"/>
              </a:rPr>
              <a:t>  ·  Disruption-Aware Logistics Decision Support</a:t>
            </a:r>
          </a:p>
        </p:txBody>
      </p:sp>
      <p:sp>
        <p:nvSpPr>
          <p:cNvPr id="9" name="TextBox 8"/>
          <p:cNvSpPr txBox="1"/>
          <p:nvPr/>
        </p:nvSpPr>
        <p:spPr>
          <a:xfrm>
            <a:off x="10725912" y="6464808"/>
            <a:ext cx="914400" cy="228600"/>
          </a:xfrm>
          <a:prstGeom prst="rect">
            <a:avLst/>
          </a:prstGeom>
          <a:noFill/>
        </p:spPr>
        <p:txBody>
          <a:bodyPr wrap="square" lIns="0" tIns="0" rIns="0" bIns="0" anchor="t">
            <a:spAutoFit/>
          </a:bodyPr>
          <a:lstStyle/>
          <a:p>
            <a:pPr algn="r">
              <a:lnSpc>
                <a:spcPct val="108000"/>
              </a:lnSpc>
              <a:spcAft>
                <a:spcPts val="400"/>
              </a:spcAft>
            </a:pPr>
            <a:r>
              <a:rPr sz="1000" b="0" i="0">
                <a:solidFill>
                  <a:srgbClr val="475569"/>
                </a:solidFill>
                <a:latin typeface="Segoe UI"/>
              </a:rPr>
              <a:t>8 / 17</a:t>
            </a:r>
          </a:p>
        </p:txBody>
      </p:sp>
      <p:sp>
        <p:nvSpPr>
          <p:cNvPr id="10" name="Rounded Rectangle 9"/>
          <p:cNvSpPr/>
          <p:nvPr/>
        </p:nvSpPr>
        <p:spPr>
          <a:xfrm>
            <a:off x="777240" y="1737360"/>
            <a:ext cx="4106053" cy="4572000"/>
          </a:xfrm>
          <a:prstGeom prst="roundRect">
            <a:avLst>
              <a:gd name="adj" fmla="val 3000"/>
            </a:avLst>
          </a:prstGeom>
          <a:solidFill>
            <a:srgbClr val="0F172A"/>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932688" y="1865376"/>
            <a:ext cx="91440" cy="91440"/>
          </a:xfrm>
          <a:prstGeom prst="ellipse">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1088136" y="1865376"/>
            <a:ext cx="91440" cy="91440"/>
          </a:xfrm>
          <a:prstGeom prst="ellipse">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1243584" y="1865376"/>
            <a:ext cx="91440" cy="91440"/>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alerts_steps12.png"/>
          <p:cNvPicPr>
            <a:picLocks noChangeAspect="1"/>
          </p:cNvPicPr>
          <p:nvPr/>
        </p:nvPicPr>
        <p:blipFill>
          <a:blip r:embed="rId4"/>
          <a:stretch>
            <a:fillRect/>
          </a:stretch>
        </p:blipFill>
        <p:spPr>
          <a:xfrm>
            <a:off x="822960" y="2039112"/>
            <a:ext cx="4014613" cy="4224527"/>
          </a:xfrm>
          <a:prstGeom prst="rect">
            <a:avLst/>
          </a:prstGeom>
        </p:spPr>
      </p:pic>
      <p:sp>
        <p:nvSpPr>
          <p:cNvPr id="15" name="Rounded Rectangle 14"/>
          <p:cNvSpPr/>
          <p:nvPr/>
        </p:nvSpPr>
        <p:spPr>
          <a:xfrm>
            <a:off x="5120640" y="1737360"/>
            <a:ext cx="6492240" cy="4300907"/>
          </a:xfrm>
          <a:prstGeom prst="roundRect">
            <a:avLst>
              <a:gd name="adj" fmla="val 3000"/>
            </a:avLst>
          </a:prstGeom>
          <a:solidFill>
            <a:srgbClr val="0F172A"/>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5276088" y="1865376"/>
            <a:ext cx="91440" cy="91440"/>
          </a:xfrm>
          <a:prstGeom prst="ellipse">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5431536" y="1865376"/>
            <a:ext cx="91440" cy="91440"/>
          </a:xfrm>
          <a:prstGeom prst="ellipse">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5586984" y="1865376"/>
            <a:ext cx="91440" cy="91440"/>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alerts_step3.png"/>
          <p:cNvPicPr>
            <a:picLocks noChangeAspect="1"/>
          </p:cNvPicPr>
          <p:nvPr/>
        </p:nvPicPr>
        <p:blipFill>
          <a:blip r:embed="rId5"/>
          <a:stretch>
            <a:fillRect/>
          </a:stretch>
        </p:blipFill>
        <p:spPr>
          <a:xfrm>
            <a:off x="5166360" y="2039112"/>
            <a:ext cx="6400800" cy="3953435"/>
          </a:xfrm>
          <a:prstGeom prst="rect">
            <a:avLst/>
          </a:prstGeom>
        </p:spPr>
      </p:pic>
      <p:sp>
        <p:nvSpPr>
          <p:cNvPr id="20" name="TextBox 19"/>
          <p:cNvSpPr txBox="1"/>
          <p:nvPr/>
        </p:nvSpPr>
        <p:spPr>
          <a:xfrm>
            <a:off x="5166360" y="6175427"/>
            <a:ext cx="6400800" cy="502920"/>
          </a:xfrm>
          <a:prstGeom prst="rect">
            <a:avLst/>
          </a:prstGeom>
          <a:noFill/>
        </p:spPr>
        <p:txBody>
          <a:bodyPr wrap="square" lIns="0" tIns="0" rIns="0" bIns="0" anchor="t">
            <a:spAutoFit/>
          </a:bodyPr>
          <a:lstStyle/>
          <a:p>
            <a:pPr algn="l">
              <a:lnSpc>
                <a:spcPct val="110000"/>
              </a:lnSpc>
              <a:spcAft>
                <a:spcPts val="400"/>
              </a:spcAft>
            </a:pPr>
            <a:r>
              <a:rPr sz="1250" b="0" i="0">
                <a:solidFill>
                  <a:srgbClr val="475569"/>
                </a:solidFill>
                <a:latin typeface="Segoe UI"/>
              </a:rPr>
              <a:t>Every action has a 2-line reason with numbers, e.g. “Medical parcel, late by 60 min. V6 is free, 5.3 km away.”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502920"/>
            <a:ext cx="82296" cy="896112"/>
          </a:xfrm>
          <a:prstGeom prst="roundRect">
            <a:avLst>
              <a:gd name="adj" fmla="val 50000"/>
            </a:avLst>
          </a:prstGeom>
          <a:gradFill rotWithShape="1">
            <a:gsLst>
              <a:gs pos="0">
                <a:srgbClr val="2563EB"/>
              </a:gs>
              <a:gs pos="100000">
                <a:srgbClr val="7C3AED"/>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04672" y="429768"/>
            <a:ext cx="9601200" cy="274320"/>
          </a:xfrm>
          <a:prstGeom prst="rect">
            <a:avLst/>
          </a:prstGeom>
          <a:noFill/>
        </p:spPr>
        <p:txBody>
          <a:bodyPr wrap="square" lIns="0" tIns="0" rIns="0" bIns="0" anchor="t">
            <a:spAutoFit/>
          </a:bodyPr>
          <a:lstStyle/>
          <a:p>
            <a:pPr algn="l">
              <a:lnSpc>
                <a:spcPct val="108000"/>
              </a:lnSpc>
              <a:spcAft>
                <a:spcPts val="400"/>
              </a:spcAft>
            </a:pPr>
            <a:r>
              <a:rPr sz="1100" b="0" i="0" spc="200">
                <a:solidFill>
                  <a:srgbClr val="2563EB"/>
                </a:solidFill>
                <a:latin typeface="Segoe UI Semibold"/>
              </a:rPr>
              <a:t>BRANCH ADMIN · LIVE MAP</a:t>
            </a:r>
          </a:p>
        </p:txBody>
      </p:sp>
      <p:sp>
        <p:nvSpPr>
          <p:cNvPr id="4" name="TextBox 3"/>
          <p:cNvSpPr txBox="1"/>
          <p:nvPr/>
        </p:nvSpPr>
        <p:spPr>
          <a:xfrm>
            <a:off x="804672" y="676656"/>
            <a:ext cx="9875520" cy="566928"/>
          </a:xfrm>
          <a:prstGeom prst="rect">
            <a:avLst/>
          </a:prstGeom>
          <a:noFill/>
        </p:spPr>
        <p:txBody>
          <a:bodyPr wrap="square" lIns="0" tIns="0" rIns="0" bIns="0" anchor="t">
            <a:spAutoFit/>
          </a:bodyPr>
          <a:lstStyle/>
          <a:p>
            <a:pPr algn="l">
              <a:lnSpc>
                <a:spcPct val="100000"/>
              </a:lnSpc>
              <a:spcAft>
                <a:spcPts val="400"/>
              </a:spcAft>
            </a:pPr>
            <a:r>
              <a:rPr sz="3000" b="0" i="0">
                <a:solidFill>
                  <a:srgbClr val="0B1E3F"/>
                </a:solidFill>
                <a:latin typeface="Segoe UI Semibold"/>
              </a:rPr>
              <a:t>A real map of Coimbatore – status at a glance</a:t>
            </a:r>
          </a:p>
        </p:txBody>
      </p:sp>
      <p:pic>
        <p:nvPicPr>
          <p:cNvPr id="5" name="Picture 4" descr="logo_512.png"/>
          <p:cNvPicPr>
            <a:picLocks noChangeAspect="1"/>
          </p:cNvPicPr>
          <p:nvPr/>
        </p:nvPicPr>
        <p:blipFill>
          <a:blip r:embed="rId3"/>
          <a:stretch>
            <a:fillRect/>
          </a:stretch>
        </p:blipFill>
        <p:spPr>
          <a:xfrm>
            <a:off x="11137392" y="475488"/>
            <a:ext cx="475488" cy="475488"/>
          </a:xfrm>
          <a:prstGeom prst="rect">
            <a:avLst/>
          </a:prstGeom>
        </p:spPr>
      </p:pic>
      <p:sp>
        <p:nvSpPr>
          <p:cNvPr id="6" name="Rectangle 5"/>
          <p:cNvSpPr/>
          <p:nvPr/>
        </p:nvSpPr>
        <p:spPr>
          <a:xfrm>
            <a:off x="548640" y="6400800"/>
            <a:ext cx="11091672"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6464808"/>
            <a:ext cx="7315200" cy="228600"/>
          </a:xfrm>
          <a:prstGeom prst="rect">
            <a:avLst/>
          </a:prstGeom>
          <a:noFill/>
        </p:spPr>
        <p:txBody>
          <a:bodyPr wrap="square" lIns="0" tIns="0" rIns="0" bIns="0" anchor="t">
            <a:spAutoFit/>
          </a:bodyPr>
          <a:lstStyle/>
          <a:p>
            <a:pPr algn="l">
              <a:lnSpc>
                <a:spcPct val="108000"/>
              </a:lnSpc>
              <a:spcAft>
                <a:spcPts val="400"/>
              </a:spcAft>
            </a:pPr>
            <a:r>
              <a:rPr sz="1000" b="0" i="0" spc="150">
                <a:solidFill>
                  <a:srgbClr val="0B1E3F"/>
                </a:solidFill>
                <a:latin typeface="Segoe UI Semibold"/>
              </a:rPr>
              <a:t>DEPORT</a:t>
            </a:r>
            <a:r>
              <a:rPr sz="1000" b="0" i="0">
                <a:solidFill>
                  <a:srgbClr val="475569"/>
                </a:solidFill>
                <a:latin typeface="Segoe UI"/>
              </a:rPr>
              <a:t>  ·  Disruption-Aware Logistics Decision Support</a:t>
            </a:r>
          </a:p>
        </p:txBody>
      </p:sp>
      <p:sp>
        <p:nvSpPr>
          <p:cNvPr id="8" name="TextBox 7"/>
          <p:cNvSpPr txBox="1"/>
          <p:nvPr/>
        </p:nvSpPr>
        <p:spPr>
          <a:xfrm>
            <a:off x="10725912" y="6464808"/>
            <a:ext cx="914400" cy="228600"/>
          </a:xfrm>
          <a:prstGeom prst="rect">
            <a:avLst/>
          </a:prstGeom>
          <a:noFill/>
        </p:spPr>
        <p:txBody>
          <a:bodyPr wrap="square" lIns="0" tIns="0" rIns="0" bIns="0" anchor="t">
            <a:spAutoFit/>
          </a:bodyPr>
          <a:lstStyle/>
          <a:p>
            <a:pPr algn="r">
              <a:lnSpc>
                <a:spcPct val="108000"/>
              </a:lnSpc>
              <a:spcAft>
                <a:spcPts val="400"/>
              </a:spcAft>
            </a:pPr>
            <a:r>
              <a:rPr sz="1000" b="0" i="0">
                <a:solidFill>
                  <a:srgbClr val="475569"/>
                </a:solidFill>
                <a:latin typeface="Segoe UI"/>
              </a:rPr>
              <a:t>9 / 17</a:t>
            </a:r>
          </a:p>
        </p:txBody>
      </p:sp>
      <p:sp>
        <p:nvSpPr>
          <p:cNvPr id="9" name="Rounded Rectangle 8"/>
          <p:cNvSpPr/>
          <p:nvPr/>
        </p:nvSpPr>
        <p:spPr>
          <a:xfrm>
            <a:off x="777240" y="1737360"/>
            <a:ext cx="6263640" cy="4462272"/>
          </a:xfrm>
          <a:prstGeom prst="roundRect">
            <a:avLst>
              <a:gd name="adj" fmla="val 3000"/>
            </a:avLst>
          </a:prstGeom>
          <a:solidFill>
            <a:srgbClr val="0F172A"/>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932688" y="1865376"/>
            <a:ext cx="91440" cy="91440"/>
          </a:xfrm>
          <a:prstGeom prst="ellipse">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1088136" y="1865376"/>
            <a:ext cx="91440" cy="91440"/>
          </a:xfrm>
          <a:prstGeom prst="ellipse">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1243584" y="1865376"/>
            <a:ext cx="91440" cy="91440"/>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live_map.png"/>
          <p:cNvPicPr>
            <a:picLocks noChangeAspect="1"/>
          </p:cNvPicPr>
          <p:nvPr/>
        </p:nvPicPr>
        <p:blipFill>
          <a:blip r:embed="rId4"/>
          <a:stretch>
            <a:fillRect/>
          </a:stretch>
        </p:blipFill>
        <p:spPr>
          <a:xfrm>
            <a:off x="822960" y="2039112"/>
            <a:ext cx="6172200" cy="4114800"/>
          </a:xfrm>
          <a:prstGeom prst="rect">
            <a:avLst/>
          </a:prstGeom>
        </p:spPr>
      </p:pic>
      <p:sp>
        <p:nvSpPr>
          <p:cNvPr id="14" name="Oval 13"/>
          <p:cNvSpPr/>
          <p:nvPr/>
        </p:nvSpPr>
        <p:spPr>
          <a:xfrm>
            <a:off x="7086600" y="1892807"/>
            <a:ext cx="219456" cy="219456"/>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452360" y="1828800"/>
            <a:ext cx="4206240" cy="502920"/>
          </a:xfrm>
          <a:prstGeom prst="rect">
            <a:avLst/>
          </a:prstGeom>
          <a:noFill/>
        </p:spPr>
        <p:txBody>
          <a:bodyPr wrap="square" lIns="0" tIns="0" rIns="0" bIns="0" anchor="t">
            <a:spAutoFit/>
          </a:bodyPr>
          <a:lstStyle/>
          <a:p>
            <a:pPr algn="l">
              <a:lnSpc>
                <a:spcPct val="108000"/>
              </a:lnSpc>
              <a:spcAft>
                <a:spcPts val="400"/>
              </a:spcAft>
            </a:pPr>
            <a:r>
              <a:rPr sz="1450" b="0" i="0">
                <a:solidFill>
                  <a:srgbClr val="0B1E3F"/>
                </a:solidFill>
                <a:latin typeface="Segoe UI Semibold"/>
              </a:rPr>
              <a:t>Green ring</a:t>
            </a:r>
            <a:r>
              <a:rPr sz="1300" b="0" i="0">
                <a:solidFill>
                  <a:srgbClr val="475569"/>
                </a:solidFill>
                <a:latin typeface="Segoe UI"/>
              </a:rPr>
              <a:t>  –  partner on time</a:t>
            </a:r>
          </a:p>
        </p:txBody>
      </p:sp>
      <p:sp>
        <p:nvSpPr>
          <p:cNvPr id="16" name="Oval 15"/>
          <p:cNvSpPr/>
          <p:nvPr/>
        </p:nvSpPr>
        <p:spPr>
          <a:xfrm>
            <a:off x="7086600" y="2459736"/>
            <a:ext cx="219456" cy="219456"/>
          </a:xfrm>
          <a:prstGeom prst="ellipse">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452360" y="2395728"/>
            <a:ext cx="4206240" cy="502920"/>
          </a:xfrm>
          <a:prstGeom prst="rect">
            <a:avLst/>
          </a:prstGeom>
          <a:noFill/>
        </p:spPr>
        <p:txBody>
          <a:bodyPr wrap="square" lIns="0" tIns="0" rIns="0" bIns="0" anchor="t">
            <a:spAutoFit/>
          </a:bodyPr>
          <a:lstStyle/>
          <a:p>
            <a:pPr algn="l">
              <a:lnSpc>
                <a:spcPct val="108000"/>
              </a:lnSpc>
              <a:spcAft>
                <a:spcPts val="400"/>
              </a:spcAft>
            </a:pPr>
            <a:r>
              <a:rPr sz="1450" b="0" i="0">
                <a:solidFill>
                  <a:srgbClr val="0B1E3F"/>
                </a:solidFill>
                <a:latin typeface="Segoe UI Semibold"/>
              </a:rPr>
              <a:t>Yellow ring</a:t>
            </a:r>
            <a:r>
              <a:rPr sz="1300" b="0" i="0">
                <a:solidFill>
                  <a:srgbClr val="475569"/>
                </a:solidFill>
                <a:latin typeface="Segoe UI"/>
              </a:rPr>
              <a:t>  –  delayed</a:t>
            </a:r>
          </a:p>
        </p:txBody>
      </p:sp>
      <p:sp>
        <p:nvSpPr>
          <p:cNvPr id="18" name="Oval 17"/>
          <p:cNvSpPr/>
          <p:nvPr/>
        </p:nvSpPr>
        <p:spPr>
          <a:xfrm>
            <a:off x="7086600" y="3026664"/>
            <a:ext cx="219456" cy="219456"/>
          </a:xfrm>
          <a:prstGeom prst="ellipse">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452360" y="2962656"/>
            <a:ext cx="4206240" cy="502920"/>
          </a:xfrm>
          <a:prstGeom prst="rect">
            <a:avLst/>
          </a:prstGeom>
          <a:noFill/>
        </p:spPr>
        <p:txBody>
          <a:bodyPr wrap="square" lIns="0" tIns="0" rIns="0" bIns="0" anchor="t">
            <a:spAutoFit/>
          </a:bodyPr>
          <a:lstStyle/>
          <a:p>
            <a:pPr algn="l">
              <a:lnSpc>
                <a:spcPct val="108000"/>
              </a:lnSpc>
              <a:spcAft>
                <a:spcPts val="400"/>
              </a:spcAft>
            </a:pPr>
            <a:r>
              <a:rPr sz="1450" b="0" i="0">
                <a:solidFill>
                  <a:srgbClr val="0B1E3F"/>
                </a:solidFill>
                <a:latin typeface="Segoe UI Semibold"/>
              </a:rPr>
              <a:t>Red ring (pulsing)</a:t>
            </a:r>
            <a:r>
              <a:rPr sz="1300" b="0" i="0">
                <a:solidFill>
                  <a:srgbClr val="475569"/>
                </a:solidFill>
                <a:latin typeface="Segoe UI"/>
              </a:rPr>
              <a:t>  –  critical – needs action</a:t>
            </a:r>
          </a:p>
        </p:txBody>
      </p:sp>
      <p:sp>
        <p:nvSpPr>
          <p:cNvPr id="20" name="Oval 19"/>
          <p:cNvSpPr/>
          <p:nvPr/>
        </p:nvSpPr>
        <p:spPr>
          <a:xfrm>
            <a:off x="7086600" y="3593591"/>
            <a:ext cx="219456" cy="219456"/>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452360" y="3529584"/>
            <a:ext cx="4206240" cy="502920"/>
          </a:xfrm>
          <a:prstGeom prst="rect">
            <a:avLst/>
          </a:prstGeom>
          <a:noFill/>
        </p:spPr>
        <p:txBody>
          <a:bodyPr wrap="square" lIns="0" tIns="0" rIns="0" bIns="0" anchor="t">
            <a:spAutoFit/>
          </a:bodyPr>
          <a:lstStyle/>
          <a:p>
            <a:pPr algn="l">
              <a:lnSpc>
                <a:spcPct val="108000"/>
              </a:lnSpc>
              <a:spcAft>
                <a:spcPts val="400"/>
              </a:spcAft>
            </a:pPr>
            <a:r>
              <a:rPr sz="1450" b="0" i="0">
                <a:solidFill>
                  <a:srgbClr val="0B1E3F"/>
                </a:solidFill>
                <a:latin typeface="Segoe UI Semibold"/>
              </a:rPr>
              <a:t>Blue ring</a:t>
            </a:r>
            <a:r>
              <a:rPr sz="1300" b="0" i="0">
                <a:solidFill>
                  <a:srgbClr val="475569"/>
                </a:solidFill>
                <a:latin typeface="Segoe UI"/>
              </a:rPr>
              <a:t>  –  free / backup vehicle</a:t>
            </a:r>
          </a:p>
        </p:txBody>
      </p:sp>
      <p:sp>
        <p:nvSpPr>
          <p:cNvPr id="22" name="Oval 21"/>
          <p:cNvSpPr/>
          <p:nvPr/>
        </p:nvSpPr>
        <p:spPr>
          <a:xfrm>
            <a:off x="7086600" y="4160520"/>
            <a:ext cx="219456" cy="219456"/>
          </a:xfrm>
          <a:prstGeom prst="ellipse">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452360" y="4096512"/>
            <a:ext cx="4206240" cy="502920"/>
          </a:xfrm>
          <a:prstGeom prst="rect">
            <a:avLst/>
          </a:prstGeom>
          <a:noFill/>
        </p:spPr>
        <p:txBody>
          <a:bodyPr wrap="square" lIns="0" tIns="0" rIns="0" bIns="0" anchor="t">
            <a:spAutoFit/>
          </a:bodyPr>
          <a:lstStyle/>
          <a:p>
            <a:pPr algn="l">
              <a:lnSpc>
                <a:spcPct val="108000"/>
              </a:lnSpc>
              <a:spcAft>
                <a:spcPts val="400"/>
              </a:spcAft>
            </a:pPr>
            <a:r>
              <a:rPr sz="1450" b="0" i="0">
                <a:solidFill>
                  <a:srgbClr val="0B1E3F"/>
                </a:solidFill>
                <a:latin typeface="Segoe UI Semibold"/>
              </a:rPr>
              <a:t>Red dashed road + circle</a:t>
            </a:r>
            <a:r>
              <a:rPr sz="1300" b="0" i="0">
                <a:solidFill>
                  <a:srgbClr val="475569"/>
                </a:solidFill>
                <a:latin typeface="Segoe UI"/>
              </a:rPr>
              <a:t>  –  blocked road and affected area</a:t>
            </a:r>
          </a:p>
        </p:txBody>
      </p:sp>
      <p:sp>
        <p:nvSpPr>
          <p:cNvPr id="24" name="Oval 23"/>
          <p:cNvSpPr/>
          <p:nvPr/>
        </p:nvSpPr>
        <p:spPr>
          <a:xfrm>
            <a:off x="7086600" y="4727448"/>
            <a:ext cx="219456" cy="219456"/>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7452360" y="4663440"/>
            <a:ext cx="4206240" cy="502920"/>
          </a:xfrm>
          <a:prstGeom prst="rect">
            <a:avLst/>
          </a:prstGeom>
          <a:noFill/>
        </p:spPr>
        <p:txBody>
          <a:bodyPr wrap="square" lIns="0" tIns="0" rIns="0" bIns="0" anchor="t">
            <a:spAutoFit/>
          </a:bodyPr>
          <a:lstStyle/>
          <a:p>
            <a:pPr algn="l">
              <a:lnSpc>
                <a:spcPct val="108000"/>
              </a:lnSpc>
              <a:spcAft>
                <a:spcPts val="400"/>
              </a:spcAft>
            </a:pPr>
            <a:r>
              <a:rPr sz="1450" b="0" i="0">
                <a:solidFill>
                  <a:srgbClr val="0B1E3F"/>
                </a:solidFill>
                <a:latin typeface="Segoe UI Semibold"/>
              </a:rPr>
              <a:t>Green line</a:t>
            </a:r>
            <a:r>
              <a:rPr sz="1300" b="0" i="0">
                <a:solidFill>
                  <a:srgbClr val="475569"/>
                </a:solidFill>
                <a:latin typeface="Segoe UI"/>
              </a:rPr>
              <a:t>  –  suggested alternate route</a:t>
            </a:r>
          </a:p>
        </p:txBody>
      </p:sp>
      <p:sp>
        <p:nvSpPr>
          <p:cNvPr id="26" name="Oval 25"/>
          <p:cNvSpPr/>
          <p:nvPr/>
        </p:nvSpPr>
        <p:spPr>
          <a:xfrm>
            <a:off x="7086600" y="5294376"/>
            <a:ext cx="219456" cy="219456"/>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452360" y="5230368"/>
            <a:ext cx="4206240" cy="502920"/>
          </a:xfrm>
          <a:prstGeom prst="rect">
            <a:avLst/>
          </a:prstGeom>
          <a:noFill/>
        </p:spPr>
        <p:txBody>
          <a:bodyPr wrap="square" lIns="0" tIns="0" rIns="0" bIns="0" anchor="t">
            <a:spAutoFit/>
          </a:bodyPr>
          <a:lstStyle/>
          <a:p>
            <a:pPr algn="l">
              <a:lnSpc>
                <a:spcPct val="108000"/>
              </a:lnSpc>
              <a:spcAft>
                <a:spcPts val="400"/>
              </a:spcAft>
            </a:pPr>
            <a:r>
              <a:rPr sz="1450" b="0" i="0">
                <a:solidFill>
                  <a:srgbClr val="0B1E3F"/>
                </a:solidFill>
                <a:latin typeface="Segoe UI Semibold"/>
              </a:rPr>
              <a:t>Numbered pins</a:t>
            </a:r>
            <a:r>
              <a:rPr sz="1300" b="0" i="0">
                <a:solidFill>
                  <a:srgbClr val="475569"/>
                </a:solidFill>
                <a:latin typeface="Segoe UI"/>
              </a:rPr>
              <a:t>  –  stop order, coloured by risk</a:t>
            </a:r>
          </a:p>
        </p:txBody>
      </p:sp>
      <p:sp>
        <p:nvSpPr>
          <p:cNvPr id="28" name="TextBox 27"/>
          <p:cNvSpPr txBox="1"/>
          <p:nvPr/>
        </p:nvSpPr>
        <p:spPr>
          <a:xfrm>
            <a:off x="7086600" y="5870448"/>
            <a:ext cx="4526280" cy="457200"/>
          </a:xfrm>
          <a:prstGeom prst="rect">
            <a:avLst/>
          </a:prstGeom>
          <a:noFill/>
        </p:spPr>
        <p:txBody>
          <a:bodyPr wrap="square" lIns="0" tIns="0" rIns="0" bIns="0" anchor="t">
            <a:spAutoFit/>
          </a:bodyPr>
          <a:lstStyle/>
          <a:p>
            <a:pPr algn="l">
              <a:lnSpc>
                <a:spcPct val="110000"/>
              </a:lnSpc>
              <a:spcAft>
                <a:spcPts val="400"/>
              </a:spcAft>
            </a:pPr>
            <a:r>
              <a:rPr sz="1200" b="0" i="0">
                <a:solidFill>
                  <a:srgbClr val="475569"/>
                </a:solidFill>
                <a:latin typeface="Segoe UI"/>
              </a:rPr>
              <a:t>Tap a vehicle for its route, stops, ETA and Call. Real road shapes, cached – works offline.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502920"/>
            <a:ext cx="82296" cy="896112"/>
          </a:xfrm>
          <a:prstGeom prst="roundRect">
            <a:avLst>
              <a:gd name="adj" fmla="val 50000"/>
            </a:avLst>
          </a:prstGeom>
          <a:gradFill rotWithShape="1">
            <a:gsLst>
              <a:gs pos="0">
                <a:srgbClr val="2563EB"/>
              </a:gs>
              <a:gs pos="100000">
                <a:srgbClr val="7C3AED"/>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04672" y="429768"/>
            <a:ext cx="9601200" cy="274320"/>
          </a:xfrm>
          <a:prstGeom prst="rect">
            <a:avLst/>
          </a:prstGeom>
          <a:noFill/>
        </p:spPr>
        <p:txBody>
          <a:bodyPr wrap="square" lIns="0" tIns="0" rIns="0" bIns="0" anchor="t">
            <a:spAutoFit/>
          </a:bodyPr>
          <a:lstStyle/>
          <a:p>
            <a:pPr algn="l">
              <a:lnSpc>
                <a:spcPct val="108000"/>
              </a:lnSpc>
              <a:spcAft>
                <a:spcPts val="400"/>
              </a:spcAft>
            </a:pPr>
            <a:r>
              <a:rPr sz="1100" b="0" i="0" spc="200">
                <a:solidFill>
                  <a:srgbClr val="2563EB"/>
                </a:solidFill>
                <a:latin typeface="Segoe UI Semibold"/>
              </a:rPr>
              <a:t>DELIVERY PARTNER · PHONE</a:t>
            </a:r>
          </a:p>
        </p:txBody>
      </p:sp>
      <p:sp>
        <p:nvSpPr>
          <p:cNvPr id="4" name="TextBox 3"/>
          <p:cNvSpPr txBox="1"/>
          <p:nvPr/>
        </p:nvSpPr>
        <p:spPr>
          <a:xfrm>
            <a:off x="804672" y="676656"/>
            <a:ext cx="9875520" cy="566928"/>
          </a:xfrm>
          <a:prstGeom prst="rect">
            <a:avLst/>
          </a:prstGeom>
          <a:noFill/>
        </p:spPr>
        <p:txBody>
          <a:bodyPr wrap="square" lIns="0" tIns="0" rIns="0" bIns="0" anchor="t">
            <a:spAutoFit/>
          </a:bodyPr>
          <a:lstStyle/>
          <a:p>
            <a:pPr algn="l">
              <a:lnSpc>
                <a:spcPct val="100000"/>
              </a:lnSpc>
              <a:spcAft>
                <a:spcPts val="400"/>
              </a:spcAft>
            </a:pPr>
            <a:r>
              <a:rPr sz="3000" b="0" i="0">
                <a:solidFill>
                  <a:srgbClr val="0B1E3F"/>
                </a:solidFill>
                <a:latin typeface="Segoe UI Semibold"/>
              </a:rPr>
              <a:t>A phone app built for one thumb</a:t>
            </a:r>
          </a:p>
        </p:txBody>
      </p:sp>
      <p:pic>
        <p:nvPicPr>
          <p:cNvPr id="5" name="Picture 4" descr="logo_512.png"/>
          <p:cNvPicPr>
            <a:picLocks noChangeAspect="1"/>
          </p:cNvPicPr>
          <p:nvPr/>
        </p:nvPicPr>
        <p:blipFill>
          <a:blip r:embed="rId3"/>
          <a:stretch>
            <a:fillRect/>
          </a:stretch>
        </p:blipFill>
        <p:spPr>
          <a:xfrm>
            <a:off x="11137392" y="475488"/>
            <a:ext cx="475488" cy="475488"/>
          </a:xfrm>
          <a:prstGeom prst="rect">
            <a:avLst/>
          </a:prstGeom>
        </p:spPr>
      </p:pic>
      <p:sp>
        <p:nvSpPr>
          <p:cNvPr id="6" name="Rectangle 5"/>
          <p:cNvSpPr/>
          <p:nvPr/>
        </p:nvSpPr>
        <p:spPr>
          <a:xfrm>
            <a:off x="548640" y="6400800"/>
            <a:ext cx="11091672"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6464808"/>
            <a:ext cx="7315200" cy="228600"/>
          </a:xfrm>
          <a:prstGeom prst="rect">
            <a:avLst/>
          </a:prstGeom>
          <a:noFill/>
        </p:spPr>
        <p:txBody>
          <a:bodyPr wrap="square" lIns="0" tIns="0" rIns="0" bIns="0" anchor="t">
            <a:spAutoFit/>
          </a:bodyPr>
          <a:lstStyle/>
          <a:p>
            <a:pPr algn="l">
              <a:lnSpc>
                <a:spcPct val="108000"/>
              </a:lnSpc>
              <a:spcAft>
                <a:spcPts val="400"/>
              </a:spcAft>
            </a:pPr>
            <a:r>
              <a:rPr sz="1000" b="0" i="0" spc="150">
                <a:solidFill>
                  <a:srgbClr val="0B1E3F"/>
                </a:solidFill>
                <a:latin typeface="Segoe UI Semibold"/>
              </a:rPr>
              <a:t>DEPORT</a:t>
            </a:r>
            <a:r>
              <a:rPr sz="1000" b="0" i="0">
                <a:solidFill>
                  <a:srgbClr val="475569"/>
                </a:solidFill>
                <a:latin typeface="Segoe UI"/>
              </a:rPr>
              <a:t>  ·  Disruption-Aware Logistics Decision Support</a:t>
            </a:r>
          </a:p>
        </p:txBody>
      </p:sp>
      <p:sp>
        <p:nvSpPr>
          <p:cNvPr id="8" name="TextBox 7"/>
          <p:cNvSpPr txBox="1"/>
          <p:nvPr/>
        </p:nvSpPr>
        <p:spPr>
          <a:xfrm>
            <a:off x="10725912" y="6464808"/>
            <a:ext cx="914400" cy="228600"/>
          </a:xfrm>
          <a:prstGeom prst="rect">
            <a:avLst/>
          </a:prstGeom>
          <a:noFill/>
        </p:spPr>
        <p:txBody>
          <a:bodyPr wrap="square" lIns="0" tIns="0" rIns="0" bIns="0" anchor="t">
            <a:spAutoFit/>
          </a:bodyPr>
          <a:lstStyle/>
          <a:p>
            <a:pPr algn="r">
              <a:lnSpc>
                <a:spcPct val="108000"/>
              </a:lnSpc>
              <a:spcAft>
                <a:spcPts val="400"/>
              </a:spcAft>
            </a:pPr>
            <a:r>
              <a:rPr sz="1000" b="0" i="0">
                <a:solidFill>
                  <a:srgbClr val="475569"/>
                </a:solidFill>
                <a:latin typeface="Segoe UI"/>
              </a:rPr>
              <a:t>10 / 17</a:t>
            </a:r>
          </a:p>
        </p:txBody>
      </p:sp>
      <p:sp>
        <p:nvSpPr>
          <p:cNvPr id="9" name="Rounded Rectangle 8"/>
          <p:cNvSpPr/>
          <p:nvPr/>
        </p:nvSpPr>
        <p:spPr>
          <a:xfrm>
            <a:off x="777240" y="1737360"/>
            <a:ext cx="1989770" cy="4114800"/>
          </a:xfrm>
          <a:prstGeom prst="roundRect">
            <a:avLst>
              <a:gd name="adj" fmla="val 10000"/>
            </a:avLst>
          </a:prstGeom>
          <a:solidFill>
            <a:srgbClr val="0B1220"/>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Picture 9" descr="phone_today.png"/>
          <p:cNvPicPr>
            <a:picLocks noChangeAspect="1"/>
          </p:cNvPicPr>
          <p:nvPr/>
        </p:nvPicPr>
        <p:blipFill>
          <a:blip r:embed="rId4"/>
          <a:stretch>
            <a:fillRect/>
          </a:stretch>
        </p:blipFill>
        <p:spPr>
          <a:xfrm>
            <a:off x="859536" y="1819656"/>
            <a:ext cx="1825179" cy="3950208"/>
          </a:xfrm>
          <a:prstGeom prst="rect">
            <a:avLst/>
          </a:prstGeom>
        </p:spPr>
      </p:pic>
      <p:sp>
        <p:nvSpPr>
          <p:cNvPr id="11" name="TextBox 10"/>
          <p:cNvSpPr txBox="1"/>
          <p:nvPr/>
        </p:nvSpPr>
        <p:spPr>
          <a:xfrm>
            <a:off x="640080" y="5943600"/>
            <a:ext cx="2264090" cy="320040"/>
          </a:xfrm>
          <a:prstGeom prst="rect">
            <a:avLst/>
          </a:prstGeom>
          <a:noFill/>
        </p:spPr>
        <p:txBody>
          <a:bodyPr wrap="square" lIns="0" tIns="0" rIns="0" bIns="0" anchor="t">
            <a:spAutoFit/>
          </a:bodyPr>
          <a:lstStyle/>
          <a:p>
            <a:pPr algn="ctr">
              <a:lnSpc>
                <a:spcPct val="108000"/>
              </a:lnSpc>
              <a:spcAft>
                <a:spcPts val="400"/>
              </a:spcAft>
            </a:pPr>
            <a:r>
              <a:rPr sz="1100" b="0" i="0">
                <a:solidFill>
                  <a:srgbClr val="475569"/>
                </a:solidFill>
                <a:latin typeface="Segoe UI"/>
              </a:rPr>
              <a:t>Today: route changed + new work</a:t>
            </a:r>
          </a:p>
        </p:txBody>
      </p:sp>
      <p:sp>
        <p:nvSpPr>
          <p:cNvPr id="12" name="Rounded Rectangle 11"/>
          <p:cNvSpPr/>
          <p:nvPr/>
        </p:nvSpPr>
        <p:spPr>
          <a:xfrm>
            <a:off x="2986466" y="1737360"/>
            <a:ext cx="1989770" cy="4114800"/>
          </a:xfrm>
          <a:prstGeom prst="roundRect">
            <a:avLst>
              <a:gd name="adj" fmla="val 10000"/>
            </a:avLst>
          </a:prstGeom>
          <a:solidFill>
            <a:srgbClr val="0B1220"/>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phone_report.png"/>
          <p:cNvPicPr>
            <a:picLocks noChangeAspect="1"/>
          </p:cNvPicPr>
          <p:nvPr/>
        </p:nvPicPr>
        <p:blipFill>
          <a:blip r:embed="rId5"/>
          <a:stretch>
            <a:fillRect/>
          </a:stretch>
        </p:blipFill>
        <p:spPr>
          <a:xfrm>
            <a:off x="3068762" y="1819656"/>
            <a:ext cx="1825179" cy="3950208"/>
          </a:xfrm>
          <a:prstGeom prst="rect">
            <a:avLst/>
          </a:prstGeom>
        </p:spPr>
      </p:pic>
      <p:sp>
        <p:nvSpPr>
          <p:cNvPr id="14" name="TextBox 13"/>
          <p:cNvSpPr txBox="1"/>
          <p:nvPr/>
        </p:nvSpPr>
        <p:spPr>
          <a:xfrm>
            <a:off x="2849306" y="5943600"/>
            <a:ext cx="2264090" cy="320040"/>
          </a:xfrm>
          <a:prstGeom prst="rect">
            <a:avLst/>
          </a:prstGeom>
          <a:noFill/>
        </p:spPr>
        <p:txBody>
          <a:bodyPr wrap="square" lIns="0" tIns="0" rIns="0" bIns="0" anchor="t">
            <a:spAutoFit/>
          </a:bodyPr>
          <a:lstStyle/>
          <a:p>
            <a:pPr algn="ctr">
              <a:lnSpc>
                <a:spcPct val="108000"/>
              </a:lnSpc>
              <a:spcAft>
                <a:spcPts val="400"/>
              </a:spcAft>
            </a:pPr>
            <a:r>
              <a:rPr sz="1100" b="0" i="0">
                <a:solidFill>
                  <a:srgbClr val="475569"/>
                </a:solidFill>
                <a:latin typeface="Segoe UI"/>
              </a:rPr>
              <a:t>Report: 9 tiles, voice or text</a:t>
            </a:r>
          </a:p>
        </p:txBody>
      </p:sp>
      <p:sp>
        <p:nvSpPr>
          <p:cNvPr id="15" name="Rounded Rectangle 14"/>
          <p:cNvSpPr/>
          <p:nvPr/>
        </p:nvSpPr>
        <p:spPr>
          <a:xfrm>
            <a:off x="5195693" y="1737360"/>
            <a:ext cx="1989770" cy="4114800"/>
          </a:xfrm>
          <a:prstGeom prst="roundRect">
            <a:avLst>
              <a:gd name="adj" fmla="val 10000"/>
            </a:avLst>
          </a:prstGeom>
          <a:solidFill>
            <a:srgbClr val="0B1220"/>
          </a:solidFill>
          <a:ln w="1587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phone_route.png"/>
          <p:cNvPicPr>
            <a:picLocks noChangeAspect="1"/>
          </p:cNvPicPr>
          <p:nvPr/>
        </p:nvPicPr>
        <p:blipFill>
          <a:blip r:embed="rId6"/>
          <a:stretch>
            <a:fillRect/>
          </a:stretch>
        </p:blipFill>
        <p:spPr>
          <a:xfrm>
            <a:off x="5277989" y="1819656"/>
            <a:ext cx="1825179" cy="3950208"/>
          </a:xfrm>
          <a:prstGeom prst="rect">
            <a:avLst/>
          </a:prstGeom>
        </p:spPr>
      </p:pic>
      <p:sp>
        <p:nvSpPr>
          <p:cNvPr id="17" name="TextBox 16"/>
          <p:cNvSpPr txBox="1"/>
          <p:nvPr/>
        </p:nvSpPr>
        <p:spPr>
          <a:xfrm>
            <a:off x="5058533" y="5943600"/>
            <a:ext cx="2264090" cy="320040"/>
          </a:xfrm>
          <a:prstGeom prst="rect">
            <a:avLst/>
          </a:prstGeom>
          <a:noFill/>
        </p:spPr>
        <p:txBody>
          <a:bodyPr wrap="square" lIns="0" tIns="0" rIns="0" bIns="0" anchor="t">
            <a:spAutoFit/>
          </a:bodyPr>
          <a:lstStyle/>
          <a:p>
            <a:pPr algn="ctr">
              <a:lnSpc>
                <a:spcPct val="108000"/>
              </a:lnSpc>
              <a:spcAft>
                <a:spcPts val="400"/>
              </a:spcAft>
            </a:pPr>
            <a:r>
              <a:rPr sz="1100" b="0" i="0">
                <a:solidFill>
                  <a:srgbClr val="475569"/>
                </a:solidFill>
                <a:latin typeface="Segoe UI"/>
              </a:rPr>
              <a:t>Route: own map and stops</a:t>
            </a:r>
          </a:p>
        </p:txBody>
      </p:sp>
      <p:sp>
        <p:nvSpPr>
          <p:cNvPr id="18" name="TextBox 17"/>
          <p:cNvSpPr txBox="1"/>
          <p:nvPr/>
        </p:nvSpPr>
        <p:spPr>
          <a:xfrm>
            <a:off x="7543800" y="1783080"/>
            <a:ext cx="411480" cy="411480"/>
          </a:xfrm>
          <a:prstGeom prst="rect">
            <a:avLst/>
          </a:prstGeom>
          <a:noFill/>
        </p:spPr>
        <p:txBody>
          <a:bodyPr wrap="square" lIns="0" tIns="0" rIns="0" bIns="0" anchor="t">
            <a:spAutoFit/>
          </a:bodyPr>
          <a:lstStyle/>
          <a:p>
            <a:pPr algn="l">
              <a:lnSpc>
                <a:spcPct val="108000"/>
              </a:lnSpc>
              <a:spcAft>
                <a:spcPts val="400"/>
              </a:spcAft>
            </a:pPr>
            <a:r>
              <a:rPr sz="1700" b="0" i="0">
                <a:solidFill>
                  <a:srgbClr val="0F172A"/>
                </a:solidFill>
                <a:latin typeface="Segoe UI Emoji"/>
              </a:rPr>
              <a:t>🟢</a:t>
            </a:r>
          </a:p>
        </p:txBody>
      </p:sp>
      <p:sp>
        <p:nvSpPr>
          <p:cNvPr id="19" name="TextBox 18"/>
          <p:cNvSpPr txBox="1"/>
          <p:nvPr/>
        </p:nvSpPr>
        <p:spPr>
          <a:xfrm>
            <a:off x="8001000" y="1783080"/>
            <a:ext cx="3611880" cy="685800"/>
          </a:xfrm>
          <a:prstGeom prst="rect">
            <a:avLst/>
          </a:prstGeom>
          <a:noFill/>
        </p:spPr>
        <p:txBody>
          <a:bodyPr wrap="square" lIns="0" tIns="0" rIns="0" bIns="0" anchor="t">
            <a:spAutoFit/>
          </a:bodyPr>
          <a:lstStyle/>
          <a:p>
            <a:pPr algn="l">
              <a:lnSpc>
                <a:spcPct val="108000"/>
              </a:lnSpc>
              <a:spcAft>
                <a:spcPts val="100"/>
              </a:spcAft>
            </a:pPr>
            <a:r>
              <a:rPr sz="1500" b="0" i="0">
                <a:solidFill>
                  <a:srgbClr val="0B1E3F"/>
                </a:solidFill>
                <a:latin typeface="Segoe UI Semibold"/>
              </a:rPr>
              <a:t>Big buttons</a:t>
            </a:r>
          </a:p>
          <a:p>
            <a:pPr algn="l">
              <a:lnSpc>
                <a:spcPct val="108000"/>
              </a:lnSpc>
              <a:spcAft>
                <a:spcPts val="400"/>
              </a:spcAft>
            </a:pPr>
            <a:r>
              <a:rPr sz="1200" b="0" i="0">
                <a:solidFill>
                  <a:srgbClr val="475569"/>
                </a:solidFill>
                <a:latin typeface="Segoe UI"/>
              </a:rPr>
              <a:t>52 px tall, one hand, bright on a dark screen</a:t>
            </a:r>
          </a:p>
        </p:txBody>
      </p:sp>
      <p:sp>
        <p:nvSpPr>
          <p:cNvPr id="20" name="TextBox 19"/>
          <p:cNvSpPr txBox="1"/>
          <p:nvPr/>
        </p:nvSpPr>
        <p:spPr>
          <a:xfrm>
            <a:off x="7543800" y="2496312"/>
            <a:ext cx="411480" cy="411480"/>
          </a:xfrm>
          <a:prstGeom prst="rect">
            <a:avLst/>
          </a:prstGeom>
          <a:noFill/>
        </p:spPr>
        <p:txBody>
          <a:bodyPr wrap="square" lIns="0" tIns="0" rIns="0" bIns="0" anchor="t">
            <a:spAutoFit/>
          </a:bodyPr>
          <a:lstStyle/>
          <a:p>
            <a:pPr algn="l">
              <a:lnSpc>
                <a:spcPct val="108000"/>
              </a:lnSpc>
              <a:spcAft>
                <a:spcPts val="400"/>
              </a:spcAft>
            </a:pPr>
            <a:r>
              <a:rPr sz="1700" b="0" i="0">
                <a:solidFill>
                  <a:srgbClr val="0F172A"/>
                </a:solidFill>
                <a:latin typeface="Segoe UI Emoji"/>
              </a:rPr>
              <a:t>🎙️</a:t>
            </a:r>
          </a:p>
        </p:txBody>
      </p:sp>
      <p:sp>
        <p:nvSpPr>
          <p:cNvPr id="21" name="TextBox 20"/>
          <p:cNvSpPr txBox="1"/>
          <p:nvPr/>
        </p:nvSpPr>
        <p:spPr>
          <a:xfrm>
            <a:off x="8001000" y="2496312"/>
            <a:ext cx="3611880" cy="685800"/>
          </a:xfrm>
          <a:prstGeom prst="rect">
            <a:avLst/>
          </a:prstGeom>
          <a:noFill/>
        </p:spPr>
        <p:txBody>
          <a:bodyPr wrap="square" lIns="0" tIns="0" rIns="0" bIns="0" anchor="t">
            <a:spAutoFit/>
          </a:bodyPr>
          <a:lstStyle/>
          <a:p>
            <a:pPr algn="l">
              <a:lnSpc>
                <a:spcPct val="108000"/>
              </a:lnSpc>
              <a:spcAft>
                <a:spcPts val="100"/>
              </a:spcAft>
            </a:pPr>
            <a:r>
              <a:rPr sz="1500" b="0" i="0">
                <a:solidFill>
                  <a:srgbClr val="0B1E3F"/>
                </a:solidFill>
                <a:latin typeface="Segoe UI Semibold"/>
              </a:rPr>
              <a:t>Speak naturally</a:t>
            </a:r>
          </a:p>
          <a:p>
            <a:pPr algn="l">
              <a:lnSpc>
                <a:spcPct val="108000"/>
              </a:lnSpc>
              <a:spcAft>
                <a:spcPts val="400"/>
              </a:spcAft>
            </a:pPr>
            <a:r>
              <a:rPr sz="1200" b="0" i="0">
                <a:solidFill>
                  <a:srgbClr val="475569"/>
                </a:solidFill>
                <a:latin typeface="Segoe UI"/>
              </a:rPr>
              <a:t>Tamil, English or both; typos understood</a:t>
            </a:r>
          </a:p>
        </p:txBody>
      </p:sp>
      <p:sp>
        <p:nvSpPr>
          <p:cNvPr id="22" name="TextBox 21"/>
          <p:cNvSpPr txBox="1"/>
          <p:nvPr/>
        </p:nvSpPr>
        <p:spPr>
          <a:xfrm>
            <a:off x="7543800" y="3209544"/>
            <a:ext cx="411480" cy="411480"/>
          </a:xfrm>
          <a:prstGeom prst="rect">
            <a:avLst/>
          </a:prstGeom>
          <a:noFill/>
        </p:spPr>
        <p:txBody>
          <a:bodyPr wrap="square" lIns="0" tIns="0" rIns="0" bIns="0" anchor="t">
            <a:spAutoFit/>
          </a:bodyPr>
          <a:lstStyle/>
          <a:p>
            <a:pPr algn="l">
              <a:lnSpc>
                <a:spcPct val="108000"/>
              </a:lnSpc>
              <a:spcAft>
                <a:spcPts val="400"/>
              </a:spcAft>
            </a:pPr>
            <a:r>
              <a:rPr sz="1700" b="0" i="0">
                <a:solidFill>
                  <a:srgbClr val="0F172A"/>
                </a:solidFill>
                <a:latin typeface="Segoe UI Emoji"/>
              </a:rPr>
              <a:t>✅</a:t>
            </a:r>
          </a:p>
        </p:txBody>
      </p:sp>
      <p:sp>
        <p:nvSpPr>
          <p:cNvPr id="23" name="TextBox 22"/>
          <p:cNvSpPr txBox="1"/>
          <p:nvPr/>
        </p:nvSpPr>
        <p:spPr>
          <a:xfrm>
            <a:off x="8001000" y="3209544"/>
            <a:ext cx="3611880" cy="685800"/>
          </a:xfrm>
          <a:prstGeom prst="rect">
            <a:avLst/>
          </a:prstGeom>
          <a:noFill/>
        </p:spPr>
        <p:txBody>
          <a:bodyPr wrap="square" lIns="0" tIns="0" rIns="0" bIns="0" anchor="t">
            <a:spAutoFit/>
          </a:bodyPr>
          <a:lstStyle/>
          <a:p>
            <a:pPr algn="l">
              <a:lnSpc>
                <a:spcPct val="108000"/>
              </a:lnSpc>
              <a:spcAft>
                <a:spcPts val="100"/>
              </a:spcAft>
            </a:pPr>
            <a:r>
              <a:rPr sz="1500" b="0" i="0">
                <a:solidFill>
                  <a:srgbClr val="0B1E3F"/>
                </a:solidFill>
                <a:latin typeface="Segoe UI Semibold"/>
              </a:rPr>
              <a:t>Step by step</a:t>
            </a:r>
          </a:p>
          <a:p>
            <a:pPr algn="l">
              <a:lnSpc>
                <a:spcPct val="108000"/>
              </a:lnSpc>
              <a:spcAft>
                <a:spcPts val="400"/>
              </a:spcAft>
            </a:pPr>
            <a:r>
              <a:rPr sz="1200" b="0" i="0">
                <a:solidFill>
                  <a:srgbClr val="475569"/>
                </a:solidFill>
                <a:latin typeface="Segoe UI"/>
              </a:rPr>
              <a:t>Accept → Picked up → Start → Delivered (no skipping)</a:t>
            </a:r>
          </a:p>
        </p:txBody>
      </p:sp>
      <p:sp>
        <p:nvSpPr>
          <p:cNvPr id="24" name="TextBox 23"/>
          <p:cNvSpPr txBox="1"/>
          <p:nvPr/>
        </p:nvSpPr>
        <p:spPr>
          <a:xfrm>
            <a:off x="7543800" y="3922776"/>
            <a:ext cx="411480" cy="411480"/>
          </a:xfrm>
          <a:prstGeom prst="rect">
            <a:avLst/>
          </a:prstGeom>
          <a:noFill/>
        </p:spPr>
        <p:txBody>
          <a:bodyPr wrap="square" lIns="0" tIns="0" rIns="0" bIns="0" anchor="t">
            <a:spAutoFit/>
          </a:bodyPr>
          <a:lstStyle/>
          <a:p>
            <a:pPr algn="l">
              <a:lnSpc>
                <a:spcPct val="108000"/>
              </a:lnSpc>
              <a:spcAft>
                <a:spcPts val="400"/>
              </a:spcAft>
            </a:pPr>
            <a:r>
              <a:rPr sz="1700" b="0" i="0">
                <a:solidFill>
                  <a:srgbClr val="0F172A"/>
                </a:solidFill>
                <a:latin typeface="Segoe UI Emoji"/>
              </a:rPr>
              <a:t>🔔</a:t>
            </a:r>
          </a:p>
        </p:txBody>
      </p:sp>
      <p:sp>
        <p:nvSpPr>
          <p:cNvPr id="25" name="TextBox 24"/>
          <p:cNvSpPr txBox="1"/>
          <p:nvPr/>
        </p:nvSpPr>
        <p:spPr>
          <a:xfrm>
            <a:off x="8001000" y="3922776"/>
            <a:ext cx="3611880" cy="685800"/>
          </a:xfrm>
          <a:prstGeom prst="rect">
            <a:avLst/>
          </a:prstGeom>
          <a:noFill/>
        </p:spPr>
        <p:txBody>
          <a:bodyPr wrap="square" lIns="0" tIns="0" rIns="0" bIns="0" anchor="t">
            <a:spAutoFit/>
          </a:bodyPr>
          <a:lstStyle/>
          <a:p>
            <a:pPr algn="l">
              <a:lnSpc>
                <a:spcPct val="108000"/>
              </a:lnSpc>
              <a:spcAft>
                <a:spcPts val="100"/>
              </a:spcAft>
            </a:pPr>
            <a:r>
              <a:rPr sz="1500" b="0" i="0">
                <a:solidFill>
                  <a:srgbClr val="0B1E3F"/>
                </a:solidFill>
                <a:latin typeface="Segoe UI Semibold"/>
              </a:rPr>
              <a:t>Route changed</a:t>
            </a:r>
          </a:p>
          <a:p>
            <a:pPr algn="l">
              <a:lnSpc>
                <a:spcPct val="108000"/>
              </a:lnSpc>
              <a:spcAft>
                <a:spcPts val="400"/>
              </a:spcAft>
            </a:pPr>
            <a:r>
              <a:rPr sz="1200" b="0" i="0">
                <a:solidFill>
                  <a:srgbClr val="475569"/>
                </a:solidFill>
                <a:latin typeface="Segoe UI"/>
              </a:rPr>
              <a:t>Instructions arrive the moment the admin accepts</a:t>
            </a:r>
          </a:p>
        </p:txBody>
      </p:sp>
      <p:sp>
        <p:nvSpPr>
          <p:cNvPr id="26" name="TextBox 25"/>
          <p:cNvSpPr txBox="1"/>
          <p:nvPr/>
        </p:nvSpPr>
        <p:spPr>
          <a:xfrm>
            <a:off x="7543800" y="4636008"/>
            <a:ext cx="411480" cy="411480"/>
          </a:xfrm>
          <a:prstGeom prst="rect">
            <a:avLst/>
          </a:prstGeom>
          <a:noFill/>
        </p:spPr>
        <p:txBody>
          <a:bodyPr wrap="square" lIns="0" tIns="0" rIns="0" bIns="0" anchor="t">
            <a:spAutoFit/>
          </a:bodyPr>
          <a:lstStyle/>
          <a:p>
            <a:pPr algn="l">
              <a:lnSpc>
                <a:spcPct val="108000"/>
              </a:lnSpc>
              <a:spcAft>
                <a:spcPts val="400"/>
              </a:spcAft>
            </a:pPr>
            <a:r>
              <a:rPr sz="1700" b="0" i="0">
                <a:solidFill>
                  <a:srgbClr val="0F172A"/>
                </a:solidFill>
                <a:latin typeface="Segoe UI Emoji"/>
              </a:rPr>
              <a:t>🚫</a:t>
            </a:r>
          </a:p>
        </p:txBody>
      </p:sp>
      <p:sp>
        <p:nvSpPr>
          <p:cNvPr id="27" name="TextBox 26"/>
          <p:cNvSpPr txBox="1"/>
          <p:nvPr/>
        </p:nvSpPr>
        <p:spPr>
          <a:xfrm>
            <a:off x="8001000" y="4636008"/>
            <a:ext cx="3611880" cy="685800"/>
          </a:xfrm>
          <a:prstGeom prst="rect">
            <a:avLst/>
          </a:prstGeom>
          <a:noFill/>
        </p:spPr>
        <p:txBody>
          <a:bodyPr wrap="square" lIns="0" tIns="0" rIns="0" bIns="0" anchor="t">
            <a:spAutoFit/>
          </a:bodyPr>
          <a:lstStyle/>
          <a:p>
            <a:pPr algn="l">
              <a:lnSpc>
                <a:spcPct val="108000"/>
              </a:lnSpc>
              <a:spcAft>
                <a:spcPts val="100"/>
              </a:spcAft>
            </a:pPr>
            <a:r>
              <a:rPr sz="1500" b="0" i="0">
                <a:solidFill>
                  <a:srgbClr val="0B1E3F"/>
                </a:solidFill>
                <a:latin typeface="Segoe UI Semibold"/>
              </a:rPr>
              <a:t>Can't deliver</a:t>
            </a:r>
          </a:p>
          <a:p>
            <a:pPr algn="l">
              <a:lnSpc>
                <a:spcPct val="108000"/>
              </a:lnSpc>
              <a:spcAft>
                <a:spcPts val="400"/>
              </a:spcAft>
            </a:pPr>
            <a:r>
              <a:rPr sz="1200" b="0" i="0">
                <a:solidFill>
                  <a:srgbClr val="475569"/>
                </a:solidFill>
                <a:latin typeface="Segoe UI"/>
              </a:rPr>
              <a:t>Opens Report already filled in</a:t>
            </a:r>
          </a:p>
        </p:txBody>
      </p:sp>
      <p:sp>
        <p:nvSpPr>
          <p:cNvPr id="28" name="TextBox 27"/>
          <p:cNvSpPr txBox="1"/>
          <p:nvPr/>
        </p:nvSpPr>
        <p:spPr>
          <a:xfrm>
            <a:off x="7543800" y="5349240"/>
            <a:ext cx="411480" cy="411480"/>
          </a:xfrm>
          <a:prstGeom prst="rect">
            <a:avLst/>
          </a:prstGeom>
          <a:noFill/>
        </p:spPr>
        <p:txBody>
          <a:bodyPr wrap="square" lIns="0" tIns="0" rIns="0" bIns="0" anchor="t">
            <a:spAutoFit/>
          </a:bodyPr>
          <a:lstStyle/>
          <a:p>
            <a:pPr algn="l">
              <a:lnSpc>
                <a:spcPct val="108000"/>
              </a:lnSpc>
              <a:spcAft>
                <a:spcPts val="400"/>
              </a:spcAft>
            </a:pPr>
            <a:r>
              <a:rPr sz="1700" b="0" i="0">
                <a:solidFill>
                  <a:srgbClr val="0F172A"/>
                </a:solidFill>
                <a:latin typeface="Segoe UI Emoji"/>
              </a:rPr>
              <a:t>💾</a:t>
            </a:r>
          </a:p>
        </p:txBody>
      </p:sp>
      <p:sp>
        <p:nvSpPr>
          <p:cNvPr id="29" name="TextBox 28"/>
          <p:cNvSpPr txBox="1"/>
          <p:nvPr/>
        </p:nvSpPr>
        <p:spPr>
          <a:xfrm>
            <a:off x="8001000" y="5349240"/>
            <a:ext cx="3611880" cy="685800"/>
          </a:xfrm>
          <a:prstGeom prst="rect">
            <a:avLst/>
          </a:prstGeom>
          <a:noFill/>
        </p:spPr>
        <p:txBody>
          <a:bodyPr wrap="square" lIns="0" tIns="0" rIns="0" bIns="0" anchor="t">
            <a:spAutoFit/>
          </a:bodyPr>
          <a:lstStyle/>
          <a:p>
            <a:pPr algn="l">
              <a:lnSpc>
                <a:spcPct val="108000"/>
              </a:lnSpc>
              <a:spcAft>
                <a:spcPts val="100"/>
              </a:spcAft>
            </a:pPr>
            <a:r>
              <a:rPr sz="1500" b="0" i="0">
                <a:solidFill>
                  <a:srgbClr val="0B1E3F"/>
                </a:solidFill>
                <a:latin typeface="Segoe UI Semibold"/>
              </a:rPr>
              <a:t>Never loses work</a:t>
            </a:r>
          </a:p>
          <a:p>
            <a:pPr algn="l">
              <a:lnSpc>
                <a:spcPct val="108000"/>
              </a:lnSpc>
              <a:spcAft>
                <a:spcPts val="400"/>
              </a:spcAft>
            </a:pPr>
            <a:r>
              <a:rPr sz="1200" b="0" i="0">
                <a:solidFill>
                  <a:srgbClr val="475569"/>
                </a:solidFill>
                <a:latin typeface="Segoe UI"/>
              </a:rPr>
              <a:t>Half-typed reports and voice notes are saved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502920"/>
            <a:ext cx="82296" cy="896112"/>
          </a:xfrm>
          <a:prstGeom prst="roundRect">
            <a:avLst>
              <a:gd name="adj" fmla="val 50000"/>
            </a:avLst>
          </a:prstGeom>
          <a:gradFill rotWithShape="1">
            <a:gsLst>
              <a:gs pos="0">
                <a:srgbClr val="2563EB"/>
              </a:gs>
              <a:gs pos="100000">
                <a:srgbClr val="7C3AED"/>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04672" y="429768"/>
            <a:ext cx="9601200" cy="274320"/>
          </a:xfrm>
          <a:prstGeom prst="rect">
            <a:avLst/>
          </a:prstGeom>
          <a:noFill/>
        </p:spPr>
        <p:txBody>
          <a:bodyPr wrap="square" lIns="0" tIns="0" rIns="0" bIns="0" anchor="t">
            <a:spAutoFit/>
          </a:bodyPr>
          <a:lstStyle/>
          <a:p>
            <a:pPr algn="l">
              <a:lnSpc>
                <a:spcPct val="108000"/>
              </a:lnSpc>
              <a:spcAft>
                <a:spcPts val="400"/>
              </a:spcAft>
            </a:pPr>
            <a:r>
              <a:rPr sz="1100" b="0" i="0" spc="200">
                <a:solidFill>
                  <a:srgbClr val="2563EB"/>
                </a:solidFill>
                <a:latin typeface="Segoe UI Semibold"/>
              </a:rPr>
              <a:t>NEW IN V3 · WORK ASSIGNMENT</a:t>
            </a:r>
          </a:p>
        </p:txBody>
      </p:sp>
      <p:sp>
        <p:nvSpPr>
          <p:cNvPr id="4" name="TextBox 3"/>
          <p:cNvSpPr txBox="1"/>
          <p:nvPr/>
        </p:nvSpPr>
        <p:spPr>
          <a:xfrm>
            <a:off x="804672" y="676656"/>
            <a:ext cx="9875520" cy="566928"/>
          </a:xfrm>
          <a:prstGeom prst="rect">
            <a:avLst/>
          </a:prstGeom>
          <a:noFill/>
        </p:spPr>
        <p:txBody>
          <a:bodyPr wrap="square" lIns="0" tIns="0" rIns="0" bIns="0" anchor="t">
            <a:spAutoFit/>
          </a:bodyPr>
          <a:lstStyle/>
          <a:p>
            <a:pPr algn="l">
              <a:lnSpc>
                <a:spcPct val="100000"/>
              </a:lnSpc>
              <a:spcAft>
                <a:spcPts val="400"/>
              </a:spcAft>
            </a:pPr>
            <a:r>
              <a:rPr sz="3000" b="0" i="0">
                <a:solidFill>
                  <a:srgbClr val="0B1E3F"/>
                </a:solidFill>
                <a:latin typeface="Segoe UI Semibold"/>
              </a:rPr>
              <a:t>Who should take the new order?</a:t>
            </a:r>
          </a:p>
        </p:txBody>
      </p:sp>
      <p:pic>
        <p:nvPicPr>
          <p:cNvPr id="5" name="Picture 4" descr="logo_512.png"/>
          <p:cNvPicPr>
            <a:picLocks noChangeAspect="1"/>
          </p:cNvPicPr>
          <p:nvPr/>
        </p:nvPicPr>
        <p:blipFill>
          <a:blip r:embed="rId3"/>
          <a:stretch>
            <a:fillRect/>
          </a:stretch>
        </p:blipFill>
        <p:spPr>
          <a:xfrm>
            <a:off x="11137392" y="475488"/>
            <a:ext cx="475488" cy="475488"/>
          </a:xfrm>
          <a:prstGeom prst="rect">
            <a:avLst/>
          </a:prstGeom>
        </p:spPr>
      </p:pic>
      <p:sp>
        <p:nvSpPr>
          <p:cNvPr id="6" name="Rectangle 5"/>
          <p:cNvSpPr/>
          <p:nvPr/>
        </p:nvSpPr>
        <p:spPr>
          <a:xfrm>
            <a:off x="548640" y="6400800"/>
            <a:ext cx="11091672"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6464808"/>
            <a:ext cx="7315200" cy="228600"/>
          </a:xfrm>
          <a:prstGeom prst="rect">
            <a:avLst/>
          </a:prstGeom>
          <a:noFill/>
        </p:spPr>
        <p:txBody>
          <a:bodyPr wrap="square" lIns="0" tIns="0" rIns="0" bIns="0" anchor="t">
            <a:spAutoFit/>
          </a:bodyPr>
          <a:lstStyle/>
          <a:p>
            <a:pPr algn="l">
              <a:lnSpc>
                <a:spcPct val="108000"/>
              </a:lnSpc>
              <a:spcAft>
                <a:spcPts val="400"/>
              </a:spcAft>
            </a:pPr>
            <a:r>
              <a:rPr sz="1000" b="0" i="0" spc="150">
                <a:solidFill>
                  <a:srgbClr val="0B1E3F"/>
                </a:solidFill>
                <a:latin typeface="Segoe UI Semibold"/>
              </a:rPr>
              <a:t>DEPORT</a:t>
            </a:r>
            <a:r>
              <a:rPr sz="1000" b="0" i="0">
                <a:solidFill>
                  <a:srgbClr val="475569"/>
                </a:solidFill>
                <a:latin typeface="Segoe UI"/>
              </a:rPr>
              <a:t>  ·  Disruption-Aware Logistics Decision Support</a:t>
            </a:r>
          </a:p>
        </p:txBody>
      </p:sp>
      <p:sp>
        <p:nvSpPr>
          <p:cNvPr id="8" name="TextBox 7"/>
          <p:cNvSpPr txBox="1"/>
          <p:nvPr/>
        </p:nvSpPr>
        <p:spPr>
          <a:xfrm>
            <a:off x="10725912" y="6464808"/>
            <a:ext cx="914400" cy="228600"/>
          </a:xfrm>
          <a:prstGeom prst="rect">
            <a:avLst/>
          </a:prstGeom>
          <a:noFill/>
        </p:spPr>
        <p:txBody>
          <a:bodyPr wrap="square" lIns="0" tIns="0" rIns="0" bIns="0" anchor="t">
            <a:spAutoFit/>
          </a:bodyPr>
          <a:lstStyle/>
          <a:p>
            <a:pPr algn="r">
              <a:lnSpc>
                <a:spcPct val="108000"/>
              </a:lnSpc>
              <a:spcAft>
                <a:spcPts val="400"/>
              </a:spcAft>
            </a:pPr>
            <a:r>
              <a:rPr sz="1000" b="0" i="0">
                <a:solidFill>
                  <a:srgbClr val="475569"/>
                </a:solidFill>
                <a:latin typeface="Segoe UI"/>
              </a:rPr>
              <a:t>11 / 17</a:t>
            </a:r>
          </a:p>
        </p:txBody>
      </p:sp>
      <p:sp>
        <p:nvSpPr>
          <p:cNvPr id="9" name="Rounded Rectangle 8"/>
          <p:cNvSpPr/>
          <p:nvPr/>
        </p:nvSpPr>
        <p:spPr>
          <a:xfrm>
            <a:off x="777240" y="1737360"/>
            <a:ext cx="5184864" cy="4416552"/>
          </a:xfrm>
          <a:prstGeom prst="roundRect">
            <a:avLst>
              <a:gd name="adj" fmla="val 3000"/>
            </a:avLst>
          </a:prstGeom>
          <a:solidFill>
            <a:srgbClr val="0F172A"/>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932688" y="1865376"/>
            <a:ext cx="91440" cy="91440"/>
          </a:xfrm>
          <a:prstGeom prst="ellipse">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1088136" y="1865376"/>
            <a:ext cx="91440" cy="91440"/>
          </a:xfrm>
          <a:prstGeom prst="ellipse">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1243584" y="1865376"/>
            <a:ext cx="91440" cy="91440"/>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assign.png"/>
          <p:cNvPicPr>
            <a:picLocks noChangeAspect="1"/>
          </p:cNvPicPr>
          <p:nvPr/>
        </p:nvPicPr>
        <p:blipFill>
          <a:blip r:embed="rId4"/>
          <a:stretch>
            <a:fillRect/>
          </a:stretch>
        </p:blipFill>
        <p:spPr>
          <a:xfrm>
            <a:off x="822960" y="2039112"/>
            <a:ext cx="5093424" cy="4069080"/>
          </a:xfrm>
          <a:prstGeom prst="rect">
            <a:avLst/>
          </a:prstGeom>
        </p:spPr>
      </p:pic>
      <p:sp>
        <p:nvSpPr>
          <p:cNvPr id="14" name="TextBox 13"/>
          <p:cNvSpPr txBox="1"/>
          <p:nvPr/>
        </p:nvSpPr>
        <p:spPr>
          <a:xfrm>
            <a:off x="6537960" y="1783080"/>
            <a:ext cx="365760" cy="365760"/>
          </a:xfrm>
          <a:prstGeom prst="rect">
            <a:avLst/>
          </a:prstGeom>
          <a:noFill/>
        </p:spPr>
        <p:txBody>
          <a:bodyPr wrap="square" lIns="0" tIns="0" rIns="0" bIns="0" anchor="t">
            <a:spAutoFit/>
          </a:bodyPr>
          <a:lstStyle/>
          <a:p>
            <a:pPr algn="l">
              <a:lnSpc>
                <a:spcPct val="108000"/>
              </a:lnSpc>
              <a:spcAft>
                <a:spcPts val="400"/>
              </a:spcAft>
            </a:pPr>
            <a:r>
              <a:rPr sz="1500" b="0" i="0">
                <a:solidFill>
                  <a:srgbClr val="0F172A"/>
                </a:solidFill>
                <a:latin typeface="Segoe UI Emoji"/>
              </a:rPr>
              <a:t>📍</a:t>
            </a:r>
          </a:p>
        </p:txBody>
      </p:sp>
      <p:sp>
        <p:nvSpPr>
          <p:cNvPr id="15" name="TextBox 14"/>
          <p:cNvSpPr txBox="1"/>
          <p:nvPr/>
        </p:nvSpPr>
        <p:spPr>
          <a:xfrm>
            <a:off x="6967728" y="1801368"/>
            <a:ext cx="4663440" cy="502920"/>
          </a:xfrm>
          <a:prstGeom prst="rect">
            <a:avLst/>
          </a:prstGeom>
          <a:noFill/>
        </p:spPr>
        <p:txBody>
          <a:bodyPr wrap="square" lIns="0" tIns="0" rIns="0" bIns="0" anchor="t">
            <a:spAutoFit/>
          </a:bodyPr>
          <a:lstStyle/>
          <a:p>
            <a:pPr algn="l">
              <a:lnSpc>
                <a:spcPct val="108000"/>
              </a:lnSpc>
              <a:spcAft>
                <a:spcPts val="400"/>
              </a:spcAft>
            </a:pPr>
            <a:r>
              <a:rPr sz="1450" b="0" i="0">
                <a:solidFill>
                  <a:srgbClr val="0B1E3F"/>
                </a:solidFill>
                <a:latin typeface="Segoe UI Semibold"/>
              </a:rPr>
              <a:t>Distance</a:t>
            </a:r>
            <a:r>
              <a:rPr sz="1250" b="0" i="0">
                <a:solidFill>
                  <a:srgbClr val="475569"/>
                </a:solidFill>
                <a:latin typeface="Segoe UI"/>
              </a:rPr>
              <a:t>  –  from the partner's position or next stops</a:t>
            </a:r>
          </a:p>
        </p:txBody>
      </p:sp>
      <p:sp>
        <p:nvSpPr>
          <p:cNvPr id="16" name="TextBox 15"/>
          <p:cNvSpPr txBox="1"/>
          <p:nvPr/>
        </p:nvSpPr>
        <p:spPr>
          <a:xfrm>
            <a:off x="6537960" y="2331720"/>
            <a:ext cx="365760" cy="365760"/>
          </a:xfrm>
          <a:prstGeom prst="rect">
            <a:avLst/>
          </a:prstGeom>
          <a:noFill/>
        </p:spPr>
        <p:txBody>
          <a:bodyPr wrap="square" lIns="0" tIns="0" rIns="0" bIns="0" anchor="t">
            <a:spAutoFit/>
          </a:bodyPr>
          <a:lstStyle/>
          <a:p>
            <a:pPr algn="l">
              <a:lnSpc>
                <a:spcPct val="108000"/>
              </a:lnSpc>
              <a:spcAft>
                <a:spcPts val="400"/>
              </a:spcAft>
            </a:pPr>
            <a:r>
              <a:rPr sz="1500" b="0" i="0">
                <a:solidFill>
                  <a:srgbClr val="0F172A"/>
                </a:solidFill>
                <a:latin typeface="Segoe UI Emoji"/>
              </a:rPr>
              <a:t>📦</a:t>
            </a:r>
          </a:p>
        </p:txBody>
      </p:sp>
      <p:sp>
        <p:nvSpPr>
          <p:cNvPr id="17" name="TextBox 16"/>
          <p:cNvSpPr txBox="1"/>
          <p:nvPr/>
        </p:nvSpPr>
        <p:spPr>
          <a:xfrm>
            <a:off x="6967728" y="2350008"/>
            <a:ext cx="4663440" cy="502920"/>
          </a:xfrm>
          <a:prstGeom prst="rect">
            <a:avLst/>
          </a:prstGeom>
          <a:noFill/>
        </p:spPr>
        <p:txBody>
          <a:bodyPr wrap="square" lIns="0" tIns="0" rIns="0" bIns="0" anchor="t">
            <a:spAutoFit/>
          </a:bodyPr>
          <a:lstStyle/>
          <a:p>
            <a:pPr algn="l">
              <a:lnSpc>
                <a:spcPct val="108000"/>
              </a:lnSpc>
              <a:spcAft>
                <a:spcPts val="400"/>
              </a:spcAft>
            </a:pPr>
            <a:r>
              <a:rPr sz="1450" b="0" i="0">
                <a:solidFill>
                  <a:srgbClr val="0B1E3F"/>
                </a:solidFill>
                <a:latin typeface="Segoe UI Semibold"/>
              </a:rPr>
              <a:t>Load</a:t>
            </a:r>
            <a:r>
              <a:rPr sz="1250" b="0" i="0">
                <a:solidFill>
                  <a:srgbClr val="475569"/>
                </a:solidFill>
                <a:latin typeface="Segoe UI"/>
              </a:rPr>
              <a:t>  –  stops vs. capacity (bike 8 · car 10 · van 12 · truck 14)</a:t>
            </a:r>
          </a:p>
        </p:txBody>
      </p:sp>
      <p:sp>
        <p:nvSpPr>
          <p:cNvPr id="18" name="TextBox 17"/>
          <p:cNvSpPr txBox="1"/>
          <p:nvPr/>
        </p:nvSpPr>
        <p:spPr>
          <a:xfrm>
            <a:off x="6537960" y="2880360"/>
            <a:ext cx="365760" cy="365760"/>
          </a:xfrm>
          <a:prstGeom prst="rect">
            <a:avLst/>
          </a:prstGeom>
          <a:noFill/>
        </p:spPr>
        <p:txBody>
          <a:bodyPr wrap="square" lIns="0" tIns="0" rIns="0" bIns="0" anchor="t">
            <a:spAutoFit/>
          </a:bodyPr>
          <a:lstStyle/>
          <a:p>
            <a:pPr algn="l">
              <a:lnSpc>
                <a:spcPct val="108000"/>
              </a:lnSpc>
              <a:spcAft>
                <a:spcPts val="400"/>
              </a:spcAft>
            </a:pPr>
            <a:r>
              <a:rPr sz="1500" b="0" i="0">
                <a:solidFill>
                  <a:srgbClr val="0F172A"/>
                </a:solidFill>
                <a:latin typeface="Segoe UI Emoji"/>
              </a:rPr>
              <a:t>🚚</a:t>
            </a:r>
          </a:p>
        </p:txBody>
      </p:sp>
      <p:sp>
        <p:nvSpPr>
          <p:cNvPr id="19" name="TextBox 18"/>
          <p:cNvSpPr txBox="1"/>
          <p:nvPr/>
        </p:nvSpPr>
        <p:spPr>
          <a:xfrm>
            <a:off x="6967728" y="2898648"/>
            <a:ext cx="4663440" cy="502920"/>
          </a:xfrm>
          <a:prstGeom prst="rect">
            <a:avLst/>
          </a:prstGeom>
          <a:noFill/>
        </p:spPr>
        <p:txBody>
          <a:bodyPr wrap="square" lIns="0" tIns="0" rIns="0" bIns="0" anchor="t">
            <a:spAutoFit/>
          </a:bodyPr>
          <a:lstStyle/>
          <a:p>
            <a:pPr algn="l">
              <a:lnSpc>
                <a:spcPct val="108000"/>
              </a:lnSpc>
              <a:spcAft>
                <a:spcPts val="400"/>
              </a:spcAft>
            </a:pPr>
            <a:r>
              <a:rPr sz="1450" b="0" i="0">
                <a:solidFill>
                  <a:srgbClr val="0B1E3F"/>
                </a:solidFill>
                <a:latin typeface="Segoe UI Semibold"/>
              </a:rPr>
              <a:t>Vehicle fits</a:t>
            </a:r>
            <a:r>
              <a:rPr sz="1250" b="0" i="0">
                <a:solidFill>
                  <a:srgbClr val="475569"/>
                </a:solidFill>
                <a:latin typeface="Segoe UI"/>
              </a:rPr>
              <a:t>  –  bike = small parcels only; large needs a van or truck</a:t>
            </a:r>
          </a:p>
        </p:txBody>
      </p:sp>
      <p:sp>
        <p:nvSpPr>
          <p:cNvPr id="20" name="TextBox 19"/>
          <p:cNvSpPr txBox="1"/>
          <p:nvPr/>
        </p:nvSpPr>
        <p:spPr>
          <a:xfrm>
            <a:off x="6537960" y="3429000"/>
            <a:ext cx="365760" cy="365760"/>
          </a:xfrm>
          <a:prstGeom prst="rect">
            <a:avLst/>
          </a:prstGeom>
          <a:noFill/>
        </p:spPr>
        <p:txBody>
          <a:bodyPr wrap="square" lIns="0" tIns="0" rIns="0" bIns="0" anchor="t">
            <a:spAutoFit/>
          </a:bodyPr>
          <a:lstStyle/>
          <a:p>
            <a:pPr algn="l">
              <a:lnSpc>
                <a:spcPct val="108000"/>
              </a:lnSpc>
              <a:spcAft>
                <a:spcPts val="400"/>
              </a:spcAft>
            </a:pPr>
            <a:r>
              <a:rPr sz="1500" b="0" i="0">
                <a:solidFill>
                  <a:srgbClr val="0F172A"/>
                </a:solidFill>
                <a:latin typeface="Segoe UI Emoji"/>
              </a:rPr>
              <a:t>🚫</a:t>
            </a:r>
          </a:p>
        </p:txBody>
      </p:sp>
      <p:sp>
        <p:nvSpPr>
          <p:cNvPr id="21" name="TextBox 20"/>
          <p:cNvSpPr txBox="1"/>
          <p:nvPr/>
        </p:nvSpPr>
        <p:spPr>
          <a:xfrm>
            <a:off x="6967728" y="3447288"/>
            <a:ext cx="4663440" cy="502920"/>
          </a:xfrm>
          <a:prstGeom prst="rect">
            <a:avLst/>
          </a:prstGeom>
          <a:noFill/>
        </p:spPr>
        <p:txBody>
          <a:bodyPr wrap="square" lIns="0" tIns="0" rIns="0" bIns="0" anchor="t">
            <a:spAutoFit/>
          </a:bodyPr>
          <a:lstStyle/>
          <a:p>
            <a:pPr algn="l">
              <a:lnSpc>
                <a:spcPct val="108000"/>
              </a:lnSpc>
              <a:spcAft>
                <a:spcPts val="400"/>
              </a:spcAft>
            </a:pPr>
            <a:r>
              <a:rPr sz="1450" b="0" i="0">
                <a:solidFill>
                  <a:srgbClr val="0B1E3F"/>
                </a:solidFill>
                <a:latin typeface="Segoe UI Semibold"/>
              </a:rPr>
              <a:t>Not busy</a:t>
            </a:r>
            <a:r>
              <a:rPr sz="1250" b="0" i="0">
                <a:solidFill>
                  <a:srgbClr val="475569"/>
                </a:solidFill>
                <a:latin typeface="Segoe UI"/>
              </a:rPr>
              <a:t>  –  skips partners with an alert, on break or off</a:t>
            </a:r>
          </a:p>
        </p:txBody>
      </p:sp>
      <p:sp>
        <p:nvSpPr>
          <p:cNvPr id="22" name="TextBox 21"/>
          <p:cNvSpPr txBox="1"/>
          <p:nvPr/>
        </p:nvSpPr>
        <p:spPr>
          <a:xfrm>
            <a:off x="6537960" y="3977639"/>
            <a:ext cx="365760" cy="365760"/>
          </a:xfrm>
          <a:prstGeom prst="rect">
            <a:avLst/>
          </a:prstGeom>
          <a:noFill/>
        </p:spPr>
        <p:txBody>
          <a:bodyPr wrap="square" lIns="0" tIns="0" rIns="0" bIns="0" anchor="t">
            <a:spAutoFit/>
          </a:bodyPr>
          <a:lstStyle/>
          <a:p>
            <a:pPr algn="l">
              <a:lnSpc>
                <a:spcPct val="108000"/>
              </a:lnSpc>
              <a:spcAft>
                <a:spcPts val="400"/>
              </a:spcAft>
            </a:pPr>
            <a:r>
              <a:rPr sz="1500" b="0" i="0">
                <a:solidFill>
                  <a:srgbClr val="0F172A"/>
                </a:solidFill>
                <a:latin typeface="Segoe UI Emoji"/>
              </a:rPr>
              <a:t>🛣️</a:t>
            </a:r>
          </a:p>
        </p:txBody>
      </p:sp>
      <p:sp>
        <p:nvSpPr>
          <p:cNvPr id="23" name="TextBox 22"/>
          <p:cNvSpPr txBox="1"/>
          <p:nvPr/>
        </p:nvSpPr>
        <p:spPr>
          <a:xfrm>
            <a:off x="6967728" y="3995927"/>
            <a:ext cx="4663440" cy="502920"/>
          </a:xfrm>
          <a:prstGeom prst="rect">
            <a:avLst/>
          </a:prstGeom>
          <a:noFill/>
        </p:spPr>
        <p:txBody>
          <a:bodyPr wrap="square" lIns="0" tIns="0" rIns="0" bIns="0" anchor="t">
            <a:spAutoFit/>
          </a:bodyPr>
          <a:lstStyle/>
          <a:p>
            <a:pPr algn="l">
              <a:lnSpc>
                <a:spcPct val="108000"/>
              </a:lnSpc>
              <a:spcAft>
                <a:spcPts val="400"/>
              </a:spcAft>
            </a:pPr>
            <a:r>
              <a:rPr sz="1450" b="0" i="0">
                <a:solidFill>
                  <a:srgbClr val="0B1E3F"/>
                </a:solidFill>
                <a:latin typeface="Segoe UI Semibold"/>
              </a:rPr>
              <a:t>Same route</a:t>
            </a:r>
            <a:r>
              <a:rPr sz="1250" b="0" i="0">
                <a:solidFill>
                  <a:srgbClr val="475569"/>
                </a:solidFill>
                <a:latin typeface="Segoe UI"/>
              </a:rPr>
              <a:t>  –  bonus when the order is on their route</a:t>
            </a:r>
          </a:p>
        </p:txBody>
      </p:sp>
      <p:sp>
        <p:nvSpPr>
          <p:cNvPr id="24" name="TextBox 23"/>
          <p:cNvSpPr txBox="1"/>
          <p:nvPr/>
        </p:nvSpPr>
        <p:spPr>
          <a:xfrm>
            <a:off x="6537960" y="4526280"/>
            <a:ext cx="365760" cy="365760"/>
          </a:xfrm>
          <a:prstGeom prst="rect">
            <a:avLst/>
          </a:prstGeom>
          <a:noFill/>
        </p:spPr>
        <p:txBody>
          <a:bodyPr wrap="square" lIns="0" tIns="0" rIns="0" bIns="0" anchor="t">
            <a:spAutoFit/>
          </a:bodyPr>
          <a:lstStyle/>
          <a:p>
            <a:pPr algn="l">
              <a:lnSpc>
                <a:spcPct val="108000"/>
              </a:lnSpc>
              <a:spcAft>
                <a:spcPts val="400"/>
              </a:spcAft>
            </a:pPr>
            <a:r>
              <a:rPr sz="1500" b="0" i="0">
                <a:solidFill>
                  <a:srgbClr val="0F172A"/>
                </a:solidFill>
                <a:latin typeface="Segoe UI Emoji"/>
              </a:rPr>
              <a:t>⏰</a:t>
            </a:r>
          </a:p>
        </p:txBody>
      </p:sp>
      <p:sp>
        <p:nvSpPr>
          <p:cNvPr id="25" name="TextBox 24"/>
          <p:cNvSpPr txBox="1"/>
          <p:nvPr/>
        </p:nvSpPr>
        <p:spPr>
          <a:xfrm>
            <a:off x="6967728" y="4544568"/>
            <a:ext cx="4663440" cy="502920"/>
          </a:xfrm>
          <a:prstGeom prst="rect">
            <a:avLst/>
          </a:prstGeom>
          <a:noFill/>
        </p:spPr>
        <p:txBody>
          <a:bodyPr wrap="square" lIns="0" tIns="0" rIns="0" bIns="0" anchor="t">
            <a:spAutoFit/>
          </a:bodyPr>
          <a:lstStyle/>
          <a:p>
            <a:pPr algn="l">
              <a:lnSpc>
                <a:spcPct val="108000"/>
              </a:lnSpc>
              <a:spcAft>
                <a:spcPts val="400"/>
              </a:spcAft>
            </a:pPr>
            <a:r>
              <a:rPr sz="1450" b="0" i="0">
                <a:solidFill>
                  <a:srgbClr val="0B1E3F"/>
                </a:solidFill>
                <a:latin typeface="Segoe UI Semibold"/>
              </a:rPr>
              <a:t>Deadline</a:t>
            </a:r>
            <a:r>
              <a:rPr sz="1250" b="0" i="0">
                <a:solidFill>
                  <a:srgbClr val="475569"/>
                </a:solidFill>
                <a:latin typeface="Segoe UI"/>
              </a:rPr>
              <a:t>  –  must still arrive in time</a:t>
            </a:r>
          </a:p>
        </p:txBody>
      </p:sp>
      <p:sp>
        <p:nvSpPr>
          <p:cNvPr id="26" name="Rounded Rectangle 25"/>
          <p:cNvSpPr/>
          <p:nvPr/>
        </p:nvSpPr>
        <p:spPr>
          <a:xfrm>
            <a:off x="6537960" y="5193792"/>
            <a:ext cx="5029200" cy="402336"/>
          </a:xfrm>
          <a:prstGeom prst="roundRect">
            <a:avLst>
              <a:gd name="adj" fmla="val 50000"/>
            </a:avLst>
          </a:prstGeom>
          <a:solidFill>
            <a:srgbClr val="DCFCE7"/>
          </a:solidFill>
          <a:ln w="9525">
            <a:solidFill>
              <a:srgbClr val="86EFAC"/>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250" b="0">
                <a:solidFill>
                  <a:srgbClr val="16A34A"/>
                </a:solidFill>
                <a:latin typeface="Segoe UI Semibold"/>
              </a:rPr>
              <a:t>Best  </a:t>
            </a:r>
            <a:r>
              <a:rPr sz="1250" b="0">
                <a:solidFill>
                  <a:srgbClr val="0F172A"/>
                </a:solidFill>
                <a:latin typeface="Segoe UI"/>
              </a:rPr>
              <a:t>Karthik · 0.4 km away · 6/8 load · </a:t>
            </a:r>
            <a:r>
              <a:rPr sz="1250" b="0">
                <a:solidFill>
                  <a:srgbClr val="0F172A"/>
                </a:solidFill>
                <a:latin typeface="Segoe UI Emoji"/>
              </a:rPr>
              <a:t>🏍️</a:t>
            </a:r>
            <a:r>
              <a:rPr sz="1250" b="0">
                <a:solidFill>
                  <a:srgbClr val="0F172A"/>
                </a:solidFill>
                <a:latin typeface="Segoe UI"/>
              </a:rPr>
              <a:t> fits</a:t>
            </a:r>
          </a:p>
        </p:txBody>
      </p:sp>
      <p:sp>
        <p:nvSpPr>
          <p:cNvPr id="27" name="Rounded Rectangle 26"/>
          <p:cNvSpPr/>
          <p:nvPr/>
        </p:nvSpPr>
        <p:spPr>
          <a:xfrm>
            <a:off x="6537960" y="5806440"/>
            <a:ext cx="566928" cy="329184"/>
          </a:xfrm>
          <a:prstGeom prst="roundRect">
            <a:avLst>
              <a:gd name="adj" fmla="val 50000"/>
            </a:avLst>
          </a:prstGeom>
          <a:solidFill>
            <a:srgbClr val="EEF2FF"/>
          </a:solidFill>
          <a:ln w="9525">
            <a:solidFill>
              <a:srgbClr val="C7D2FE"/>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00" b="0">
                <a:solidFill>
                  <a:srgbClr val="0B1E3F"/>
                </a:solidFill>
                <a:latin typeface="Segoe UI Semibold"/>
              </a:rPr>
              <a:t>New</a:t>
            </a:r>
          </a:p>
        </p:txBody>
      </p:sp>
      <p:sp>
        <p:nvSpPr>
          <p:cNvPr id="28" name="TextBox 27"/>
          <p:cNvSpPr txBox="1"/>
          <p:nvPr/>
        </p:nvSpPr>
        <p:spPr>
          <a:xfrm>
            <a:off x="7114032" y="5806440"/>
            <a:ext cx="164592" cy="329184"/>
          </a:xfrm>
          <a:prstGeom prst="rect">
            <a:avLst/>
          </a:prstGeom>
          <a:noFill/>
        </p:spPr>
        <p:txBody>
          <a:bodyPr wrap="square" lIns="0" tIns="0" rIns="0" bIns="0" anchor="ctr">
            <a:spAutoFit/>
          </a:bodyPr>
          <a:lstStyle/>
          <a:p>
            <a:pPr algn="ctr">
              <a:lnSpc>
                <a:spcPct val="108000"/>
              </a:lnSpc>
              <a:spcAft>
                <a:spcPts val="400"/>
              </a:spcAft>
            </a:pPr>
            <a:r>
              <a:rPr sz="1400" b="0" i="0">
                <a:solidFill>
                  <a:srgbClr val="94A3B8"/>
                </a:solidFill>
                <a:latin typeface="Segoe UI"/>
              </a:rPr>
              <a:t>›</a:t>
            </a:r>
          </a:p>
        </p:txBody>
      </p:sp>
      <p:sp>
        <p:nvSpPr>
          <p:cNvPr id="29" name="Rounded Rectangle 28"/>
          <p:cNvSpPr/>
          <p:nvPr/>
        </p:nvSpPr>
        <p:spPr>
          <a:xfrm>
            <a:off x="7269480" y="5806440"/>
            <a:ext cx="804672" cy="329184"/>
          </a:xfrm>
          <a:prstGeom prst="roundRect">
            <a:avLst>
              <a:gd name="adj" fmla="val 50000"/>
            </a:avLst>
          </a:prstGeom>
          <a:solidFill>
            <a:srgbClr val="EEF2FF"/>
          </a:solidFill>
          <a:ln w="9525">
            <a:solidFill>
              <a:srgbClr val="C7D2FE"/>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00" b="0">
                <a:solidFill>
                  <a:srgbClr val="0B1E3F"/>
                </a:solidFill>
                <a:latin typeface="Segoe UI Semibold"/>
              </a:rPr>
              <a:t>Accept</a:t>
            </a:r>
          </a:p>
        </p:txBody>
      </p:sp>
      <p:sp>
        <p:nvSpPr>
          <p:cNvPr id="30" name="TextBox 29"/>
          <p:cNvSpPr txBox="1"/>
          <p:nvPr/>
        </p:nvSpPr>
        <p:spPr>
          <a:xfrm>
            <a:off x="8083296" y="5806440"/>
            <a:ext cx="164592" cy="329184"/>
          </a:xfrm>
          <a:prstGeom prst="rect">
            <a:avLst/>
          </a:prstGeom>
          <a:noFill/>
        </p:spPr>
        <p:txBody>
          <a:bodyPr wrap="square" lIns="0" tIns="0" rIns="0" bIns="0" anchor="ctr">
            <a:spAutoFit/>
          </a:bodyPr>
          <a:lstStyle/>
          <a:p>
            <a:pPr algn="ctr">
              <a:lnSpc>
                <a:spcPct val="108000"/>
              </a:lnSpc>
              <a:spcAft>
                <a:spcPts val="400"/>
              </a:spcAft>
            </a:pPr>
            <a:r>
              <a:rPr sz="1400" b="0" i="0">
                <a:solidFill>
                  <a:srgbClr val="94A3B8"/>
                </a:solidFill>
                <a:latin typeface="Segoe UI"/>
              </a:rPr>
              <a:t>›</a:t>
            </a:r>
          </a:p>
        </p:txBody>
      </p:sp>
      <p:sp>
        <p:nvSpPr>
          <p:cNvPr id="31" name="Rounded Rectangle 30"/>
          <p:cNvSpPr/>
          <p:nvPr/>
        </p:nvSpPr>
        <p:spPr>
          <a:xfrm>
            <a:off x="8238744" y="5806440"/>
            <a:ext cx="1051560" cy="329184"/>
          </a:xfrm>
          <a:prstGeom prst="roundRect">
            <a:avLst>
              <a:gd name="adj" fmla="val 50000"/>
            </a:avLst>
          </a:prstGeom>
          <a:solidFill>
            <a:srgbClr val="EEF2FF"/>
          </a:solidFill>
          <a:ln w="9525">
            <a:solidFill>
              <a:srgbClr val="C7D2FE"/>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00" b="0">
                <a:solidFill>
                  <a:srgbClr val="0B1E3F"/>
                </a:solidFill>
                <a:latin typeface="Segoe UI Semibold"/>
              </a:rPr>
              <a:t>Picked up</a:t>
            </a:r>
          </a:p>
        </p:txBody>
      </p:sp>
      <p:sp>
        <p:nvSpPr>
          <p:cNvPr id="32" name="TextBox 31"/>
          <p:cNvSpPr txBox="1"/>
          <p:nvPr/>
        </p:nvSpPr>
        <p:spPr>
          <a:xfrm>
            <a:off x="9299448" y="5806440"/>
            <a:ext cx="164592" cy="329184"/>
          </a:xfrm>
          <a:prstGeom prst="rect">
            <a:avLst/>
          </a:prstGeom>
          <a:noFill/>
        </p:spPr>
        <p:txBody>
          <a:bodyPr wrap="square" lIns="0" tIns="0" rIns="0" bIns="0" anchor="ctr">
            <a:spAutoFit/>
          </a:bodyPr>
          <a:lstStyle/>
          <a:p>
            <a:pPr algn="ctr">
              <a:lnSpc>
                <a:spcPct val="108000"/>
              </a:lnSpc>
              <a:spcAft>
                <a:spcPts val="400"/>
              </a:spcAft>
            </a:pPr>
            <a:r>
              <a:rPr sz="1400" b="0" i="0">
                <a:solidFill>
                  <a:srgbClr val="94A3B8"/>
                </a:solidFill>
                <a:latin typeface="Segoe UI"/>
              </a:rPr>
              <a:t>›</a:t>
            </a:r>
          </a:p>
        </p:txBody>
      </p:sp>
      <p:sp>
        <p:nvSpPr>
          <p:cNvPr id="33" name="Rounded Rectangle 32"/>
          <p:cNvSpPr/>
          <p:nvPr/>
        </p:nvSpPr>
        <p:spPr>
          <a:xfrm>
            <a:off x="9454896" y="5806440"/>
            <a:ext cx="722376" cy="329184"/>
          </a:xfrm>
          <a:prstGeom prst="roundRect">
            <a:avLst>
              <a:gd name="adj" fmla="val 50000"/>
            </a:avLst>
          </a:prstGeom>
          <a:solidFill>
            <a:srgbClr val="EEF2FF"/>
          </a:solidFill>
          <a:ln w="9525">
            <a:solidFill>
              <a:srgbClr val="C7D2FE"/>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00" b="0">
                <a:solidFill>
                  <a:srgbClr val="0B1E3F"/>
                </a:solidFill>
                <a:latin typeface="Segoe UI Semibold"/>
              </a:rPr>
              <a:t>Start</a:t>
            </a:r>
          </a:p>
        </p:txBody>
      </p:sp>
      <p:sp>
        <p:nvSpPr>
          <p:cNvPr id="34" name="TextBox 33"/>
          <p:cNvSpPr txBox="1"/>
          <p:nvPr/>
        </p:nvSpPr>
        <p:spPr>
          <a:xfrm>
            <a:off x="10186416" y="5806440"/>
            <a:ext cx="164592" cy="329184"/>
          </a:xfrm>
          <a:prstGeom prst="rect">
            <a:avLst/>
          </a:prstGeom>
          <a:noFill/>
        </p:spPr>
        <p:txBody>
          <a:bodyPr wrap="square" lIns="0" tIns="0" rIns="0" bIns="0" anchor="ctr">
            <a:spAutoFit/>
          </a:bodyPr>
          <a:lstStyle/>
          <a:p>
            <a:pPr algn="ctr">
              <a:lnSpc>
                <a:spcPct val="108000"/>
              </a:lnSpc>
              <a:spcAft>
                <a:spcPts val="400"/>
              </a:spcAft>
            </a:pPr>
            <a:r>
              <a:rPr sz="1400" b="0" i="0">
                <a:solidFill>
                  <a:srgbClr val="94A3B8"/>
                </a:solidFill>
                <a:latin typeface="Segoe UI"/>
              </a:rPr>
              <a:t>›</a:t>
            </a:r>
          </a:p>
        </p:txBody>
      </p:sp>
      <p:sp>
        <p:nvSpPr>
          <p:cNvPr id="35" name="Rounded Rectangle 34"/>
          <p:cNvSpPr/>
          <p:nvPr/>
        </p:nvSpPr>
        <p:spPr>
          <a:xfrm>
            <a:off x="10341864" y="5806440"/>
            <a:ext cx="1051560" cy="329184"/>
          </a:xfrm>
          <a:prstGeom prst="roundRect">
            <a:avLst>
              <a:gd name="adj" fmla="val 50000"/>
            </a:avLst>
          </a:prstGeom>
          <a:solidFill>
            <a:srgbClr val="EEF2FF"/>
          </a:solidFill>
          <a:ln w="9525">
            <a:solidFill>
              <a:srgbClr val="C7D2FE"/>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100" b="0">
                <a:solidFill>
                  <a:srgbClr val="0B1E3F"/>
                </a:solidFill>
                <a:latin typeface="Segoe UI Semibold"/>
              </a:rPr>
              <a:t>Delivered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502920"/>
            <a:ext cx="82296" cy="896112"/>
          </a:xfrm>
          <a:prstGeom prst="roundRect">
            <a:avLst>
              <a:gd name="adj" fmla="val 50000"/>
            </a:avLst>
          </a:prstGeom>
          <a:gradFill rotWithShape="1">
            <a:gsLst>
              <a:gs pos="0">
                <a:srgbClr val="2563EB"/>
              </a:gs>
              <a:gs pos="100000">
                <a:srgbClr val="7C3AED"/>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04672" y="429768"/>
            <a:ext cx="9601200" cy="274320"/>
          </a:xfrm>
          <a:prstGeom prst="rect">
            <a:avLst/>
          </a:prstGeom>
          <a:noFill/>
        </p:spPr>
        <p:txBody>
          <a:bodyPr wrap="square" lIns="0" tIns="0" rIns="0" bIns="0" anchor="t">
            <a:spAutoFit/>
          </a:bodyPr>
          <a:lstStyle/>
          <a:p>
            <a:pPr algn="l">
              <a:lnSpc>
                <a:spcPct val="108000"/>
              </a:lnSpc>
              <a:spcAft>
                <a:spcPts val="400"/>
              </a:spcAft>
            </a:pPr>
            <a:r>
              <a:rPr sz="1100" b="0" i="0" spc="200">
                <a:solidFill>
                  <a:srgbClr val="2563EB"/>
                </a:solidFill>
                <a:latin typeface="Segoe UI Semibold"/>
              </a:rPr>
              <a:t>SUPER ADMIN · SECURITY</a:t>
            </a:r>
          </a:p>
        </p:txBody>
      </p:sp>
      <p:sp>
        <p:nvSpPr>
          <p:cNvPr id="4" name="TextBox 3"/>
          <p:cNvSpPr txBox="1"/>
          <p:nvPr/>
        </p:nvSpPr>
        <p:spPr>
          <a:xfrm>
            <a:off x="804672" y="676656"/>
            <a:ext cx="9875520" cy="566928"/>
          </a:xfrm>
          <a:prstGeom prst="rect">
            <a:avLst/>
          </a:prstGeom>
          <a:noFill/>
        </p:spPr>
        <p:txBody>
          <a:bodyPr wrap="square" lIns="0" tIns="0" rIns="0" bIns="0" anchor="t">
            <a:spAutoFit/>
          </a:bodyPr>
          <a:lstStyle/>
          <a:p>
            <a:pPr algn="l">
              <a:lnSpc>
                <a:spcPct val="100000"/>
              </a:lnSpc>
              <a:spcAft>
                <a:spcPts val="400"/>
              </a:spcAft>
            </a:pPr>
            <a:r>
              <a:rPr sz="3000" b="0" i="0">
                <a:solidFill>
                  <a:srgbClr val="0B1E3F"/>
                </a:solidFill>
                <a:latin typeface="Segoe UI Semibold"/>
              </a:rPr>
              <a:t>Safe by design</a:t>
            </a:r>
          </a:p>
        </p:txBody>
      </p:sp>
      <p:pic>
        <p:nvPicPr>
          <p:cNvPr id="5" name="Picture 4" descr="logo_512.png"/>
          <p:cNvPicPr>
            <a:picLocks noChangeAspect="1"/>
          </p:cNvPicPr>
          <p:nvPr/>
        </p:nvPicPr>
        <p:blipFill>
          <a:blip r:embed="rId3"/>
          <a:stretch>
            <a:fillRect/>
          </a:stretch>
        </p:blipFill>
        <p:spPr>
          <a:xfrm>
            <a:off x="11137392" y="475488"/>
            <a:ext cx="475488" cy="475488"/>
          </a:xfrm>
          <a:prstGeom prst="rect">
            <a:avLst/>
          </a:prstGeom>
        </p:spPr>
      </p:pic>
      <p:sp>
        <p:nvSpPr>
          <p:cNvPr id="6" name="Rectangle 5"/>
          <p:cNvSpPr/>
          <p:nvPr/>
        </p:nvSpPr>
        <p:spPr>
          <a:xfrm>
            <a:off x="548640" y="6400800"/>
            <a:ext cx="11091672"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6464808"/>
            <a:ext cx="7315200" cy="228600"/>
          </a:xfrm>
          <a:prstGeom prst="rect">
            <a:avLst/>
          </a:prstGeom>
          <a:noFill/>
        </p:spPr>
        <p:txBody>
          <a:bodyPr wrap="square" lIns="0" tIns="0" rIns="0" bIns="0" anchor="t">
            <a:spAutoFit/>
          </a:bodyPr>
          <a:lstStyle/>
          <a:p>
            <a:pPr algn="l">
              <a:lnSpc>
                <a:spcPct val="108000"/>
              </a:lnSpc>
              <a:spcAft>
                <a:spcPts val="400"/>
              </a:spcAft>
            </a:pPr>
            <a:r>
              <a:rPr sz="1000" b="0" i="0" spc="150">
                <a:solidFill>
                  <a:srgbClr val="0B1E3F"/>
                </a:solidFill>
                <a:latin typeface="Segoe UI Semibold"/>
              </a:rPr>
              <a:t>DEPORT</a:t>
            </a:r>
            <a:r>
              <a:rPr sz="1000" b="0" i="0">
                <a:solidFill>
                  <a:srgbClr val="475569"/>
                </a:solidFill>
                <a:latin typeface="Segoe UI"/>
              </a:rPr>
              <a:t>  ·  Disruption-Aware Logistics Decision Support</a:t>
            </a:r>
          </a:p>
        </p:txBody>
      </p:sp>
      <p:sp>
        <p:nvSpPr>
          <p:cNvPr id="8" name="TextBox 7"/>
          <p:cNvSpPr txBox="1"/>
          <p:nvPr/>
        </p:nvSpPr>
        <p:spPr>
          <a:xfrm>
            <a:off x="10725912" y="6464808"/>
            <a:ext cx="914400" cy="228600"/>
          </a:xfrm>
          <a:prstGeom prst="rect">
            <a:avLst/>
          </a:prstGeom>
          <a:noFill/>
        </p:spPr>
        <p:txBody>
          <a:bodyPr wrap="square" lIns="0" tIns="0" rIns="0" bIns="0" anchor="t">
            <a:spAutoFit/>
          </a:bodyPr>
          <a:lstStyle/>
          <a:p>
            <a:pPr algn="r">
              <a:lnSpc>
                <a:spcPct val="108000"/>
              </a:lnSpc>
              <a:spcAft>
                <a:spcPts val="400"/>
              </a:spcAft>
            </a:pPr>
            <a:r>
              <a:rPr sz="1000" b="0" i="0">
                <a:solidFill>
                  <a:srgbClr val="475569"/>
                </a:solidFill>
                <a:latin typeface="Segoe UI"/>
              </a:rPr>
              <a:t>12 / 17</a:t>
            </a:r>
          </a:p>
        </p:txBody>
      </p:sp>
      <p:sp>
        <p:nvSpPr>
          <p:cNvPr id="9" name="Rounded Rectangle 8"/>
          <p:cNvSpPr/>
          <p:nvPr/>
        </p:nvSpPr>
        <p:spPr>
          <a:xfrm>
            <a:off x="777240" y="1737360"/>
            <a:ext cx="5292547" cy="3959352"/>
          </a:xfrm>
          <a:prstGeom prst="roundRect">
            <a:avLst>
              <a:gd name="adj" fmla="val 3000"/>
            </a:avLst>
          </a:prstGeom>
          <a:solidFill>
            <a:srgbClr val="0F172A"/>
          </a:solidFill>
          <a:ln w="9525">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932688" y="1865376"/>
            <a:ext cx="91440" cy="91440"/>
          </a:xfrm>
          <a:prstGeom prst="ellipse">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1088136" y="1865376"/>
            <a:ext cx="91440" cy="91440"/>
          </a:xfrm>
          <a:prstGeom prst="ellipse">
            <a:avLst/>
          </a:prstGeom>
          <a:solidFill>
            <a:srgbClr val="FAC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1243584" y="1865376"/>
            <a:ext cx="91440" cy="91440"/>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super_overview.png"/>
          <p:cNvPicPr>
            <a:picLocks noChangeAspect="1"/>
          </p:cNvPicPr>
          <p:nvPr/>
        </p:nvPicPr>
        <p:blipFill>
          <a:blip r:embed="rId4"/>
          <a:stretch>
            <a:fillRect/>
          </a:stretch>
        </p:blipFill>
        <p:spPr>
          <a:xfrm>
            <a:off x="822960" y="2039112"/>
            <a:ext cx="5201107" cy="3611880"/>
          </a:xfrm>
          <a:prstGeom prst="rect">
            <a:avLst/>
          </a:prstGeom>
        </p:spPr>
      </p:pic>
      <p:sp>
        <p:nvSpPr>
          <p:cNvPr id="14" name="TextBox 13"/>
          <p:cNvSpPr txBox="1"/>
          <p:nvPr/>
        </p:nvSpPr>
        <p:spPr>
          <a:xfrm>
            <a:off x="822960" y="5806440"/>
            <a:ext cx="5394960" cy="457200"/>
          </a:xfrm>
          <a:prstGeom prst="rect">
            <a:avLst/>
          </a:prstGeom>
          <a:noFill/>
        </p:spPr>
        <p:txBody>
          <a:bodyPr wrap="square" lIns="0" tIns="0" rIns="0" bIns="0" anchor="t">
            <a:spAutoFit/>
          </a:bodyPr>
          <a:lstStyle/>
          <a:p>
            <a:pPr algn="l">
              <a:lnSpc>
                <a:spcPct val="108000"/>
              </a:lnSpc>
              <a:spcAft>
                <a:spcPts val="400"/>
              </a:spcAft>
            </a:pPr>
            <a:r>
              <a:rPr sz="1200" b="0" i="0">
                <a:solidFill>
                  <a:srgbClr val="475569"/>
                </a:solidFill>
                <a:latin typeface="Segoe UI"/>
              </a:rPr>
              <a:t>Super Admin overview: every branch at a glance (summary only).</a:t>
            </a:r>
          </a:p>
        </p:txBody>
      </p:sp>
      <p:sp>
        <p:nvSpPr>
          <p:cNvPr id="15" name="TextBox 14"/>
          <p:cNvSpPr txBox="1"/>
          <p:nvPr/>
        </p:nvSpPr>
        <p:spPr>
          <a:xfrm>
            <a:off x="6583680" y="1783080"/>
            <a:ext cx="411480" cy="411480"/>
          </a:xfrm>
          <a:prstGeom prst="rect">
            <a:avLst/>
          </a:prstGeom>
          <a:noFill/>
        </p:spPr>
        <p:txBody>
          <a:bodyPr wrap="square" lIns="0" tIns="0" rIns="0" bIns="0" anchor="t">
            <a:spAutoFit/>
          </a:bodyPr>
          <a:lstStyle/>
          <a:p>
            <a:pPr algn="l">
              <a:lnSpc>
                <a:spcPct val="108000"/>
              </a:lnSpc>
              <a:spcAft>
                <a:spcPts val="400"/>
              </a:spcAft>
            </a:pPr>
            <a:r>
              <a:rPr sz="1700" b="0" i="0">
                <a:solidFill>
                  <a:srgbClr val="0F172A"/>
                </a:solidFill>
                <a:latin typeface="Segoe UI Emoji"/>
              </a:rPr>
              <a:t>🔐</a:t>
            </a:r>
          </a:p>
        </p:txBody>
      </p:sp>
      <p:sp>
        <p:nvSpPr>
          <p:cNvPr id="16" name="TextBox 15"/>
          <p:cNvSpPr txBox="1"/>
          <p:nvPr/>
        </p:nvSpPr>
        <p:spPr>
          <a:xfrm>
            <a:off x="7040880" y="1783080"/>
            <a:ext cx="4572000" cy="685800"/>
          </a:xfrm>
          <a:prstGeom prst="rect">
            <a:avLst/>
          </a:prstGeom>
          <a:noFill/>
        </p:spPr>
        <p:txBody>
          <a:bodyPr wrap="square" lIns="0" tIns="0" rIns="0" bIns="0" anchor="t">
            <a:spAutoFit/>
          </a:bodyPr>
          <a:lstStyle/>
          <a:p>
            <a:pPr algn="l">
              <a:lnSpc>
                <a:spcPct val="108000"/>
              </a:lnSpc>
              <a:spcAft>
                <a:spcPts val="100"/>
              </a:spcAft>
            </a:pPr>
            <a:r>
              <a:rPr sz="1500" b="0" i="0">
                <a:solidFill>
                  <a:srgbClr val="0B1E3F"/>
                </a:solidFill>
                <a:latin typeface="Segoe UI Semibold"/>
              </a:rPr>
              <a:t>Passwords</a:t>
            </a:r>
          </a:p>
          <a:p>
            <a:pPr algn="l">
              <a:lnSpc>
                <a:spcPct val="108000"/>
              </a:lnSpc>
              <a:spcAft>
                <a:spcPts val="400"/>
              </a:spcAft>
            </a:pPr>
            <a:r>
              <a:rPr sz="1250" b="0" i="0">
                <a:solidFill>
                  <a:srgbClr val="475569"/>
                </a:solidFill>
                <a:latin typeface="Segoe UI"/>
              </a:rPr>
              <a:t>PBKDF2-SHA256, 200,000 rounds, unique salt</a:t>
            </a:r>
          </a:p>
        </p:txBody>
      </p:sp>
      <p:sp>
        <p:nvSpPr>
          <p:cNvPr id="17" name="TextBox 16"/>
          <p:cNvSpPr txBox="1"/>
          <p:nvPr/>
        </p:nvSpPr>
        <p:spPr>
          <a:xfrm>
            <a:off x="6583680" y="2496312"/>
            <a:ext cx="411480" cy="411480"/>
          </a:xfrm>
          <a:prstGeom prst="rect">
            <a:avLst/>
          </a:prstGeom>
          <a:noFill/>
        </p:spPr>
        <p:txBody>
          <a:bodyPr wrap="square" lIns="0" tIns="0" rIns="0" bIns="0" anchor="t">
            <a:spAutoFit/>
          </a:bodyPr>
          <a:lstStyle/>
          <a:p>
            <a:pPr algn="l">
              <a:lnSpc>
                <a:spcPct val="108000"/>
              </a:lnSpc>
              <a:spcAft>
                <a:spcPts val="400"/>
              </a:spcAft>
            </a:pPr>
            <a:r>
              <a:rPr sz="1700" b="0" i="0">
                <a:solidFill>
                  <a:srgbClr val="0F172A"/>
                </a:solidFill>
                <a:latin typeface="Segoe UI Emoji"/>
              </a:rPr>
              <a:t>🎟️</a:t>
            </a:r>
          </a:p>
        </p:txBody>
      </p:sp>
      <p:sp>
        <p:nvSpPr>
          <p:cNvPr id="18" name="TextBox 17"/>
          <p:cNvSpPr txBox="1"/>
          <p:nvPr/>
        </p:nvSpPr>
        <p:spPr>
          <a:xfrm>
            <a:off x="7040880" y="2496312"/>
            <a:ext cx="4572000" cy="685800"/>
          </a:xfrm>
          <a:prstGeom prst="rect">
            <a:avLst/>
          </a:prstGeom>
          <a:noFill/>
        </p:spPr>
        <p:txBody>
          <a:bodyPr wrap="square" lIns="0" tIns="0" rIns="0" bIns="0" anchor="t">
            <a:spAutoFit/>
          </a:bodyPr>
          <a:lstStyle/>
          <a:p>
            <a:pPr algn="l">
              <a:lnSpc>
                <a:spcPct val="108000"/>
              </a:lnSpc>
              <a:spcAft>
                <a:spcPts val="100"/>
              </a:spcAft>
            </a:pPr>
            <a:r>
              <a:rPr sz="1500" b="0" i="0">
                <a:solidFill>
                  <a:srgbClr val="0B1E3F"/>
                </a:solidFill>
                <a:latin typeface="Segoe UI Semibold"/>
              </a:rPr>
              <a:t>Sessions</a:t>
            </a:r>
          </a:p>
          <a:p>
            <a:pPr algn="l">
              <a:lnSpc>
                <a:spcPct val="108000"/>
              </a:lnSpc>
              <a:spcAft>
                <a:spcPts val="400"/>
              </a:spcAft>
            </a:pPr>
            <a:r>
              <a:rPr sz="1250" b="0" i="0">
                <a:solidFill>
                  <a:srgbClr val="475569"/>
                </a:solidFill>
                <a:latin typeface="Segoe UI"/>
              </a:rPr>
              <a:t>random token, only its hash is stored; sign-out revokes it</a:t>
            </a:r>
          </a:p>
        </p:txBody>
      </p:sp>
      <p:sp>
        <p:nvSpPr>
          <p:cNvPr id="19" name="TextBox 18"/>
          <p:cNvSpPr txBox="1"/>
          <p:nvPr/>
        </p:nvSpPr>
        <p:spPr>
          <a:xfrm>
            <a:off x="6583680" y="3209544"/>
            <a:ext cx="411480" cy="411480"/>
          </a:xfrm>
          <a:prstGeom prst="rect">
            <a:avLst/>
          </a:prstGeom>
          <a:noFill/>
        </p:spPr>
        <p:txBody>
          <a:bodyPr wrap="square" lIns="0" tIns="0" rIns="0" bIns="0" anchor="t">
            <a:spAutoFit/>
          </a:bodyPr>
          <a:lstStyle/>
          <a:p>
            <a:pPr algn="l">
              <a:lnSpc>
                <a:spcPct val="108000"/>
              </a:lnSpc>
              <a:spcAft>
                <a:spcPts val="400"/>
              </a:spcAft>
            </a:pPr>
            <a:r>
              <a:rPr sz="1700" b="0" i="0">
                <a:solidFill>
                  <a:srgbClr val="0F172A"/>
                </a:solidFill>
                <a:latin typeface="Segoe UI Emoji"/>
              </a:rPr>
              <a:t>🚦</a:t>
            </a:r>
          </a:p>
        </p:txBody>
      </p:sp>
      <p:sp>
        <p:nvSpPr>
          <p:cNvPr id="20" name="TextBox 19"/>
          <p:cNvSpPr txBox="1"/>
          <p:nvPr/>
        </p:nvSpPr>
        <p:spPr>
          <a:xfrm>
            <a:off x="7040880" y="3209544"/>
            <a:ext cx="4572000" cy="685800"/>
          </a:xfrm>
          <a:prstGeom prst="rect">
            <a:avLst/>
          </a:prstGeom>
          <a:noFill/>
        </p:spPr>
        <p:txBody>
          <a:bodyPr wrap="square" lIns="0" tIns="0" rIns="0" bIns="0" anchor="t">
            <a:spAutoFit/>
          </a:bodyPr>
          <a:lstStyle/>
          <a:p>
            <a:pPr algn="l">
              <a:lnSpc>
                <a:spcPct val="108000"/>
              </a:lnSpc>
              <a:spcAft>
                <a:spcPts val="100"/>
              </a:spcAft>
            </a:pPr>
            <a:r>
              <a:rPr sz="1500" b="0" i="0">
                <a:solidFill>
                  <a:srgbClr val="0B1E3F"/>
                </a:solidFill>
                <a:latin typeface="Segoe UI Semibold"/>
              </a:rPr>
              <a:t>Lockout</a:t>
            </a:r>
          </a:p>
          <a:p>
            <a:pPr algn="l">
              <a:lnSpc>
                <a:spcPct val="108000"/>
              </a:lnSpc>
              <a:spcAft>
                <a:spcPts val="400"/>
              </a:spcAft>
            </a:pPr>
            <a:r>
              <a:rPr sz="1250" b="0" i="0">
                <a:solidFill>
                  <a:srgbClr val="475569"/>
                </a:solidFill>
                <a:latin typeface="Segoe UI"/>
              </a:rPr>
              <a:t>5 wrong tries → wait 2 minutes</a:t>
            </a:r>
          </a:p>
        </p:txBody>
      </p:sp>
      <p:sp>
        <p:nvSpPr>
          <p:cNvPr id="21" name="TextBox 20"/>
          <p:cNvSpPr txBox="1"/>
          <p:nvPr/>
        </p:nvSpPr>
        <p:spPr>
          <a:xfrm>
            <a:off x="6583680" y="3922776"/>
            <a:ext cx="411480" cy="411480"/>
          </a:xfrm>
          <a:prstGeom prst="rect">
            <a:avLst/>
          </a:prstGeom>
          <a:noFill/>
        </p:spPr>
        <p:txBody>
          <a:bodyPr wrap="square" lIns="0" tIns="0" rIns="0" bIns="0" anchor="t">
            <a:spAutoFit/>
          </a:bodyPr>
          <a:lstStyle/>
          <a:p>
            <a:pPr algn="l">
              <a:lnSpc>
                <a:spcPct val="108000"/>
              </a:lnSpc>
              <a:spcAft>
                <a:spcPts val="400"/>
              </a:spcAft>
            </a:pPr>
            <a:r>
              <a:rPr sz="1700" b="0" i="0">
                <a:solidFill>
                  <a:srgbClr val="0F172A"/>
                </a:solidFill>
                <a:latin typeface="Segoe UI Emoji"/>
              </a:rPr>
              <a:t>🏢</a:t>
            </a:r>
          </a:p>
        </p:txBody>
      </p:sp>
      <p:sp>
        <p:nvSpPr>
          <p:cNvPr id="22" name="TextBox 21"/>
          <p:cNvSpPr txBox="1"/>
          <p:nvPr/>
        </p:nvSpPr>
        <p:spPr>
          <a:xfrm>
            <a:off x="7040880" y="3922776"/>
            <a:ext cx="4572000" cy="685800"/>
          </a:xfrm>
          <a:prstGeom prst="rect">
            <a:avLst/>
          </a:prstGeom>
          <a:noFill/>
        </p:spPr>
        <p:txBody>
          <a:bodyPr wrap="square" lIns="0" tIns="0" rIns="0" bIns="0" anchor="t">
            <a:spAutoFit/>
          </a:bodyPr>
          <a:lstStyle/>
          <a:p>
            <a:pPr algn="l">
              <a:lnSpc>
                <a:spcPct val="108000"/>
              </a:lnSpc>
              <a:spcAft>
                <a:spcPts val="100"/>
              </a:spcAft>
            </a:pPr>
            <a:r>
              <a:rPr sz="1500" b="0" i="0">
                <a:solidFill>
                  <a:srgbClr val="0B1E3F"/>
                </a:solidFill>
                <a:latin typeface="Segoe UI Semibold"/>
              </a:rPr>
              <a:t>Branch walls</a:t>
            </a:r>
          </a:p>
          <a:p>
            <a:pPr algn="l">
              <a:lnSpc>
                <a:spcPct val="108000"/>
              </a:lnSpc>
              <a:spcAft>
                <a:spcPts val="400"/>
              </a:spcAft>
            </a:pPr>
            <a:r>
              <a:rPr sz="1250" b="0" i="0">
                <a:solidFill>
                  <a:srgbClr val="475569"/>
                </a:solidFill>
                <a:latin typeface="Segoe UI"/>
              </a:rPr>
              <a:t>admins see only their branch – checked in server code</a:t>
            </a:r>
          </a:p>
        </p:txBody>
      </p:sp>
      <p:sp>
        <p:nvSpPr>
          <p:cNvPr id="23" name="TextBox 22"/>
          <p:cNvSpPr txBox="1"/>
          <p:nvPr/>
        </p:nvSpPr>
        <p:spPr>
          <a:xfrm>
            <a:off x="6583680" y="4636008"/>
            <a:ext cx="411480" cy="411480"/>
          </a:xfrm>
          <a:prstGeom prst="rect">
            <a:avLst/>
          </a:prstGeom>
          <a:noFill/>
        </p:spPr>
        <p:txBody>
          <a:bodyPr wrap="square" lIns="0" tIns="0" rIns="0" bIns="0" anchor="t">
            <a:spAutoFit/>
          </a:bodyPr>
          <a:lstStyle/>
          <a:p>
            <a:pPr algn="l">
              <a:lnSpc>
                <a:spcPct val="108000"/>
              </a:lnSpc>
              <a:spcAft>
                <a:spcPts val="400"/>
              </a:spcAft>
            </a:pPr>
            <a:r>
              <a:rPr sz="1700" b="0" i="0">
                <a:solidFill>
                  <a:srgbClr val="0F172A"/>
                </a:solidFill>
                <a:latin typeface="Segoe UI Emoji"/>
              </a:rPr>
              <a:t>📜</a:t>
            </a:r>
          </a:p>
        </p:txBody>
      </p:sp>
      <p:sp>
        <p:nvSpPr>
          <p:cNvPr id="24" name="TextBox 23"/>
          <p:cNvSpPr txBox="1"/>
          <p:nvPr/>
        </p:nvSpPr>
        <p:spPr>
          <a:xfrm>
            <a:off x="7040880" y="4636008"/>
            <a:ext cx="4572000" cy="685800"/>
          </a:xfrm>
          <a:prstGeom prst="rect">
            <a:avLst/>
          </a:prstGeom>
          <a:noFill/>
        </p:spPr>
        <p:txBody>
          <a:bodyPr wrap="square" lIns="0" tIns="0" rIns="0" bIns="0" anchor="t">
            <a:spAutoFit/>
          </a:bodyPr>
          <a:lstStyle/>
          <a:p>
            <a:pPr algn="l">
              <a:lnSpc>
                <a:spcPct val="108000"/>
              </a:lnSpc>
              <a:spcAft>
                <a:spcPts val="100"/>
              </a:spcAft>
            </a:pPr>
            <a:r>
              <a:rPr sz="1500" b="0" i="0">
                <a:solidFill>
                  <a:srgbClr val="0B1E3F"/>
                </a:solidFill>
                <a:latin typeface="Segoe UI Semibold"/>
              </a:rPr>
              <a:t>Audit log</a:t>
            </a:r>
          </a:p>
          <a:p>
            <a:pPr algn="l">
              <a:lnSpc>
                <a:spcPct val="108000"/>
              </a:lnSpc>
              <a:spcAft>
                <a:spcPts val="400"/>
              </a:spcAft>
            </a:pPr>
            <a:r>
              <a:rPr sz="1250" b="0" i="0">
                <a:solidFill>
                  <a:srgbClr val="475569"/>
                </a:solidFill>
                <a:latin typeface="Segoe UI"/>
              </a:rPr>
              <a:t>every sign-in and admin action is recorded</a:t>
            </a:r>
          </a:p>
        </p:txBody>
      </p:sp>
      <p:sp>
        <p:nvSpPr>
          <p:cNvPr id="25" name="TextBox 24"/>
          <p:cNvSpPr txBox="1"/>
          <p:nvPr/>
        </p:nvSpPr>
        <p:spPr>
          <a:xfrm>
            <a:off x="6583680" y="5349240"/>
            <a:ext cx="411480" cy="411480"/>
          </a:xfrm>
          <a:prstGeom prst="rect">
            <a:avLst/>
          </a:prstGeom>
          <a:noFill/>
        </p:spPr>
        <p:txBody>
          <a:bodyPr wrap="square" lIns="0" tIns="0" rIns="0" bIns="0" anchor="t">
            <a:spAutoFit/>
          </a:bodyPr>
          <a:lstStyle/>
          <a:p>
            <a:pPr algn="l">
              <a:lnSpc>
                <a:spcPct val="108000"/>
              </a:lnSpc>
              <a:spcAft>
                <a:spcPts val="400"/>
              </a:spcAft>
            </a:pPr>
            <a:r>
              <a:rPr sz="1700" b="0" i="0">
                <a:solidFill>
                  <a:srgbClr val="0F172A"/>
                </a:solidFill>
                <a:latin typeface="Segoe UI Emoji"/>
              </a:rPr>
              <a:t>💾</a:t>
            </a:r>
          </a:p>
        </p:txBody>
      </p:sp>
      <p:sp>
        <p:nvSpPr>
          <p:cNvPr id="26" name="TextBox 25"/>
          <p:cNvSpPr txBox="1"/>
          <p:nvPr/>
        </p:nvSpPr>
        <p:spPr>
          <a:xfrm>
            <a:off x="7040880" y="5349240"/>
            <a:ext cx="4572000" cy="685800"/>
          </a:xfrm>
          <a:prstGeom prst="rect">
            <a:avLst/>
          </a:prstGeom>
          <a:noFill/>
        </p:spPr>
        <p:txBody>
          <a:bodyPr wrap="square" lIns="0" tIns="0" rIns="0" bIns="0" anchor="t">
            <a:spAutoFit/>
          </a:bodyPr>
          <a:lstStyle/>
          <a:p>
            <a:pPr algn="l">
              <a:lnSpc>
                <a:spcPct val="108000"/>
              </a:lnSpc>
              <a:spcAft>
                <a:spcPts val="100"/>
              </a:spcAft>
            </a:pPr>
            <a:r>
              <a:rPr sz="1500" b="0" i="0">
                <a:solidFill>
                  <a:srgbClr val="0B1E3F"/>
                </a:solidFill>
                <a:latin typeface="Segoe UI Semibold"/>
              </a:rPr>
              <a:t>No data loss</a:t>
            </a:r>
          </a:p>
          <a:p>
            <a:pPr algn="l">
              <a:lnSpc>
                <a:spcPct val="108000"/>
              </a:lnSpc>
              <a:spcAft>
                <a:spcPts val="400"/>
              </a:spcAft>
            </a:pPr>
            <a:r>
              <a:rPr sz="1250" b="0" i="0">
                <a:solidFill>
                  <a:srgbClr val="475569"/>
                </a:solidFill>
                <a:latin typeface="Segoe UI"/>
              </a:rPr>
              <a:t>one database file, backup before any reset, drafts saved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502920"/>
            <a:ext cx="82296" cy="896112"/>
          </a:xfrm>
          <a:prstGeom prst="roundRect">
            <a:avLst>
              <a:gd name="adj" fmla="val 50000"/>
            </a:avLst>
          </a:prstGeom>
          <a:gradFill rotWithShape="1">
            <a:gsLst>
              <a:gs pos="0">
                <a:srgbClr val="2563EB"/>
              </a:gs>
              <a:gs pos="100000">
                <a:srgbClr val="7C3AED"/>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04672" y="429768"/>
            <a:ext cx="9601200" cy="274320"/>
          </a:xfrm>
          <a:prstGeom prst="rect">
            <a:avLst/>
          </a:prstGeom>
          <a:noFill/>
        </p:spPr>
        <p:txBody>
          <a:bodyPr wrap="square" lIns="0" tIns="0" rIns="0" bIns="0" anchor="t">
            <a:spAutoFit/>
          </a:bodyPr>
          <a:lstStyle/>
          <a:p>
            <a:pPr algn="l">
              <a:lnSpc>
                <a:spcPct val="108000"/>
              </a:lnSpc>
              <a:spcAft>
                <a:spcPts val="400"/>
              </a:spcAft>
            </a:pPr>
            <a:r>
              <a:rPr sz="1100" b="0" i="0" spc="200">
                <a:solidFill>
                  <a:srgbClr val="2563EB"/>
                </a:solidFill>
                <a:latin typeface="Segoe UI Semibold"/>
              </a:rPr>
              <a:t>TECHNOLOGY</a:t>
            </a:r>
          </a:p>
        </p:txBody>
      </p:sp>
      <p:sp>
        <p:nvSpPr>
          <p:cNvPr id="4" name="TextBox 3"/>
          <p:cNvSpPr txBox="1"/>
          <p:nvPr/>
        </p:nvSpPr>
        <p:spPr>
          <a:xfrm>
            <a:off x="804672" y="676656"/>
            <a:ext cx="9875520" cy="566928"/>
          </a:xfrm>
          <a:prstGeom prst="rect">
            <a:avLst/>
          </a:prstGeom>
          <a:noFill/>
        </p:spPr>
        <p:txBody>
          <a:bodyPr wrap="square" lIns="0" tIns="0" rIns="0" bIns="0" anchor="t">
            <a:spAutoFit/>
          </a:bodyPr>
          <a:lstStyle/>
          <a:p>
            <a:pPr algn="l">
              <a:lnSpc>
                <a:spcPct val="100000"/>
              </a:lnSpc>
              <a:spcAft>
                <a:spcPts val="400"/>
              </a:spcAft>
            </a:pPr>
            <a:r>
              <a:rPr sz="3000" b="0" i="0">
                <a:solidFill>
                  <a:srgbClr val="0B1E3F"/>
                </a:solidFill>
                <a:latin typeface="Segoe UI Semibold"/>
              </a:rPr>
              <a:t>Built with simple, reliable tools</a:t>
            </a:r>
          </a:p>
        </p:txBody>
      </p:sp>
      <p:pic>
        <p:nvPicPr>
          <p:cNvPr id="5" name="Picture 4" descr="logo_512.png"/>
          <p:cNvPicPr>
            <a:picLocks noChangeAspect="1"/>
          </p:cNvPicPr>
          <p:nvPr/>
        </p:nvPicPr>
        <p:blipFill>
          <a:blip r:embed="rId3"/>
          <a:stretch>
            <a:fillRect/>
          </a:stretch>
        </p:blipFill>
        <p:spPr>
          <a:xfrm>
            <a:off x="11137392" y="475488"/>
            <a:ext cx="475488" cy="475488"/>
          </a:xfrm>
          <a:prstGeom prst="rect">
            <a:avLst/>
          </a:prstGeom>
        </p:spPr>
      </p:pic>
      <p:sp>
        <p:nvSpPr>
          <p:cNvPr id="6" name="Rectangle 5"/>
          <p:cNvSpPr/>
          <p:nvPr/>
        </p:nvSpPr>
        <p:spPr>
          <a:xfrm>
            <a:off x="548640" y="6400800"/>
            <a:ext cx="11091672"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6464808"/>
            <a:ext cx="7315200" cy="228600"/>
          </a:xfrm>
          <a:prstGeom prst="rect">
            <a:avLst/>
          </a:prstGeom>
          <a:noFill/>
        </p:spPr>
        <p:txBody>
          <a:bodyPr wrap="square" lIns="0" tIns="0" rIns="0" bIns="0" anchor="t">
            <a:spAutoFit/>
          </a:bodyPr>
          <a:lstStyle/>
          <a:p>
            <a:pPr algn="l">
              <a:lnSpc>
                <a:spcPct val="108000"/>
              </a:lnSpc>
              <a:spcAft>
                <a:spcPts val="400"/>
              </a:spcAft>
            </a:pPr>
            <a:r>
              <a:rPr sz="1000" b="0" i="0" spc="150">
                <a:solidFill>
                  <a:srgbClr val="0B1E3F"/>
                </a:solidFill>
                <a:latin typeface="Segoe UI Semibold"/>
              </a:rPr>
              <a:t>DEPORT</a:t>
            </a:r>
            <a:r>
              <a:rPr sz="1000" b="0" i="0">
                <a:solidFill>
                  <a:srgbClr val="475569"/>
                </a:solidFill>
                <a:latin typeface="Segoe UI"/>
              </a:rPr>
              <a:t>  ·  Disruption-Aware Logistics Decision Support</a:t>
            </a:r>
          </a:p>
        </p:txBody>
      </p:sp>
      <p:sp>
        <p:nvSpPr>
          <p:cNvPr id="8" name="TextBox 7"/>
          <p:cNvSpPr txBox="1"/>
          <p:nvPr/>
        </p:nvSpPr>
        <p:spPr>
          <a:xfrm>
            <a:off x="10725912" y="6464808"/>
            <a:ext cx="914400" cy="228600"/>
          </a:xfrm>
          <a:prstGeom prst="rect">
            <a:avLst/>
          </a:prstGeom>
          <a:noFill/>
        </p:spPr>
        <p:txBody>
          <a:bodyPr wrap="square" lIns="0" tIns="0" rIns="0" bIns="0" anchor="t">
            <a:spAutoFit/>
          </a:bodyPr>
          <a:lstStyle/>
          <a:p>
            <a:pPr algn="r">
              <a:lnSpc>
                <a:spcPct val="108000"/>
              </a:lnSpc>
              <a:spcAft>
                <a:spcPts val="400"/>
              </a:spcAft>
            </a:pPr>
            <a:r>
              <a:rPr sz="1000" b="0" i="0">
                <a:solidFill>
                  <a:srgbClr val="475569"/>
                </a:solidFill>
                <a:latin typeface="Segoe UI"/>
              </a:rPr>
              <a:t>13 / 17</a:t>
            </a:r>
          </a:p>
        </p:txBody>
      </p:sp>
      <p:sp>
        <p:nvSpPr>
          <p:cNvPr id="9" name="Rounded Rectangle 8"/>
          <p:cNvSpPr/>
          <p:nvPr/>
        </p:nvSpPr>
        <p:spPr>
          <a:xfrm>
            <a:off x="777240" y="1783080"/>
            <a:ext cx="2560320" cy="178308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1033271" y="2039112"/>
            <a:ext cx="566928" cy="566928"/>
          </a:xfrm>
          <a:prstGeom prst="ellipse">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900" b="0">
                <a:solidFill>
                  <a:srgbClr val="0F172A"/>
                </a:solidFill>
                <a:latin typeface="Segoe UI Emoji"/>
              </a:rPr>
              <a:t>🐍</a:t>
            </a:r>
          </a:p>
        </p:txBody>
      </p:sp>
      <p:sp>
        <p:nvSpPr>
          <p:cNvPr id="11" name="TextBox 10"/>
          <p:cNvSpPr txBox="1"/>
          <p:nvPr/>
        </p:nvSpPr>
        <p:spPr>
          <a:xfrm>
            <a:off x="1033271" y="2697480"/>
            <a:ext cx="2194560" cy="365760"/>
          </a:xfrm>
          <a:prstGeom prst="rect">
            <a:avLst/>
          </a:prstGeom>
          <a:noFill/>
        </p:spPr>
        <p:txBody>
          <a:bodyPr wrap="square" lIns="0" tIns="0" rIns="0" bIns="0" anchor="t">
            <a:spAutoFit/>
          </a:bodyPr>
          <a:lstStyle/>
          <a:p>
            <a:pPr algn="l">
              <a:lnSpc>
                <a:spcPct val="108000"/>
              </a:lnSpc>
              <a:spcAft>
                <a:spcPts val="400"/>
              </a:spcAft>
            </a:pPr>
            <a:r>
              <a:rPr sz="1550" b="0" i="0">
                <a:solidFill>
                  <a:srgbClr val="0B1E3F"/>
                </a:solidFill>
                <a:latin typeface="Segoe UI Semibold"/>
              </a:rPr>
              <a:t>Python + Streamlit</a:t>
            </a:r>
          </a:p>
        </p:txBody>
      </p:sp>
      <p:sp>
        <p:nvSpPr>
          <p:cNvPr id="12" name="TextBox 11"/>
          <p:cNvSpPr txBox="1"/>
          <p:nvPr/>
        </p:nvSpPr>
        <p:spPr>
          <a:xfrm>
            <a:off x="1033271" y="3063239"/>
            <a:ext cx="2194560" cy="457200"/>
          </a:xfrm>
          <a:prstGeom prst="rect">
            <a:avLst/>
          </a:prstGeom>
          <a:noFill/>
        </p:spPr>
        <p:txBody>
          <a:bodyPr wrap="square" lIns="0" tIns="0" rIns="0" bIns="0" anchor="t">
            <a:spAutoFit/>
          </a:bodyPr>
          <a:lstStyle/>
          <a:p>
            <a:pPr algn="l">
              <a:lnSpc>
                <a:spcPct val="108000"/>
              </a:lnSpc>
              <a:spcAft>
                <a:spcPts val="400"/>
              </a:spcAft>
            </a:pPr>
            <a:r>
              <a:rPr sz="1250" b="0" i="0">
                <a:solidFill>
                  <a:srgbClr val="475569"/>
                </a:solidFill>
                <a:latin typeface="Segoe UI"/>
              </a:rPr>
              <a:t>Web app for laptop and phone</a:t>
            </a:r>
          </a:p>
        </p:txBody>
      </p:sp>
      <p:sp>
        <p:nvSpPr>
          <p:cNvPr id="13" name="Rounded Rectangle 12"/>
          <p:cNvSpPr/>
          <p:nvPr/>
        </p:nvSpPr>
        <p:spPr>
          <a:xfrm>
            <a:off x="3520440" y="1783080"/>
            <a:ext cx="2560320" cy="178308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3776472" y="2039112"/>
            <a:ext cx="566928" cy="566928"/>
          </a:xfrm>
          <a:prstGeom prst="ellipse">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900" b="0">
                <a:solidFill>
                  <a:srgbClr val="0F172A"/>
                </a:solidFill>
                <a:latin typeface="Segoe UI Emoji"/>
              </a:rPr>
              <a:t>🗄️</a:t>
            </a:r>
          </a:p>
        </p:txBody>
      </p:sp>
      <p:sp>
        <p:nvSpPr>
          <p:cNvPr id="15" name="TextBox 14"/>
          <p:cNvSpPr txBox="1"/>
          <p:nvPr/>
        </p:nvSpPr>
        <p:spPr>
          <a:xfrm>
            <a:off x="3776472" y="2697480"/>
            <a:ext cx="2194560" cy="365760"/>
          </a:xfrm>
          <a:prstGeom prst="rect">
            <a:avLst/>
          </a:prstGeom>
          <a:noFill/>
        </p:spPr>
        <p:txBody>
          <a:bodyPr wrap="square" lIns="0" tIns="0" rIns="0" bIns="0" anchor="t">
            <a:spAutoFit/>
          </a:bodyPr>
          <a:lstStyle/>
          <a:p>
            <a:pPr algn="l">
              <a:lnSpc>
                <a:spcPct val="108000"/>
              </a:lnSpc>
              <a:spcAft>
                <a:spcPts val="400"/>
              </a:spcAft>
            </a:pPr>
            <a:r>
              <a:rPr sz="1550" b="0" i="0">
                <a:solidFill>
                  <a:srgbClr val="0B1E3F"/>
                </a:solidFill>
                <a:latin typeface="Segoe UI Semibold"/>
              </a:rPr>
              <a:t>SQLite (WAL)</a:t>
            </a:r>
          </a:p>
        </p:txBody>
      </p:sp>
      <p:sp>
        <p:nvSpPr>
          <p:cNvPr id="16" name="TextBox 15"/>
          <p:cNvSpPr txBox="1"/>
          <p:nvPr/>
        </p:nvSpPr>
        <p:spPr>
          <a:xfrm>
            <a:off x="3776472" y="3063239"/>
            <a:ext cx="2194560" cy="457200"/>
          </a:xfrm>
          <a:prstGeom prst="rect">
            <a:avLst/>
          </a:prstGeom>
          <a:noFill/>
        </p:spPr>
        <p:txBody>
          <a:bodyPr wrap="square" lIns="0" tIns="0" rIns="0" bIns="0" anchor="t">
            <a:spAutoFit/>
          </a:bodyPr>
          <a:lstStyle/>
          <a:p>
            <a:pPr algn="l">
              <a:lnSpc>
                <a:spcPct val="108000"/>
              </a:lnSpc>
              <a:spcAft>
                <a:spcPts val="400"/>
              </a:spcAft>
            </a:pPr>
            <a:r>
              <a:rPr sz="1250" b="0" i="0">
                <a:solidFill>
                  <a:srgbClr val="475569"/>
                </a:solidFill>
                <a:latin typeface="Segoe UI"/>
              </a:rPr>
              <a:t>One database file, safe writes</a:t>
            </a:r>
          </a:p>
        </p:txBody>
      </p:sp>
      <p:sp>
        <p:nvSpPr>
          <p:cNvPr id="17" name="Rounded Rectangle 16"/>
          <p:cNvSpPr/>
          <p:nvPr/>
        </p:nvSpPr>
        <p:spPr>
          <a:xfrm>
            <a:off x="6263640" y="1783080"/>
            <a:ext cx="2560320" cy="178308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519672" y="2039112"/>
            <a:ext cx="566928" cy="566928"/>
          </a:xfrm>
          <a:prstGeom prst="ellipse">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900" b="0">
                <a:solidFill>
                  <a:srgbClr val="0F172A"/>
                </a:solidFill>
                <a:latin typeface="Segoe UI Emoji"/>
              </a:rPr>
              <a:t>🎙️</a:t>
            </a:r>
          </a:p>
        </p:txBody>
      </p:sp>
      <p:sp>
        <p:nvSpPr>
          <p:cNvPr id="19" name="TextBox 18"/>
          <p:cNvSpPr txBox="1"/>
          <p:nvPr/>
        </p:nvSpPr>
        <p:spPr>
          <a:xfrm>
            <a:off x="6519672" y="2697480"/>
            <a:ext cx="2194560" cy="365760"/>
          </a:xfrm>
          <a:prstGeom prst="rect">
            <a:avLst/>
          </a:prstGeom>
          <a:noFill/>
        </p:spPr>
        <p:txBody>
          <a:bodyPr wrap="square" lIns="0" tIns="0" rIns="0" bIns="0" anchor="t">
            <a:spAutoFit/>
          </a:bodyPr>
          <a:lstStyle/>
          <a:p>
            <a:pPr algn="l">
              <a:lnSpc>
                <a:spcPct val="108000"/>
              </a:lnSpc>
              <a:spcAft>
                <a:spcPts val="400"/>
              </a:spcAft>
            </a:pPr>
            <a:r>
              <a:rPr sz="1550" b="0" i="0">
                <a:solidFill>
                  <a:srgbClr val="0B1E3F"/>
                </a:solidFill>
                <a:latin typeface="Segoe UI Semibold"/>
              </a:rPr>
              <a:t>Whisper + LLM (Groq)</a:t>
            </a:r>
          </a:p>
        </p:txBody>
      </p:sp>
      <p:sp>
        <p:nvSpPr>
          <p:cNvPr id="20" name="TextBox 19"/>
          <p:cNvSpPr txBox="1"/>
          <p:nvPr/>
        </p:nvSpPr>
        <p:spPr>
          <a:xfrm>
            <a:off x="6519672" y="3063239"/>
            <a:ext cx="2194560" cy="457200"/>
          </a:xfrm>
          <a:prstGeom prst="rect">
            <a:avLst/>
          </a:prstGeom>
          <a:noFill/>
        </p:spPr>
        <p:txBody>
          <a:bodyPr wrap="square" lIns="0" tIns="0" rIns="0" bIns="0" anchor="t">
            <a:spAutoFit/>
          </a:bodyPr>
          <a:lstStyle/>
          <a:p>
            <a:pPr algn="l">
              <a:lnSpc>
                <a:spcPct val="108000"/>
              </a:lnSpc>
              <a:spcAft>
                <a:spcPts val="400"/>
              </a:spcAft>
            </a:pPr>
            <a:r>
              <a:rPr sz="1250" b="0" i="0">
                <a:solidFill>
                  <a:srgbClr val="475569"/>
                </a:solidFill>
                <a:latin typeface="Segoe UI"/>
              </a:rPr>
              <a:t>Voice to text and smarter understanding</a:t>
            </a:r>
          </a:p>
        </p:txBody>
      </p:sp>
      <p:sp>
        <p:nvSpPr>
          <p:cNvPr id="21" name="Rounded Rectangle 20"/>
          <p:cNvSpPr/>
          <p:nvPr/>
        </p:nvSpPr>
        <p:spPr>
          <a:xfrm>
            <a:off x="9006840" y="1783080"/>
            <a:ext cx="2560320" cy="178308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9262872" y="2039112"/>
            <a:ext cx="566928" cy="566928"/>
          </a:xfrm>
          <a:prstGeom prst="ellipse">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900" b="0">
                <a:solidFill>
                  <a:srgbClr val="0F172A"/>
                </a:solidFill>
                <a:latin typeface="Segoe UI Emoji"/>
              </a:rPr>
              <a:t>🔎</a:t>
            </a:r>
          </a:p>
        </p:txBody>
      </p:sp>
      <p:sp>
        <p:nvSpPr>
          <p:cNvPr id="23" name="TextBox 22"/>
          <p:cNvSpPr txBox="1"/>
          <p:nvPr/>
        </p:nvSpPr>
        <p:spPr>
          <a:xfrm>
            <a:off x="9262872" y="2697480"/>
            <a:ext cx="2194560" cy="365760"/>
          </a:xfrm>
          <a:prstGeom prst="rect">
            <a:avLst/>
          </a:prstGeom>
          <a:noFill/>
        </p:spPr>
        <p:txBody>
          <a:bodyPr wrap="square" lIns="0" tIns="0" rIns="0" bIns="0" anchor="t">
            <a:spAutoFit/>
          </a:bodyPr>
          <a:lstStyle/>
          <a:p>
            <a:pPr algn="l">
              <a:lnSpc>
                <a:spcPct val="108000"/>
              </a:lnSpc>
              <a:spcAft>
                <a:spcPts val="400"/>
              </a:spcAft>
            </a:pPr>
            <a:r>
              <a:rPr sz="1550" b="0" i="0">
                <a:solidFill>
                  <a:srgbClr val="0B1E3F"/>
                </a:solidFill>
                <a:latin typeface="Segoe UI Semibold"/>
              </a:rPr>
              <a:t>RapidFuzz</a:t>
            </a:r>
          </a:p>
        </p:txBody>
      </p:sp>
      <p:sp>
        <p:nvSpPr>
          <p:cNvPr id="24" name="TextBox 23"/>
          <p:cNvSpPr txBox="1"/>
          <p:nvPr/>
        </p:nvSpPr>
        <p:spPr>
          <a:xfrm>
            <a:off x="9262872" y="3063239"/>
            <a:ext cx="2194560" cy="457200"/>
          </a:xfrm>
          <a:prstGeom prst="rect">
            <a:avLst/>
          </a:prstGeom>
          <a:noFill/>
        </p:spPr>
        <p:txBody>
          <a:bodyPr wrap="square" lIns="0" tIns="0" rIns="0" bIns="0" anchor="t">
            <a:spAutoFit/>
          </a:bodyPr>
          <a:lstStyle/>
          <a:p>
            <a:pPr algn="l">
              <a:lnSpc>
                <a:spcPct val="108000"/>
              </a:lnSpc>
              <a:spcAft>
                <a:spcPts val="400"/>
              </a:spcAft>
            </a:pPr>
            <a:r>
              <a:rPr sz="1250" b="0" i="0">
                <a:solidFill>
                  <a:srgbClr val="475569"/>
                </a:solidFill>
                <a:latin typeface="Segoe UI"/>
              </a:rPr>
              <a:t>Finds places even with typos</a:t>
            </a:r>
          </a:p>
        </p:txBody>
      </p:sp>
      <p:sp>
        <p:nvSpPr>
          <p:cNvPr id="25" name="Rounded Rectangle 24"/>
          <p:cNvSpPr/>
          <p:nvPr/>
        </p:nvSpPr>
        <p:spPr>
          <a:xfrm>
            <a:off x="777240" y="3749039"/>
            <a:ext cx="2560320" cy="178308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1033271" y="4005072"/>
            <a:ext cx="566928" cy="566928"/>
          </a:xfrm>
          <a:prstGeom prst="ellipse">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900" b="0">
                <a:solidFill>
                  <a:srgbClr val="0F172A"/>
                </a:solidFill>
                <a:latin typeface="Segoe UI Emoji"/>
              </a:rPr>
              <a:t>🗺️</a:t>
            </a:r>
          </a:p>
        </p:txBody>
      </p:sp>
      <p:sp>
        <p:nvSpPr>
          <p:cNvPr id="27" name="TextBox 26"/>
          <p:cNvSpPr txBox="1"/>
          <p:nvPr/>
        </p:nvSpPr>
        <p:spPr>
          <a:xfrm>
            <a:off x="1033271" y="4663440"/>
            <a:ext cx="2194560" cy="365760"/>
          </a:xfrm>
          <a:prstGeom prst="rect">
            <a:avLst/>
          </a:prstGeom>
          <a:noFill/>
        </p:spPr>
        <p:txBody>
          <a:bodyPr wrap="square" lIns="0" tIns="0" rIns="0" bIns="0" anchor="t">
            <a:spAutoFit/>
          </a:bodyPr>
          <a:lstStyle/>
          <a:p>
            <a:pPr algn="l">
              <a:lnSpc>
                <a:spcPct val="108000"/>
              </a:lnSpc>
              <a:spcAft>
                <a:spcPts val="400"/>
              </a:spcAft>
            </a:pPr>
            <a:r>
              <a:rPr sz="1550" b="0" i="0">
                <a:solidFill>
                  <a:srgbClr val="0B1E3F"/>
                </a:solidFill>
                <a:latin typeface="Segoe UI Semibold"/>
              </a:rPr>
              <a:t>Folium + OSRM</a:t>
            </a:r>
          </a:p>
        </p:txBody>
      </p:sp>
      <p:sp>
        <p:nvSpPr>
          <p:cNvPr id="28" name="TextBox 27"/>
          <p:cNvSpPr txBox="1"/>
          <p:nvPr/>
        </p:nvSpPr>
        <p:spPr>
          <a:xfrm>
            <a:off x="1033271" y="5029200"/>
            <a:ext cx="2194560" cy="457200"/>
          </a:xfrm>
          <a:prstGeom prst="rect">
            <a:avLst/>
          </a:prstGeom>
          <a:noFill/>
        </p:spPr>
        <p:txBody>
          <a:bodyPr wrap="square" lIns="0" tIns="0" rIns="0" bIns="0" anchor="t">
            <a:spAutoFit/>
          </a:bodyPr>
          <a:lstStyle/>
          <a:p>
            <a:pPr algn="l">
              <a:lnSpc>
                <a:spcPct val="108000"/>
              </a:lnSpc>
              <a:spcAft>
                <a:spcPts val="400"/>
              </a:spcAft>
            </a:pPr>
            <a:r>
              <a:rPr sz="1250" b="0" i="0">
                <a:solidFill>
                  <a:srgbClr val="475569"/>
                </a:solidFill>
                <a:latin typeface="Segoe UI"/>
              </a:rPr>
              <a:t>Maps on real roads, cached</a:t>
            </a:r>
          </a:p>
        </p:txBody>
      </p:sp>
      <p:sp>
        <p:nvSpPr>
          <p:cNvPr id="29" name="Rounded Rectangle 28"/>
          <p:cNvSpPr/>
          <p:nvPr/>
        </p:nvSpPr>
        <p:spPr>
          <a:xfrm>
            <a:off x="3520440" y="3749039"/>
            <a:ext cx="2560320" cy="178308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3776472" y="4005072"/>
            <a:ext cx="566928" cy="566928"/>
          </a:xfrm>
          <a:prstGeom prst="ellipse">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900" b="0">
                <a:solidFill>
                  <a:srgbClr val="0F172A"/>
                </a:solidFill>
                <a:latin typeface="Segoe UI Emoji"/>
              </a:rPr>
              <a:t>📈</a:t>
            </a:r>
          </a:p>
        </p:txBody>
      </p:sp>
      <p:sp>
        <p:nvSpPr>
          <p:cNvPr id="31" name="TextBox 30"/>
          <p:cNvSpPr txBox="1"/>
          <p:nvPr/>
        </p:nvSpPr>
        <p:spPr>
          <a:xfrm>
            <a:off x="3776472" y="4663440"/>
            <a:ext cx="2194560" cy="365760"/>
          </a:xfrm>
          <a:prstGeom prst="rect">
            <a:avLst/>
          </a:prstGeom>
          <a:noFill/>
        </p:spPr>
        <p:txBody>
          <a:bodyPr wrap="square" lIns="0" tIns="0" rIns="0" bIns="0" anchor="t">
            <a:spAutoFit/>
          </a:bodyPr>
          <a:lstStyle/>
          <a:p>
            <a:pPr algn="l">
              <a:lnSpc>
                <a:spcPct val="108000"/>
              </a:lnSpc>
              <a:spcAft>
                <a:spcPts val="400"/>
              </a:spcAft>
            </a:pPr>
            <a:r>
              <a:rPr sz="1550" b="0" i="0">
                <a:solidFill>
                  <a:srgbClr val="0B1E3F"/>
                </a:solidFill>
                <a:latin typeface="Segoe UI Semibold"/>
              </a:rPr>
              <a:t>Plotly + NetworkX</a:t>
            </a:r>
          </a:p>
        </p:txBody>
      </p:sp>
      <p:sp>
        <p:nvSpPr>
          <p:cNvPr id="32" name="TextBox 31"/>
          <p:cNvSpPr txBox="1"/>
          <p:nvPr/>
        </p:nvSpPr>
        <p:spPr>
          <a:xfrm>
            <a:off x="3776472" y="5029200"/>
            <a:ext cx="2194560" cy="457200"/>
          </a:xfrm>
          <a:prstGeom prst="rect">
            <a:avLst/>
          </a:prstGeom>
          <a:noFill/>
        </p:spPr>
        <p:txBody>
          <a:bodyPr wrap="square" lIns="0" tIns="0" rIns="0" bIns="0" anchor="t">
            <a:spAutoFit/>
          </a:bodyPr>
          <a:lstStyle/>
          <a:p>
            <a:pPr algn="l">
              <a:lnSpc>
                <a:spcPct val="108000"/>
              </a:lnSpc>
              <a:spcAft>
                <a:spcPts val="400"/>
              </a:spcAft>
            </a:pPr>
            <a:r>
              <a:rPr sz="1250" b="0" i="0">
                <a:solidFill>
                  <a:srgbClr val="475569"/>
                </a:solidFill>
                <a:latin typeface="Segoe UI"/>
              </a:rPr>
              <a:t>Ripple Impact graph and charts</a:t>
            </a:r>
          </a:p>
        </p:txBody>
      </p:sp>
      <p:sp>
        <p:nvSpPr>
          <p:cNvPr id="33" name="Rounded Rectangle 32"/>
          <p:cNvSpPr/>
          <p:nvPr/>
        </p:nvSpPr>
        <p:spPr>
          <a:xfrm>
            <a:off x="6263640" y="3749039"/>
            <a:ext cx="2560320" cy="178308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Oval 33"/>
          <p:cNvSpPr/>
          <p:nvPr/>
        </p:nvSpPr>
        <p:spPr>
          <a:xfrm>
            <a:off x="6519672" y="4005072"/>
            <a:ext cx="566928" cy="566928"/>
          </a:xfrm>
          <a:prstGeom prst="ellipse">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900" b="0">
                <a:solidFill>
                  <a:srgbClr val="0F172A"/>
                </a:solidFill>
                <a:latin typeface="Segoe UI Emoji"/>
              </a:rPr>
              <a:t>⚙️</a:t>
            </a:r>
          </a:p>
        </p:txBody>
      </p:sp>
      <p:sp>
        <p:nvSpPr>
          <p:cNvPr id="35" name="TextBox 34"/>
          <p:cNvSpPr txBox="1"/>
          <p:nvPr/>
        </p:nvSpPr>
        <p:spPr>
          <a:xfrm>
            <a:off x="6519672" y="4663440"/>
            <a:ext cx="2194560" cy="365760"/>
          </a:xfrm>
          <a:prstGeom prst="rect">
            <a:avLst/>
          </a:prstGeom>
          <a:noFill/>
        </p:spPr>
        <p:txBody>
          <a:bodyPr wrap="square" lIns="0" tIns="0" rIns="0" bIns="0" anchor="t">
            <a:spAutoFit/>
          </a:bodyPr>
          <a:lstStyle/>
          <a:p>
            <a:pPr algn="l">
              <a:lnSpc>
                <a:spcPct val="108000"/>
              </a:lnSpc>
              <a:spcAft>
                <a:spcPts val="400"/>
              </a:spcAft>
            </a:pPr>
            <a:r>
              <a:rPr sz="1550" b="0" i="0">
                <a:solidFill>
                  <a:srgbClr val="0B1E3F"/>
                </a:solidFill>
                <a:latin typeface="Segoe UI Semibold"/>
              </a:rPr>
              <a:t>FastAPI</a:t>
            </a:r>
          </a:p>
        </p:txBody>
      </p:sp>
      <p:sp>
        <p:nvSpPr>
          <p:cNvPr id="36" name="TextBox 35"/>
          <p:cNvSpPr txBox="1"/>
          <p:nvPr/>
        </p:nvSpPr>
        <p:spPr>
          <a:xfrm>
            <a:off x="6519672" y="5029200"/>
            <a:ext cx="2194560" cy="457200"/>
          </a:xfrm>
          <a:prstGeom prst="rect">
            <a:avLst/>
          </a:prstGeom>
          <a:noFill/>
        </p:spPr>
        <p:txBody>
          <a:bodyPr wrap="square" lIns="0" tIns="0" rIns="0" bIns="0" anchor="t">
            <a:spAutoFit/>
          </a:bodyPr>
          <a:lstStyle/>
          <a:p>
            <a:pPr algn="l">
              <a:lnSpc>
                <a:spcPct val="108000"/>
              </a:lnSpc>
              <a:spcAft>
                <a:spcPts val="400"/>
              </a:spcAft>
            </a:pPr>
            <a:r>
              <a:rPr sz="1250" b="0" i="0">
                <a:solidFill>
                  <a:srgbClr val="475569"/>
                </a:solidFill>
                <a:latin typeface="Segoe UI"/>
              </a:rPr>
              <a:t>REST API ready for a native app</a:t>
            </a:r>
          </a:p>
        </p:txBody>
      </p:sp>
      <p:sp>
        <p:nvSpPr>
          <p:cNvPr id="37" name="Rounded Rectangle 36"/>
          <p:cNvSpPr/>
          <p:nvPr/>
        </p:nvSpPr>
        <p:spPr>
          <a:xfrm>
            <a:off x="9006840" y="3749039"/>
            <a:ext cx="2560320" cy="178308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Oval 37"/>
          <p:cNvSpPr/>
          <p:nvPr/>
        </p:nvSpPr>
        <p:spPr>
          <a:xfrm>
            <a:off x="9262872" y="4005072"/>
            <a:ext cx="566928" cy="566928"/>
          </a:xfrm>
          <a:prstGeom prst="ellipse">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900" b="0">
                <a:solidFill>
                  <a:srgbClr val="0F172A"/>
                </a:solidFill>
                <a:latin typeface="Segoe UI Emoji"/>
              </a:rPr>
              <a:t>✅</a:t>
            </a:r>
          </a:p>
        </p:txBody>
      </p:sp>
      <p:sp>
        <p:nvSpPr>
          <p:cNvPr id="39" name="TextBox 38"/>
          <p:cNvSpPr txBox="1"/>
          <p:nvPr/>
        </p:nvSpPr>
        <p:spPr>
          <a:xfrm>
            <a:off x="9262872" y="4663440"/>
            <a:ext cx="2194560" cy="365760"/>
          </a:xfrm>
          <a:prstGeom prst="rect">
            <a:avLst/>
          </a:prstGeom>
          <a:noFill/>
        </p:spPr>
        <p:txBody>
          <a:bodyPr wrap="square" lIns="0" tIns="0" rIns="0" bIns="0" anchor="t">
            <a:spAutoFit/>
          </a:bodyPr>
          <a:lstStyle/>
          <a:p>
            <a:pPr algn="l">
              <a:lnSpc>
                <a:spcPct val="108000"/>
              </a:lnSpc>
              <a:spcAft>
                <a:spcPts val="400"/>
              </a:spcAft>
            </a:pPr>
            <a:r>
              <a:rPr sz="1550" b="0" i="0">
                <a:solidFill>
                  <a:srgbClr val="0B1E3F"/>
                </a:solidFill>
                <a:latin typeface="Segoe UI Semibold"/>
              </a:rPr>
              <a:t>Pytest</a:t>
            </a:r>
          </a:p>
        </p:txBody>
      </p:sp>
      <p:sp>
        <p:nvSpPr>
          <p:cNvPr id="40" name="TextBox 39"/>
          <p:cNvSpPr txBox="1"/>
          <p:nvPr/>
        </p:nvSpPr>
        <p:spPr>
          <a:xfrm>
            <a:off x="9262872" y="5029200"/>
            <a:ext cx="2194560" cy="457200"/>
          </a:xfrm>
          <a:prstGeom prst="rect">
            <a:avLst/>
          </a:prstGeom>
          <a:noFill/>
        </p:spPr>
        <p:txBody>
          <a:bodyPr wrap="square" lIns="0" tIns="0" rIns="0" bIns="0" anchor="t">
            <a:spAutoFit/>
          </a:bodyPr>
          <a:lstStyle/>
          <a:p>
            <a:pPr algn="l">
              <a:lnSpc>
                <a:spcPct val="108000"/>
              </a:lnSpc>
              <a:spcAft>
                <a:spcPts val="400"/>
              </a:spcAft>
            </a:pPr>
            <a:r>
              <a:rPr sz="1250" b="0" i="0">
                <a:solidFill>
                  <a:srgbClr val="475569"/>
                </a:solidFill>
                <a:latin typeface="Segoe UI"/>
              </a:rPr>
              <a:t>150 automated tests</a:t>
            </a:r>
          </a:p>
        </p:txBody>
      </p:sp>
      <p:sp>
        <p:nvSpPr>
          <p:cNvPr id="41" name="Rounded Rectangle 40"/>
          <p:cNvSpPr/>
          <p:nvPr/>
        </p:nvSpPr>
        <p:spPr>
          <a:xfrm>
            <a:off x="2331720" y="5806440"/>
            <a:ext cx="7543800" cy="457200"/>
          </a:xfrm>
          <a:prstGeom prst="roundRect">
            <a:avLst>
              <a:gd name="adj" fmla="val 50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300" b="0">
                <a:solidFill>
                  <a:srgbClr val="0B1E3F"/>
                </a:solidFill>
                <a:latin typeface="Segoe UI Semibold"/>
              </a:rPr>
              <a:t>No AI key? </a:t>
            </a:r>
            <a:r>
              <a:rPr sz="1300" b="0">
                <a:solidFill>
                  <a:srgbClr val="475569"/>
                </a:solidFill>
                <a:latin typeface="Segoe UI"/>
              </a:rPr>
              <a:t>It still works: rule-based understanding + free speech recognition.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502920"/>
            <a:ext cx="82296" cy="896112"/>
          </a:xfrm>
          <a:prstGeom prst="roundRect">
            <a:avLst>
              <a:gd name="adj" fmla="val 50000"/>
            </a:avLst>
          </a:prstGeom>
          <a:gradFill rotWithShape="1">
            <a:gsLst>
              <a:gs pos="0">
                <a:srgbClr val="2563EB"/>
              </a:gs>
              <a:gs pos="100000">
                <a:srgbClr val="7C3AED"/>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04672" y="429768"/>
            <a:ext cx="9601200" cy="274320"/>
          </a:xfrm>
          <a:prstGeom prst="rect">
            <a:avLst/>
          </a:prstGeom>
          <a:noFill/>
        </p:spPr>
        <p:txBody>
          <a:bodyPr wrap="square" lIns="0" tIns="0" rIns="0" bIns="0" anchor="t">
            <a:spAutoFit/>
          </a:bodyPr>
          <a:lstStyle/>
          <a:p>
            <a:pPr algn="l">
              <a:lnSpc>
                <a:spcPct val="108000"/>
              </a:lnSpc>
              <a:spcAft>
                <a:spcPts val="400"/>
              </a:spcAft>
            </a:pPr>
            <a:r>
              <a:rPr sz="1100" b="0" i="0" spc="200">
                <a:solidFill>
                  <a:srgbClr val="2563EB"/>
                </a:solidFill>
                <a:latin typeface="Segoe UI Semibold"/>
              </a:rPr>
              <a:t>QUALITY</a:t>
            </a:r>
          </a:p>
        </p:txBody>
      </p:sp>
      <p:sp>
        <p:nvSpPr>
          <p:cNvPr id="4" name="TextBox 3"/>
          <p:cNvSpPr txBox="1"/>
          <p:nvPr/>
        </p:nvSpPr>
        <p:spPr>
          <a:xfrm>
            <a:off x="804672" y="676656"/>
            <a:ext cx="9875520" cy="566928"/>
          </a:xfrm>
          <a:prstGeom prst="rect">
            <a:avLst/>
          </a:prstGeom>
          <a:noFill/>
        </p:spPr>
        <p:txBody>
          <a:bodyPr wrap="square" lIns="0" tIns="0" rIns="0" bIns="0" anchor="t">
            <a:spAutoFit/>
          </a:bodyPr>
          <a:lstStyle/>
          <a:p>
            <a:pPr algn="l">
              <a:lnSpc>
                <a:spcPct val="100000"/>
              </a:lnSpc>
              <a:spcAft>
                <a:spcPts val="400"/>
              </a:spcAft>
            </a:pPr>
            <a:r>
              <a:rPr sz="3000" b="0" i="0">
                <a:solidFill>
                  <a:srgbClr val="0B1E3F"/>
                </a:solidFill>
                <a:latin typeface="Segoe UI Semibold"/>
              </a:rPr>
              <a:t>Tested like a product, not a demo</a:t>
            </a:r>
          </a:p>
        </p:txBody>
      </p:sp>
      <p:pic>
        <p:nvPicPr>
          <p:cNvPr id="5" name="Picture 4" descr="logo_512.png"/>
          <p:cNvPicPr>
            <a:picLocks noChangeAspect="1"/>
          </p:cNvPicPr>
          <p:nvPr/>
        </p:nvPicPr>
        <p:blipFill>
          <a:blip r:embed="rId3"/>
          <a:stretch>
            <a:fillRect/>
          </a:stretch>
        </p:blipFill>
        <p:spPr>
          <a:xfrm>
            <a:off x="11137392" y="475488"/>
            <a:ext cx="475488" cy="475488"/>
          </a:xfrm>
          <a:prstGeom prst="rect">
            <a:avLst/>
          </a:prstGeom>
        </p:spPr>
      </p:pic>
      <p:sp>
        <p:nvSpPr>
          <p:cNvPr id="6" name="Rectangle 5"/>
          <p:cNvSpPr/>
          <p:nvPr/>
        </p:nvSpPr>
        <p:spPr>
          <a:xfrm>
            <a:off x="548640" y="6400800"/>
            <a:ext cx="11091672"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6464808"/>
            <a:ext cx="7315200" cy="228600"/>
          </a:xfrm>
          <a:prstGeom prst="rect">
            <a:avLst/>
          </a:prstGeom>
          <a:noFill/>
        </p:spPr>
        <p:txBody>
          <a:bodyPr wrap="square" lIns="0" tIns="0" rIns="0" bIns="0" anchor="t">
            <a:spAutoFit/>
          </a:bodyPr>
          <a:lstStyle/>
          <a:p>
            <a:pPr algn="l">
              <a:lnSpc>
                <a:spcPct val="108000"/>
              </a:lnSpc>
              <a:spcAft>
                <a:spcPts val="400"/>
              </a:spcAft>
            </a:pPr>
            <a:r>
              <a:rPr sz="1000" b="0" i="0" spc="150">
                <a:solidFill>
                  <a:srgbClr val="0B1E3F"/>
                </a:solidFill>
                <a:latin typeface="Segoe UI Semibold"/>
              </a:rPr>
              <a:t>DEPORT</a:t>
            </a:r>
            <a:r>
              <a:rPr sz="1000" b="0" i="0">
                <a:solidFill>
                  <a:srgbClr val="475569"/>
                </a:solidFill>
                <a:latin typeface="Segoe UI"/>
              </a:rPr>
              <a:t>  ·  Disruption-Aware Logistics Decision Support</a:t>
            </a:r>
          </a:p>
        </p:txBody>
      </p:sp>
      <p:sp>
        <p:nvSpPr>
          <p:cNvPr id="8" name="TextBox 7"/>
          <p:cNvSpPr txBox="1"/>
          <p:nvPr/>
        </p:nvSpPr>
        <p:spPr>
          <a:xfrm>
            <a:off x="10725912" y="6464808"/>
            <a:ext cx="914400" cy="228600"/>
          </a:xfrm>
          <a:prstGeom prst="rect">
            <a:avLst/>
          </a:prstGeom>
          <a:noFill/>
        </p:spPr>
        <p:txBody>
          <a:bodyPr wrap="square" lIns="0" tIns="0" rIns="0" bIns="0" anchor="t">
            <a:spAutoFit/>
          </a:bodyPr>
          <a:lstStyle/>
          <a:p>
            <a:pPr algn="r">
              <a:lnSpc>
                <a:spcPct val="108000"/>
              </a:lnSpc>
              <a:spcAft>
                <a:spcPts val="400"/>
              </a:spcAft>
            </a:pPr>
            <a:r>
              <a:rPr sz="1000" b="0" i="0">
                <a:solidFill>
                  <a:srgbClr val="475569"/>
                </a:solidFill>
                <a:latin typeface="Segoe UI"/>
              </a:rPr>
              <a:t>14 / 17</a:t>
            </a:r>
          </a:p>
        </p:txBody>
      </p:sp>
      <p:sp>
        <p:nvSpPr>
          <p:cNvPr id="9" name="Rounded Rectangle 8"/>
          <p:cNvSpPr/>
          <p:nvPr/>
        </p:nvSpPr>
        <p:spPr>
          <a:xfrm>
            <a:off x="777240" y="1783080"/>
            <a:ext cx="2560320" cy="22860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51560" y="1965960"/>
            <a:ext cx="2103120" cy="777240"/>
          </a:xfrm>
          <a:prstGeom prst="rect">
            <a:avLst/>
          </a:prstGeom>
          <a:noFill/>
        </p:spPr>
        <p:txBody>
          <a:bodyPr wrap="square" lIns="0" tIns="0" rIns="0" bIns="0" anchor="t">
            <a:spAutoFit/>
          </a:bodyPr>
          <a:lstStyle/>
          <a:p>
            <a:pPr algn="l">
              <a:lnSpc>
                <a:spcPct val="108000"/>
              </a:lnSpc>
              <a:spcAft>
                <a:spcPts val="0"/>
              </a:spcAft>
            </a:pPr>
            <a:r>
              <a:rPr sz="3800" b="0" i="0">
                <a:solidFill>
                  <a:srgbClr val="2563EB"/>
                </a:solidFill>
                <a:latin typeface="Segoe UI Black"/>
              </a:rPr>
              <a:t>150</a:t>
            </a:r>
          </a:p>
        </p:txBody>
      </p:sp>
      <p:sp>
        <p:nvSpPr>
          <p:cNvPr id="11" name="TextBox 10"/>
          <p:cNvSpPr txBox="1"/>
          <p:nvPr/>
        </p:nvSpPr>
        <p:spPr>
          <a:xfrm>
            <a:off x="1051560" y="2788920"/>
            <a:ext cx="2103120" cy="365760"/>
          </a:xfrm>
          <a:prstGeom prst="rect">
            <a:avLst/>
          </a:prstGeom>
          <a:noFill/>
        </p:spPr>
        <p:txBody>
          <a:bodyPr wrap="square" lIns="0" tIns="0" rIns="0" bIns="0" anchor="t">
            <a:spAutoFit/>
          </a:bodyPr>
          <a:lstStyle/>
          <a:p>
            <a:pPr algn="l">
              <a:lnSpc>
                <a:spcPct val="108000"/>
              </a:lnSpc>
              <a:spcAft>
                <a:spcPts val="400"/>
              </a:spcAft>
            </a:pPr>
            <a:r>
              <a:rPr sz="1450" b="0" i="0">
                <a:solidFill>
                  <a:srgbClr val="0B1E3F"/>
                </a:solidFill>
                <a:latin typeface="Segoe UI Semibold"/>
              </a:rPr>
              <a:t>automated tests</a:t>
            </a:r>
          </a:p>
        </p:txBody>
      </p:sp>
      <p:sp>
        <p:nvSpPr>
          <p:cNvPr id="12" name="TextBox 11"/>
          <p:cNvSpPr txBox="1"/>
          <p:nvPr/>
        </p:nvSpPr>
        <p:spPr>
          <a:xfrm>
            <a:off x="1051560" y="3182112"/>
            <a:ext cx="2103120" cy="822960"/>
          </a:xfrm>
          <a:prstGeom prst="rect">
            <a:avLst/>
          </a:prstGeom>
          <a:noFill/>
        </p:spPr>
        <p:txBody>
          <a:bodyPr wrap="square" lIns="0" tIns="0" rIns="0" bIns="0" anchor="t">
            <a:spAutoFit/>
          </a:bodyPr>
          <a:lstStyle/>
          <a:p>
            <a:pPr algn="l">
              <a:lnSpc>
                <a:spcPct val="110000"/>
              </a:lnSpc>
              <a:spcAft>
                <a:spcPts val="400"/>
              </a:spcAft>
            </a:pPr>
            <a:r>
              <a:rPr sz="1200" b="0" i="0">
                <a:solidFill>
                  <a:srgbClr val="475569"/>
                </a:solidFill>
                <a:latin typeface="Segoe UI"/>
              </a:rPr>
              <a:t>parsing, impact, risk, roles, API, persistence, assignment</a:t>
            </a:r>
          </a:p>
        </p:txBody>
      </p:sp>
      <p:sp>
        <p:nvSpPr>
          <p:cNvPr id="13" name="Rounded Rectangle 12"/>
          <p:cNvSpPr/>
          <p:nvPr/>
        </p:nvSpPr>
        <p:spPr>
          <a:xfrm>
            <a:off x="3520440" y="1783080"/>
            <a:ext cx="2560320" cy="22860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794760" y="1965960"/>
            <a:ext cx="2103120" cy="777240"/>
          </a:xfrm>
          <a:prstGeom prst="rect">
            <a:avLst/>
          </a:prstGeom>
          <a:noFill/>
        </p:spPr>
        <p:txBody>
          <a:bodyPr wrap="square" lIns="0" tIns="0" rIns="0" bIns="0" anchor="t">
            <a:spAutoFit/>
          </a:bodyPr>
          <a:lstStyle/>
          <a:p>
            <a:pPr algn="l">
              <a:lnSpc>
                <a:spcPct val="108000"/>
              </a:lnSpc>
              <a:spcAft>
                <a:spcPts val="0"/>
              </a:spcAft>
            </a:pPr>
            <a:r>
              <a:rPr sz="3800" b="0" i="0">
                <a:solidFill>
                  <a:srgbClr val="2563EB"/>
                </a:solidFill>
                <a:latin typeface="Segoe UI Black"/>
              </a:rPr>
              <a:t>3 × all</a:t>
            </a:r>
          </a:p>
        </p:txBody>
      </p:sp>
      <p:sp>
        <p:nvSpPr>
          <p:cNvPr id="15" name="TextBox 14"/>
          <p:cNvSpPr txBox="1"/>
          <p:nvPr/>
        </p:nvSpPr>
        <p:spPr>
          <a:xfrm>
            <a:off x="3794760" y="2788920"/>
            <a:ext cx="2103120" cy="365760"/>
          </a:xfrm>
          <a:prstGeom prst="rect">
            <a:avLst/>
          </a:prstGeom>
          <a:noFill/>
        </p:spPr>
        <p:txBody>
          <a:bodyPr wrap="square" lIns="0" tIns="0" rIns="0" bIns="0" anchor="t">
            <a:spAutoFit/>
          </a:bodyPr>
          <a:lstStyle/>
          <a:p>
            <a:pPr algn="l">
              <a:lnSpc>
                <a:spcPct val="108000"/>
              </a:lnSpc>
              <a:spcAft>
                <a:spcPts val="400"/>
              </a:spcAft>
            </a:pPr>
            <a:r>
              <a:rPr sz="1450" b="0" i="0">
                <a:solidFill>
                  <a:srgbClr val="0B1E3F"/>
                </a:solidFill>
                <a:latin typeface="Segoe UI Semibold"/>
              </a:rPr>
              <a:t>roles × pages clicked</a:t>
            </a:r>
          </a:p>
        </p:txBody>
      </p:sp>
      <p:sp>
        <p:nvSpPr>
          <p:cNvPr id="16" name="TextBox 15"/>
          <p:cNvSpPr txBox="1"/>
          <p:nvPr/>
        </p:nvSpPr>
        <p:spPr>
          <a:xfrm>
            <a:off x="3794760" y="3182112"/>
            <a:ext cx="2103120" cy="822960"/>
          </a:xfrm>
          <a:prstGeom prst="rect">
            <a:avLst/>
          </a:prstGeom>
          <a:noFill/>
        </p:spPr>
        <p:txBody>
          <a:bodyPr wrap="square" lIns="0" tIns="0" rIns="0" bIns="0" anchor="t">
            <a:spAutoFit/>
          </a:bodyPr>
          <a:lstStyle/>
          <a:p>
            <a:pPr algn="l">
              <a:lnSpc>
                <a:spcPct val="110000"/>
              </a:lnSpc>
              <a:spcAft>
                <a:spcPts val="400"/>
              </a:spcAft>
            </a:pPr>
            <a:r>
              <a:rPr sz="1200" b="0" i="0">
                <a:solidFill>
                  <a:srgbClr val="475569"/>
                </a:solidFill>
                <a:latin typeface="Segoe UI"/>
              </a:rPr>
              <a:t>a script presses every button for every role</a:t>
            </a:r>
          </a:p>
        </p:txBody>
      </p:sp>
      <p:sp>
        <p:nvSpPr>
          <p:cNvPr id="17" name="Rounded Rectangle 16"/>
          <p:cNvSpPr/>
          <p:nvPr/>
        </p:nvSpPr>
        <p:spPr>
          <a:xfrm>
            <a:off x="6263640" y="1783080"/>
            <a:ext cx="2560320" cy="22860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537959" y="1965960"/>
            <a:ext cx="2103120" cy="777240"/>
          </a:xfrm>
          <a:prstGeom prst="rect">
            <a:avLst/>
          </a:prstGeom>
          <a:noFill/>
        </p:spPr>
        <p:txBody>
          <a:bodyPr wrap="square" lIns="0" tIns="0" rIns="0" bIns="0" anchor="t">
            <a:spAutoFit/>
          </a:bodyPr>
          <a:lstStyle/>
          <a:p>
            <a:pPr algn="l">
              <a:lnSpc>
                <a:spcPct val="108000"/>
              </a:lnSpc>
              <a:spcAft>
                <a:spcPts val="0"/>
              </a:spcAft>
            </a:pPr>
            <a:r>
              <a:rPr sz="3800" b="0" i="0">
                <a:solidFill>
                  <a:srgbClr val="2563EB"/>
                </a:solidFill>
                <a:latin typeface="Segoe UI Black"/>
              </a:rPr>
              <a:t>1</a:t>
            </a:r>
          </a:p>
        </p:txBody>
      </p:sp>
      <p:sp>
        <p:nvSpPr>
          <p:cNvPr id="19" name="TextBox 18"/>
          <p:cNvSpPr txBox="1"/>
          <p:nvPr/>
        </p:nvSpPr>
        <p:spPr>
          <a:xfrm>
            <a:off x="6537959" y="2788920"/>
            <a:ext cx="2103120" cy="365760"/>
          </a:xfrm>
          <a:prstGeom prst="rect">
            <a:avLst/>
          </a:prstGeom>
          <a:noFill/>
        </p:spPr>
        <p:txBody>
          <a:bodyPr wrap="square" lIns="0" tIns="0" rIns="0" bIns="0" anchor="t">
            <a:spAutoFit/>
          </a:bodyPr>
          <a:lstStyle/>
          <a:p>
            <a:pPr algn="l">
              <a:lnSpc>
                <a:spcPct val="108000"/>
              </a:lnSpc>
              <a:spcAft>
                <a:spcPts val="400"/>
              </a:spcAft>
            </a:pPr>
            <a:r>
              <a:rPr sz="1450" b="0" i="0">
                <a:solidFill>
                  <a:srgbClr val="0B1E3F"/>
                </a:solidFill>
                <a:latin typeface="Segoe UI Semibold"/>
              </a:rPr>
              <a:t>transaction per plan</a:t>
            </a:r>
          </a:p>
        </p:txBody>
      </p:sp>
      <p:sp>
        <p:nvSpPr>
          <p:cNvPr id="20" name="TextBox 19"/>
          <p:cNvSpPr txBox="1"/>
          <p:nvPr/>
        </p:nvSpPr>
        <p:spPr>
          <a:xfrm>
            <a:off x="6537959" y="3182112"/>
            <a:ext cx="2103120" cy="822960"/>
          </a:xfrm>
          <a:prstGeom prst="rect">
            <a:avLst/>
          </a:prstGeom>
          <a:noFill/>
        </p:spPr>
        <p:txBody>
          <a:bodyPr wrap="square" lIns="0" tIns="0" rIns="0" bIns="0" anchor="t">
            <a:spAutoFit/>
          </a:bodyPr>
          <a:lstStyle/>
          <a:p>
            <a:pPr algn="l">
              <a:lnSpc>
                <a:spcPct val="110000"/>
              </a:lnSpc>
              <a:spcAft>
                <a:spcPts val="400"/>
              </a:spcAft>
            </a:pPr>
            <a:r>
              <a:rPr sz="1200" b="0" i="0">
                <a:solidFill>
                  <a:srgbClr val="475569"/>
                </a:solidFill>
                <a:latin typeface="Segoe UI"/>
              </a:rPr>
              <a:t>deliveries, routes, messages saved all-or-nothing</a:t>
            </a:r>
          </a:p>
        </p:txBody>
      </p:sp>
      <p:sp>
        <p:nvSpPr>
          <p:cNvPr id="21" name="Rounded Rectangle 20"/>
          <p:cNvSpPr/>
          <p:nvPr/>
        </p:nvSpPr>
        <p:spPr>
          <a:xfrm>
            <a:off x="9006840" y="1783080"/>
            <a:ext cx="2560320" cy="228600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9281160" y="1965960"/>
            <a:ext cx="2103120" cy="777240"/>
          </a:xfrm>
          <a:prstGeom prst="rect">
            <a:avLst/>
          </a:prstGeom>
          <a:noFill/>
        </p:spPr>
        <p:txBody>
          <a:bodyPr wrap="square" lIns="0" tIns="0" rIns="0" bIns="0" anchor="t">
            <a:spAutoFit/>
          </a:bodyPr>
          <a:lstStyle/>
          <a:p>
            <a:pPr algn="l">
              <a:lnSpc>
                <a:spcPct val="108000"/>
              </a:lnSpc>
              <a:spcAft>
                <a:spcPts val="0"/>
              </a:spcAft>
            </a:pPr>
            <a:r>
              <a:rPr sz="3800" b="0" i="0">
                <a:solidFill>
                  <a:srgbClr val="2563EB"/>
                </a:solidFill>
                <a:latin typeface="Segoe UI Black"/>
              </a:rPr>
              <a:t>0</a:t>
            </a:r>
          </a:p>
        </p:txBody>
      </p:sp>
      <p:sp>
        <p:nvSpPr>
          <p:cNvPr id="23" name="TextBox 22"/>
          <p:cNvSpPr txBox="1"/>
          <p:nvPr/>
        </p:nvSpPr>
        <p:spPr>
          <a:xfrm>
            <a:off x="9281160" y="2788920"/>
            <a:ext cx="2103120" cy="365760"/>
          </a:xfrm>
          <a:prstGeom prst="rect">
            <a:avLst/>
          </a:prstGeom>
          <a:noFill/>
        </p:spPr>
        <p:txBody>
          <a:bodyPr wrap="square" lIns="0" tIns="0" rIns="0" bIns="0" anchor="t">
            <a:spAutoFit/>
          </a:bodyPr>
          <a:lstStyle/>
          <a:p>
            <a:pPr algn="l">
              <a:lnSpc>
                <a:spcPct val="108000"/>
              </a:lnSpc>
              <a:spcAft>
                <a:spcPts val="400"/>
              </a:spcAft>
            </a:pPr>
            <a:r>
              <a:rPr sz="1450" b="0" i="0">
                <a:solidFill>
                  <a:srgbClr val="0B1E3F"/>
                </a:solidFill>
                <a:latin typeface="Segoe UI Semibold"/>
              </a:rPr>
              <a:t>data lost</a:t>
            </a:r>
          </a:p>
        </p:txBody>
      </p:sp>
      <p:sp>
        <p:nvSpPr>
          <p:cNvPr id="24" name="TextBox 23"/>
          <p:cNvSpPr txBox="1"/>
          <p:nvPr/>
        </p:nvSpPr>
        <p:spPr>
          <a:xfrm>
            <a:off x="9281160" y="3182112"/>
            <a:ext cx="2103120" cy="822960"/>
          </a:xfrm>
          <a:prstGeom prst="rect">
            <a:avLst/>
          </a:prstGeom>
          <a:noFill/>
        </p:spPr>
        <p:txBody>
          <a:bodyPr wrap="square" lIns="0" tIns="0" rIns="0" bIns="0" anchor="t">
            <a:spAutoFit/>
          </a:bodyPr>
          <a:lstStyle/>
          <a:p>
            <a:pPr algn="l">
              <a:lnSpc>
                <a:spcPct val="110000"/>
              </a:lnSpc>
              <a:spcAft>
                <a:spcPts val="400"/>
              </a:spcAft>
            </a:pPr>
            <a:r>
              <a:rPr sz="1200" b="0" i="0">
                <a:solidFill>
                  <a:srgbClr val="475569"/>
                </a:solidFill>
                <a:latin typeface="Segoe UI"/>
              </a:rPr>
              <a:t>sign-out and restarts keep everything; reset makes a backup</a:t>
            </a:r>
          </a:p>
        </p:txBody>
      </p:sp>
      <p:sp>
        <p:nvSpPr>
          <p:cNvPr id="25" name="Rounded Rectangle 24"/>
          <p:cNvSpPr/>
          <p:nvPr/>
        </p:nvSpPr>
        <p:spPr>
          <a:xfrm>
            <a:off x="777240" y="4297680"/>
            <a:ext cx="10789920" cy="1874519"/>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097280" y="4462272"/>
            <a:ext cx="10241280" cy="320040"/>
          </a:xfrm>
          <a:prstGeom prst="rect">
            <a:avLst/>
          </a:prstGeom>
          <a:noFill/>
        </p:spPr>
        <p:txBody>
          <a:bodyPr wrap="square" lIns="0" tIns="0" rIns="0" bIns="0" anchor="t">
            <a:spAutoFit/>
          </a:bodyPr>
          <a:lstStyle/>
          <a:p>
            <a:pPr algn="l">
              <a:lnSpc>
                <a:spcPct val="108000"/>
              </a:lnSpc>
              <a:spcAft>
                <a:spcPts val="400"/>
              </a:spcAft>
            </a:pPr>
            <a:r>
              <a:rPr sz="1100" b="0" i="0" spc="200">
                <a:solidFill>
                  <a:srgbClr val="2563EB"/>
                </a:solidFill>
                <a:latin typeface="Segoe UI Semibold"/>
              </a:rPr>
              <a:t>WHAT THE TESTS PROVE</a:t>
            </a:r>
          </a:p>
        </p:txBody>
      </p:sp>
      <p:sp>
        <p:nvSpPr>
          <p:cNvPr id="27" name="TextBox 26"/>
          <p:cNvSpPr txBox="1"/>
          <p:nvPr/>
        </p:nvSpPr>
        <p:spPr>
          <a:xfrm>
            <a:off x="1097280" y="4773168"/>
            <a:ext cx="10241280" cy="1371600"/>
          </a:xfrm>
          <a:prstGeom prst="rect">
            <a:avLst/>
          </a:prstGeom>
          <a:noFill/>
        </p:spPr>
        <p:txBody>
          <a:bodyPr wrap="square" lIns="0" tIns="0" rIns="0" bIns="0" anchor="t">
            <a:spAutoFit/>
          </a:bodyPr>
          <a:lstStyle/>
          <a:p>
            <a:pPr algn="l">
              <a:lnSpc>
                <a:spcPct val="108000"/>
              </a:lnSpc>
              <a:spcAft>
                <a:spcPts val="500"/>
              </a:spcAft>
            </a:pPr>
            <a:r>
              <a:rPr sz="1400" b="0" i="0">
                <a:solidFill>
                  <a:srgbClr val="16A34A"/>
                </a:solidFill>
                <a:latin typeface="Segoe UI Semibold"/>
              </a:rPr>
              <a:t>✓  </a:t>
            </a:r>
            <a:r>
              <a:rPr sz="1400" b="0" i="0">
                <a:solidFill>
                  <a:srgbClr val="0F172A"/>
                </a:solidFill>
                <a:latin typeface="Segoe UI"/>
              </a:rPr>
              <a:t>Voice notes with spelling mistakes are understood (avinasi rd → Avinashi Road)</a:t>
            </a:r>
          </a:p>
          <a:p>
            <a:pPr algn="l">
              <a:lnSpc>
                <a:spcPct val="108000"/>
              </a:lnSpc>
              <a:spcAft>
                <a:spcPts val="500"/>
              </a:spcAft>
            </a:pPr>
            <a:r>
              <a:rPr sz="1400" b="0" i="0">
                <a:solidFill>
                  <a:srgbClr val="16A34A"/>
                </a:solidFill>
                <a:latin typeface="Segoe UI Semibold"/>
              </a:rPr>
              <a:t>✓  </a:t>
            </a:r>
            <a:r>
              <a:rPr sz="1400" b="0" i="0">
                <a:solidFill>
                  <a:srgbClr val="0F172A"/>
                </a:solidFill>
                <a:latin typeface="Segoe UI"/>
              </a:rPr>
              <a:t>A branch admin can never open or change another branch's data</a:t>
            </a:r>
          </a:p>
          <a:p>
            <a:pPr algn="l">
              <a:lnSpc>
                <a:spcPct val="108000"/>
              </a:lnSpc>
              <a:spcAft>
                <a:spcPts val="500"/>
              </a:spcAft>
            </a:pPr>
            <a:r>
              <a:rPr sz="1400" b="0" i="0">
                <a:solidFill>
                  <a:srgbClr val="16A34A"/>
                </a:solidFill>
                <a:latin typeface="Segoe UI Semibold"/>
              </a:rPr>
              <a:t>✓  </a:t>
            </a:r>
            <a:r>
              <a:rPr sz="1400" b="0" i="0">
                <a:solidFill>
                  <a:srgbClr val="0F172A"/>
                </a:solidFill>
                <a:latin typeface="Segoe UI"/>
              </a:rPr>
              <a:t>A partner can't act on someone else's delivery or skip a step</a:t>
            </a:r>
          </a:p>
          <a:p>
            <a:pPr algn="l">
              <a:lnSpc>
                <a:spcPct val="108000"/>
              </a:lnSpc>
              <a:spcAft>
                <a:spcPts val="500"/>
              </a:spcAft>
            </a:pPr>
            <a:r>
              <a:rPr sz="1400" b="0" i="0">
                <a:solidFill>
                  <a:srgbClr val="16A34A"/>
                </a:solidFill>
                <a:latin typeface="Segoe UI Semibold"/>
              </a:rPr>
              <a:t>✓  </a:t>
            </a:r>
            <a:r>
              <a:rPr sz="1400" b="0" i="0">
                <a:solidFill>
                  <a:srgbClr val="0F172A"/>
                </a:solidFill>
                <a:latin typeface="Segoe UI"/>
              </a:rPr>
              <a:t>Restarting the app keeps every order, report, draft and setting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502920"/>
            <a:ext cx="82296" cy="896112"/>
          </a:xfrm>
          <a:prstGeom prst="roundRect">
            <a:avLst>
              <a:gd name="adj" fmla="val 50000"/>
            </a:avLst>
          </a:prstGeom>
          <a:gradFill rotWithShape="1">
            <a:gsLst>
              <a:gs pos="0">
                <a:srgbClr val="2563EB"/>
              </a:gs>
              <a:gs pos="100000">
                <a:srgbClr val="7C3AED"/>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04672" y="429768"/>
            <a:ext cx="9601200" cy="274320"/>
          </a:xfrm>
          <a:prstGeom prst="rect">
            <a:avLst/>
          </a:prstGeom>
          <a:noFill/>
        </p:spPr>
        <p:txBody>
          <a:bodyPr wrap="square" lIns="0" tIns="0" rIns="0" bIns="0" anchor="t">
            <a:spAutoFit/>
          </a:bodyPr>
          <a:lstStyle/>
          <a:p>
            <a:pPr algn="l">
              <a:lnSpc>
                <a:spcPct val="108000"/>
              </a:lnSpc>
              <a:spcAft>
                <a:spcPts val="400"/>
              </a:spcAft>
            </a:pPr>
            <a:r>
              <a:rPr sz="1100" b="0" i="0" spc="200">
                <a:solidFill>
                  <a:srgbClr val="2563EB"/>
                </a:solidFill>
                <a:latin typeface="Segoe UI Semibold"/>
              </a:rPr>
              <a:t>IMPACT</a:t>
            </a:r>
          </a:p>
        </p:txBody>
      </p:sp>
      <p:sp>
        <p:nvSpPr>
          <p:cNvPr id="4" name="TextBox 3"/>
          <p:cNvSpPr txBox="1"/>
          <p:nvPr/>
        </p:nvSpPr>
        <p:spPr>
          <a:xfrm>
            <a:off x="804672" y="676656"/>
            <a:ext cx="9875520" cy="566928"/>
          </a:xfrm>
          <a:prstGeom prst="rect">
            <a:avLst/>
          </a:prstGeom>
          <a:noFill/>
        </p:spPr>
        <p:txBody>
          <a:bodyPr wrap="square" lIns="0" tIns="0" rIns="0" bIns="0" anchor="t">
            <a:spAutoFit/>
          </a:bodyPr>
          <a:lstStyle/>
          <a:p>
            <a:pPr algn="l">
              <a:lnSpc>
                <a:spcPct val="100000"/>
              </a:lnSpc>
              <a:spcAft>
                <a:spcPts val="400"/>
              </a:spcAft>
            </a:pPr>
            <a:r>
              <a:rPr sz="3000" b="0" i="0">
                <a:solidFill>
                  <a:srgbClr val="0B1E3F"/>
                </a:solidFill>
                <a:latin typeface="Segoe UI Semibold"/>
              </a:rPr>
              <a:t>Who benefits, and how</a:t>
            </a:r>
          </a:p>
        </p:txBody>
      </p:sp>
      <p:pic>
        <p:nvPicPr>
          <p:cNvPr id="5" name="Picture 4" descr="logo_512.png"/>
          <p:cNvPicPr>
            <a:picLocks noChangeAspect="1"/>
          </p:cNvPicPr>
          <p:nvPr/>
        </p:nvPicPr>
        <p:blipFill>
          <a:blip r:embed="rId3"/>
          <a:stretch>
            <a:fillRect/>
          </a:stretch>
        </p:blipFill>
        <p:spPr>
          <a:xfrm>
            <a:off x="11137392" y="475488"/>
            <a:ext cx="475488" cy="475488"/>
          </a:xfrm>
          <a:prstGeom prst="rect">
            <a:avLst/>
          </a:prstGeom>
        </p:spPr>
      </p:pic>
      <p:sp>
        <p:nvSpPr>
          <p:cNvPr id="6" name="Rectangle 5"/>
          <p:cNvSpPr/>
          <p:nvPr/>
        </p:nvSpPr>
        <p:spPr>
          <a:xfrm>
            <a:off x="548640" y="6400800"/>
            <a:ext cx="11091672"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6464808"/>
            <a:ext cx="7315200" cy="228600"/>
          </a:xfrm>
          <a:prstGeom prst="rect">
            <a:avLst/>
          </a:prstGeom>
          <a:noFill/>
        </p:spPr>
        <p:txBody>
          <a:bodyPr wrap="square" lIns="0" tIns="0" rIns="0" bIns="0" anchor="t">
            <a:spAutoFit/>
          </a:bodyPr>
          <a:lstStyle/>
          <a:p>
            <a:pPr algn="l">
              <a:lnSpc>
                <a:spcPct val="108000"/>
              </a:lnSpc>
              <a:spcAft>
                <a:spcPts val="400"/>
              </a:spcAft>
            </a:pPr>
            <a:r>
              <a:rPr sz="1000" b="0" i="0" spc="150">
                <a:solidFill>
                  <a:srgbClr val="0B1E3F"/>
                </a:solidFill>
                <a:latin typeface="Segoe UI Semibold"/>
              </a:rPr>
              <a:t>DEPORT</a:t>
            </a:r>
            <a:r>
              <a:rPr sz="1000" b="0" i="0">
                <a:solidFill>
                  <a:srgbClr val="475569"/>
                </a:solidFill>
                <a:latin typeface="Segoe UI"/>
              </a:rPr>
              <a:t>  ·  Disruption-Aware Logistics Decision Support</a:t>
            </a:r>
          </a:p>
        </p:txBody>
      </p:sp>
      <p:sp>
        <p:nvSpPr>
          <p:cNvPr id="8" name="TextBox 7"/>
          <p:cNvSpPr txBox="1"/>
          <p:nvPr/>
        </p:nvSpPr>
        <p:spPr>
          <a:xfrm>
            <a:off x="10725912" y="6464808"/>
            <a:ext cx="914400" cy="228600"/>
          </a:xfrm>
          <a:prstGeom prst="rect">
            <a:avLst/>
          </a:prstGeom>
          <a:noFill/>
        </p:spPr>
        <p:txBody>
          <a:bodyPr wrap="square" lIns="0" tIns="0" rIns="0" bIns="0" anchor="t">
            <a:spAutoFit/>
          </a:bodyPr>
          <a:lstStyle/>
          <a:p>
            <a:pPr algn="r">
              <a:lnSpc>
                <a:spcPct val="108000"/>
              </a:lnSpc>
              <a:spcAft>
                <a:spcPts val="400"/>
              </a:spcAft>
            </a:pPr>
            <a:r>
              <a:rPr sz="1000" b="0" i="0">
                <a:solidFill>
                  <a:srgbClr val="475569"/>
                </a:solidFill>
                <a:latin typeface="Segoe UI"/>
              </a:rPr>
              <a:t>15 / 17</a:t>
            </a:r>
          </a:p>
        </p:txBody>
      </p:sp>
      <p:sp>
        <p:nvSpPr>
          <p:cNvPr id="9" name="Rounded Rectangle 8"/>
          <p:cNvSpPr/>
          <p:nvPr/>
        </p:nvSpPr>
        <p:spPr>
          <a:xfrm>
            <a:off x="777240" y="1783080"/>
            <a:ext cx="2560320" cy="329184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1033271" y="2057400"/>
            <a:ext cx="658368" cy="658368"/>
          </a:xfrm>
          <a:prstGeom prst="ellipse">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2200" b="0">
                <a:solidFill>
                  <a:srgbClr val="0F172A"/>
                </a:solidFill>
                <a:latin typeface="Segoe UI Emoji"/>
              </a:rPr>
              <a:t>🧑‍⚕️</a:t>
            </a:r>
          </a:p>
        </p:txBody>
      </p:sp>
      <p:sp>
        <p:nvSpPr>
          <p:cNvPr id="11" name="TextBox 10"/>
          <p:cNvSpPr txBox="1"/>
          <p:nvPr/>
        </p:nvSpPr>
        <p:spPr>
          <a:xfrm>
            <a:off x="1033271" y="2852928"/>
            <a:ext cx="2194560" cy="411480"/>
          </a:xfrm>
          <a:prstGeom prst="rect">
            <a:avLst/>
          </a:prstGeom>
          <a:noFill/>
        </p:spPr>
        <p:txBody>
          <a:bodyPr wrap="square" lIns="0" tIns="0" rIns="0" bIns="0" anchor="t">
            <a:spAutoFit/>
          </a:bodyPr>
          <a:lstStyle/>
          <a:p>
            <a:pPr algn="l">
              <a:lnSpc>
                <a:spcPct val="108000"/>
              </a:lnSpc>
              <a:spcAft>
                <a:spcPts val="400"/>
              </a:spcAft>
            </a:pPr>
            <a:r>
              <a:rPr sz="1800" b="0" i="0">
                <a:solidFill>
                  <a:srgbClr val="0B1E3F"/>
                </a:solidFill>
                <a:latin typeface="Segoe UI Semibold"/>
              </a:rPr>
              <a:t>Customers</a:t>
            </a:r>
          </a:p>
        </p:txBody>
      </p:sp>
      <p:sp>
        <p:nvSpPr>
          <p:cNvPr id="12" name="TextBox 11"/>
          <p:cNvSpPr txBox="1"/>
          <p:nvPr/>
        </p:nvSpPr>
        <p:spPr>
          <a:xfrm>
            <a:off x="1033271" y="3337560"/>
            <a:ext cx="2194560" cy="1645920"/>
          </a:xfrm>
          <a:prstGeom prst="rect">
            <a:avLst/>
          </a:prstGeom>
          <a:noFill/>
        </p:spPr>
        <p:txBody>
          <a:bodyPr wrap="square" lIns="0" tIns="0" rIns="0" bIns="0" anchor="t">
            <a:spAutoFit/>
          </a:bodyPr>
          <a:lstStyle/>
          <a:p>
            <a:pPr algn="l">
              <a:lnSpc>
                <a:spcPct val="110000"/>
              </a:lnSpc>
              <a:spcAft>
                <a:spcPts val="800"/>
              </a:spcAft>
            </a:pPr>
            <a:r>
              <a:rPr sz="1000" b="0" i="0">
                <a:solidFill>
                  <a:srgbClr val="2563EB"/>
                </a:solidFill>
                <a:latin typeface="Segoe UI"/>
              </a:rPr>
              <a:t>●  </a:t>
            </a:r>
            <a:r>
              <a:rPr sz="1350" b="0" i="0">
                <a:solidFill>
                  <a:srgbClr val="0F172A"/>
                </a:solidFill>
                <a:latin typeface="Segoe UI"/>
              </a:rPr>
              <a:t>Medicine and food arrive on time</a:t>
            </a:r>
          </a:p>
          <a:p>
            <a:pPr algn="l">
              <a:lnSpc>
                <a:spcPct val="110000"/>
              </a:lnSpc>
              <a:spcAft>
                <a:spcPts val="800"/>
              </a:spcAft>
            </a:pPr>
            <a:r>
              <a:rPr sz="1000" b="0" i="0">
                <a:solidFill>
                  <a:srgbClr val="2563EB"/>
                </a:solidFill>
                <a:latin typeface="Segoe UI"/>
              </a:rPr>
              <a:t>●  </a:t>
            </a:r>
            <a:r>
              <a:rPr sz="1350" b="0" i="0">
                <a:solidFill>
                  <a:srgbClr val="0F172A"/>
                </a:solidFill>
                <a:latin typeface="Segoe UI"/>
              </a:rPr>
              <a:t>Get a new time by SMS before they wait</a:t>
            </a:r>
          </a:p>
        </p:txBody>
      </p:sp>
      <p:sp>
        <p:nvSpPr>
          <p:cNvPr id="13" name="Rounded Rectangle 12"/>
          <p:cNvSpPr/>
          <p:nvPr/>
        </p:nvSpPr>
        <p:spPr>
          <a:xfrm>
            <a:off x="3520440" y="1783080"/>
            <a:ext cx="2560320" cy="329184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3776472" y="2057400"/>
            <a:ext cx="658368" cy="658368"/>
          </a:xfrm>
          <a:prstGeom prst="ellipse">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2200" b="0">
                <a:solidFill>
                  <a:srgbClr val="0F172A"/>
                </a:solidFill>
                <a:latin typeface="Segoe UI Emoji"/>
              </a:rPr>
              <a:t>🛵</a:t>
            </a:r>
          </a:p>
        </p:txBody>
      </p:sp>
      <p:sp>
        <p:nvSpPr>
          <p:cNvPr id="15" name="TextBox 14"/>
          <p:cNvSpPr txBox="1"/>
          <p:nvPr/>
        </p:nvSpPr>
        <p:spPr>
          <a:xfrm>
            <a:off x="3776472" y="2852928"/>
            <a:ext cx="2194560" cy="411480"/>
          </a:xfrm>
          <a:prstGeom prst="rect">
            <a:avLst/>
          </a:prstGeom>
          <a:noFill/>
        </p:spPr>
        <p:txBody>
          <a:bodyPr wrap="square" lIns="0" tIns="0" rIns="0" bIns="0" anchor="t">
            <a:spAutoFit/>
          </a:bodyPr>
          <a:lstStyle/>
          <a:p>
            <a:pPr algn="l">
              <a:lnSpc>
                <a:spcPct val="108000"/>
              </a:lnSpc>
              <a:spcAft>
                <a:spcPts val="400"/>
              </a:spcAft>
            </a:pPr>
            <a:r>
              <a:rPr sz="1800" b="0" i="0">
                <a:solidFill>
                  <a:srgbClr val="0B1E3F"/>
                </a:solidFill>
                <a:latin typeface="Segoe UI Semibold"/>
              </a:rPr>
              <a:t>Partners</a:t>
            </a:r>
          </a:p>
        </p:txBody>
      </p:sp>
      <p:sp>
        <p:nvSpPr>
          <p:cNvPr id="16" name="TextBox 15"/>
          <p:cNvSpPr txBox="1"/>
          <p:nvPr/>
        </p:nvSpPr>
        <p:spPr>
          <a:xfrm>
            <a:off x="3776472" y="3337560"/>
            <a:ext cx="2194560" cy="1645920"/>
          </a:xfrm>
          <a:prstGeom prst="rect">
            <a:avLst/>
          </a:prstGeom>
          <a:noFill/>
        </p:spPr>
        <p:txBody>
          <a:bodyPr wrap="square" lIns="0" tIns="0" rIns="0" bIns="0" anchor="t">
            <a:spAutoFit/>
          </a:bodyPr>
          <a:lstStyle/>
          <a:p>
            <a:pPr algn="l">
              <a:lnSpc>
                <a:spcPct val="110000"/>
              </a:lnSpc>
              <a:spcAft>
                <a:spcPts val="800"/>
              </a:spcAft>
            </a:pPr>
            <a:r>
              <a:rPr sz="1000" b="0" i="0">
                <a:solidFill>
                  <a:srgbClr val="2563EB"/>
                </a:solidFill>
                <a:latin typeface="Segoe UI"/>
              </a:rPr>
              <a:t>●  </a:t>
            </a:r>
            <a:r>
              <a:rPr sz="1350" b="0" i="0">
                <a:solidFill>
                  <a:srgbClr val="0F172A"/>
                </a:solidFill>
                <a:latin typeface="Segoe UI"/>
              </a:rPr>
              <a:t>No long phone calls – just speak</a:t>
            </a:r>
          </a:p>
          <a:p>
            <a:pPr algn="l">
              <a:lnSpc>
                <a:spcPct val="110000"/>
              </a:lnSpc>
              <a:spcAft>
                <a:spcPts val="800"/>
              </a:spcAft>
            </a:pPr>
            <a:r>
              <a:rPr sz="1000" b="0" i="0">
                <a:solidFill>
                  <a:srgbClr val="2563EB"/>
                </a:solidFill>
                <a:latin typeface="Segoe UI"/>
              </a:rPr>
              <a:t>●  </a:t>
            </a:r>
            <a:r>
              <a:rPr sz="1350" b="0" i="0">
                <a:solidFill>
                  <a:srgbClr val="0F172A"/>
                </a:solidFill>
                <a:latin typeface="Segoe UI"/>
              </a:rPr>
              <a:t>Clear next step and route changes</a:t>
            </a:r>
          </a:p>
        </p:txBody>
      </p:sp>
      <p:sp>
        <p:nvSpPr>
          <p:cNvPr id="17" name="Rounded Rectangle 16"/>
          <p:cNvSpPr/>
          <p:nvPr/>
        </p:nvSpPr>
        <p:spPr>
          <a:xfrm>
            <a:off x="6263640" y="1783080"/>
            <a:ext cx="2560320" cy="329184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519672" y="2057400"/>
            <a:ext cx="658368" cy="65836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2200" b="0">
                <a:solidFill>
                  <a:srgbClr val="0F172A"/>
                </a:solidFill>
                <a:latin typeface="Segoe UI Emoji"/>
              </a:rPr>
              <a:t>🧭</a:t>
            </a:r>
          </a:p>
        </p:txBody>
      </p:sp>
      <p:sp>
        <p:nvSpPr>
          <p:cNvPr id="19" name="TextBox 18"/>
          <p:cNvSpPr txBox="1"/>
          <p:nvPr/>
        </p:nvSpPr>
        <p:spPr>
          <a:xfrm>
            <a:off x="6519672" y="2852928"/>
            <a:ext cx="2194560" cy="411480"/>
          </a:xfrm>
          <a:prstGeom prst="rect">
            <a:avLst/>
          </a:prstGeom>
          <a:noFill/>
        </p:spPr>
        <p:txBody>
          <a:bodyPr wrap="square" lIns="0" tIns="0" rIns="0" bIns="0" anchor="t">
            <a:spAutoFit/>
          </a:bodyPr>
          <a:lstStyle/>
          <a:p>
            <a:pPr algn="l">
              <a:lnSpc>
                <a:spcPct val="108000"/>
              </a:lnSpc>
              <a:spcAft>
                <a:spcPts val="400"/>
              </a:spcAft>
            </a:pPr>
            <a:r>
              <a:rPr sz="1800" b="0" i="0">
                <a:solidFill>
                  <a:srgbClr val="0B1E3F"/>
                </a:solidFill>
                <a:latin typeface="Segoe UI Semibold"/>
              </a:rPr>
              <a:t>Branch admins</a:t>
            </a:r>
          </a:p>
        </p:txBody>
      </p:sp>
      <p:sp>
        <p:nvSpPr>
          <p:cNvPr id="20" name="TextBox 19"/>
          <p:cNvSpPr txBox="1"/>
          <p:nvPr/>
        </p:nvSpPr>
        <p:spPr>
          <a:xfrm>
            <a:off x="6519672" y="3337560"/>
            <a:ext cx="2194560" cy="1645920"/>
          </a:xfrm>
          <a:prstGeom prst="rect">
            <a:avLst/>
          </a:prstGeom>
          <a:noFill/>
        </p:spPr>
        <p:txBody>
          <a:bodyPr wrap="square" lIns="0" tIns="0" rIns="0" bIns="0" anchor="t">
            <a:spAutoFit/>
          </a:bodyPr>
          <a:lstStyle/>
          <a:p>
            <a:pPr algn="l">
              <a:lnSpc>
                <a:spcPct val="110000"/>
              </a:lnSpc>
              <a:spcAft>
                <a:spcPts val="800"/>
              </a:spcAft>
            </a:pPr>
            <a:r>
              <a:rPr sz="1000" b="0" i="0">
                <a:solidFill>
                  <a:srgbClr val="2563EB"/>
                </a:solidFill>
                <a:latin typeface="Segoe UI"/>
              </a:rPr>
              <a:t>●  </a:t>
            </a:r>
            <a:r>
              <a:rPr sz="1350" b="0" i="0">
                <a:solidFill>
                  <a:srgbClr val="0F172A"/>
                </a:solidFill>
                <a:latin typeface="Segoe UI"/>
              </a:rPr>
              <a:t>Decision in under a minute</a:t>
            </a:r>
          </a:p>
          <a:p>
            <a:pPr algn="l">
              <a:lnSpc>
                <a:spcPct val="110000"/>
              </a:lnSpc>
              <a:spcAft>
                <a:spcPts val="800"/>
              </a:spcAft>
            </a:pPr>
            <a:r>
              <a:rPr sz="1000" b="0" i="0">
                <a:solidFill>
                  <a:srgbClr val="2563EB"/>
                </a:solidFill>
                <a:latin typeface="Segoe UI"/>
              </a:rPr>
              <a:t>●  </a:t>
            </a:r>
            <a:r>
              <a:rPr sz="1350" b="0" i="0">
                <a:solidFill>
                  <a:srgbClr val="0F172A"/>
                </a:solidFill>
                <a:latin typeface="Segoe UI"/>
              </a:rPr>
              <a:t>One screen for alerts, map and work</a:t>
            </a:r>
          </a:p>
        </p:txBody>
      </p:sp>
      <p:sp>
        <p:nvSpPr>
          <p:cNvPr id="21" name="Rounded Rectangle 20"/>
          <p:cNvSpPr/>
          <p:nvPr/>
        </p:nvSpPr>
        <p:spPr>
          <a:xfrm>
            <a:off x="9006840" y="1783080"/>
            <a:ext cx="2560320" cy="329184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9262872" y="2057400"/>
            <a:ext cx="658368" cy="658368"/>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2200" b="0">
                <a:solidFill>
                  <a:srgbClr val="0F172A"/>
                </a:solidFill>
                <a:latin typeface="Segoe UI Emoji"/>
              </a:rPr>
              <a:t>🏢</a:t>
            </a:r>
          </a:p>
        </p:txBody>
      </p:sp>
      <p:sp>
        <p:nvSpPr>
          <p:cNvPr id="23" name="TextBox 22"/>
          <p:cNvSpPr txBox="1"/>
          <p:nvPr/>
        </p:nvSpPr>
        <p:spPr>
          <a:xfrm>
            <a:off x="9262872" y="2852928"/>
            <a:ext cx="2194560" cy="411480"/>
          </a:xfrm>
          <a:prstGeom prst="rect">
            <a:avLst/>
          </a:prstGeom>
          <a:noFill/>
        </p:spPr>
        <p:txBody>
          <a:bodyPr wrap="square" lIns="0" tIns="0" rIns="0" bIns="0" anchor="t">
            <a:spAutoFit/>
          </a:bodyPr>
          <a:lstStyle/>
          <a:p>
            <a:pPr algn="l">
              <a:lnSpc>
                <a:spcPct val="108000"/>
              </a:lnSpc>
              <a:spcAft>
                <a:spcPts val="400"/>
              </a:spcAft>
            </a:pPr>
            <a:r>
              <a:rPr sz="1800" b="0" i="0">
                <a:solidFill>
                  <a:srgbClr val="0B1E3F"/>
                </a:solidFill>
                <a:latin typeface="Segoe UI Semibold"/>
              </a:rPr>
              <a:t>Business</a:t>
            </a:r>
          </a:p>
        </p:txBody>
      </p:sp>
      <p:sp>
        <p:nvSpPr>
          <p:cNvPr id="24" name="TextBox 23"/>
          <p:cNvSpPr txBox="1"/>
          <p:nvPr/>
        </p:nvSpPr>
        <p:spPr>
          <a:xfrm>
            <a:off x="9262872" y="3337560"/>
            <a:ext cx="2194560" cy="1645920"/>
          </a:xfrm>
          <a:prstGeom prst="rect">
            <a:avLst/>
          </a:prstGeom>
          <a:noFill/>
        </p:spPr>
        <p:txBody>
          <a:bodyPr wrap="square" lIns="0" tIns="0" rIns="0" bIns="0" anchor="t">
            <a:spAutoFit/>
          </a:bodyPr>
          <a:lstStyle/>
          <a:p>
            <a:pPr algn="l">
              <a:lnSpc>
                <a:spcPct val="110000"/>
              </a:lnSpc>
              <a:spcAft>
                <a:spcPts val="800"/>
              </a:spcAft>
            </a:pPr>
            <a:r>
              <a:rPr sz="1000" b="0" i="0">
                <a:solidFill>
                  <a:srgbClr val="2563EB"/>
                </a:solidFill>
                <a:latin typeface="Segoe UI"/>
              </a:rPr>
              <a:t>●  </a:t>
            </a:r>
            <a:r>
              <a:rPr sz="1350" b="0" i="0">
                <a:solidFill>
                  <a:srgbClr val="0F172A"/>
                </a:solidFill>
                <a:latin typeface="Segoe UI"/>
              </a:rPr>
              <a:t>Fewer missed deadlines</a:t>
            </a:r>
          </a:p>
          <a:p>
            <a:pPr algn="l">
              <a:lnSpc>
                <a:spcPct val="110000"/>
              </a:lnSpc>
              <a:spcAft>
                <a:spcPts val="800"/>
              </a:spcAft>
            </a:pPr>
            <a:r>
              <a:rPr sz="1000" b="0" i="0">
                <a:solidFill>
                  <a:srgbClr val="2563EB"/>
                </a:solidFill>
                <a:latin typeface="Segoe UI"/>
              </a:rPr>
              <a:t>●  </a:t>
            </a:r>
            <a:r>
              <a:rPr sz="1350" b="0" i="0">
                <a:solidFill>
                  <a:srgbClr val="0F172A"/>
                </a:solidFill>
                <a:latin typeface="Segoe UI"/>
              </a:rPr>
              <a:t>Better use of backup vans; many branches</a:t>
            </a:r>
          </a:p>
        </p:txBody>
      </p:sp>
      <p:sp>
        <p:nvSpPr>
          <p:cNvPr id="25" name="Rounded Rectangle 24"/>
          <p:cNvSpPr/>
          <p:nvPr/>
        </p:nvSpPr>
        <p:spPr>
          <a:xfrm>
            <a:off x="777240" y="5303520"/>
            <a:ext cx="10789920" cy="868680"/>
          </a:xfrm>
          <a:prstGeom prst="roundRect">
            <a:avLst>
              <a:gd name="adj" fmla="val 12000"/>
            </a:avLst>
          </a:prstGeom>
          <a:gradFill rotWithShape="1">
            <a:gsLst>
              <a:gs pos="0">
                <a:srgbClr val="0B1E3F"/>
              </a:gs>
              <a:gs pos="100000">
                <a:srgbClr val="1E3A8A"/>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700" b="0">
                <a:solidFill>
                  <a:srgbClr val="F59E0B"/>
                </a:solidFill>
                <a:latin typeface="Segoe UI Semibold"/>
              </a:rPr>
              <a:t>In our demo: </a:t>
            </a:r>
            <a:r>
              <a:rPr sz="1700" b="0">
                <a:solidFill>
                  <a:srgbClr val="FFFFFF"/>
                </a:solidFill>
                <a:latin typeface="Segoe UI Semibold"/>
              </a:rPr>
              <a:t>3 missed deadlines → 0, and the average delay falls from 95 to 17 minutes.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502920"/>
            <a:ext cx="82296" cy="896112"/>
          </a:xfrm>
          <a:prstGeom prst="roundRect">
            <a:avLst>
              <a:gd name="adj" fmla="val 50000"/>
            </a:avLst>
          </a:prstGeom>
          <a:gradFill rotWithShape="1">
            <a:gsLst>
              <a:gs pos="0">
                <a:srgbClr val="2563EB"/>
              </a:gs>
              <a:gs pos="100000">
                <a:srgbClr val="7C3AED"/>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804672" y="429768"/>
            <a:ext cx="9601200" cy="274320"/>
          </a:xfrm>
          <a:prstGeom prst="rect">
            <a:avLst/>
          </a:prstGeom>
          <a:noFill/>
        </p:spPr>
        <p:txBody>
          <a:bodyPr wrap="square" lIns="0" tIns="0" rIns="0" bIns="0" anchor="t">
            <a:spAutoFit/>
          </a:bodyPr>
          <a:lstStyle/>
          <a:p>
            <a:pPr algn="l">
              <a:lnSpc>
                <a:spcPct val="108000"/>
              </a:lnSpc>
              <a:spcAft>
                <a:spcPts val="400"/>
              </a:spcAft>
            </a:pPr>
            <a:r>
              <a:rPr sz="1100" b="0" i="0" spc="200">
                <a:solidFill>
                  <a:srgbClr val="2563EB"/>
                </a:solidFill>
                <a:latin typeface="Segoe UI Semibold"/>
              </a:rPr>
              <a:t>WHAT'S NEXT</a:t>
            </a:r>
          </a:p>
        </p:txBody>
      </p:sp>
      <p:sp>
        <p:nvSpPr>
          <p:cNvPr id="4" name="TextBox 3"/>
          <p:cNvSpPr txBox="1"/>
          <p:nvPr/>
        </p:nvSpPr>
        <p:spPr>
          <a:xfrm>
            <a:off x="804672" y="676656"/>
            <a:ext cx="9875520" cy="566928"/>
          </a:xfrm>
          <a:prstGeom prst="rect">
            <a:avLst/>
          </a:prstGeom>
          <a:noFill/>
        </p:spPr>
        <p:txBody>
          <a:bodyPr wrap="square" lIns="0" tIns="0" rIns="0" bIns="0" anchor="t">
            <a:spAutoFit/>
          </a:bodyPr>
          <a:lstStyle/>
          <a:p>
            <a:pPr algn="l">
              <a:lnSpc>
                <a:spcPct val="100000"/>
              </a:lnSpc>
              <a:spcAft>
                <a:spcPts val="400"/>
              </a:spcAft>
            </a:pPr>
            <a:r>
              <a:rPr sz="3000" b="0" i="0">
                <a:solidFill>
                  <a:srgbClr val="0B1E3F"/>
                </a:solidFill>
                <a:latin typeface="Segoe UI Semibold"/>
              </a:rPr>
              <a:t>Future scope</a:t>
            </a:r>
          </a:p>
        </p:txBody>
      </p:sp>
      <p:pic>
        <p:nvPicPr>
          <p:cNvPr id="5" name="Picture 4" descr="logo_512.png"/>
          <p:cNvPicPr>
            <a:picLocks noChangeAspect="1"/>
          </p:cNvPicPr>
          <p:nvPr/>
        </p:nvPicPr>
        <p:blipFill>
          <a:blip r:embed="rId3"/>
          <a:stretch>
            <a:fillRect/>
          </a:stretch>
        </p:blipFill>
        <p:spPr>
          <a:xfrm>
            <a:off x="11137392" y="475488"/>
            <a:ext cx="475488" cy="475488"/>
          </a:xfrm>
          <a:prstGeom prst="rect">
            <a:avLst/>
          </a:prstGeom>
        </p:spPr>
      </p:pic>
      <p:sp>
        <p:nvSpPr>
          <p:cNvPr id="6" name="Rectangle 5"/>
          <p:cNvSpPr/>
          <p:nvPr/>
        </p:nvSpPr>
        <p:spPr>
          <a:xfrm>
            <a:off x="548640" y="6400800"/>
            <a:ext cx="11091672" cy="109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6464808"/>
            <a:ext cx="7315200" cy="228600"/>
          </a:xfrm>
          <a:prstGeom prst="rect">
            <a:avLst/>
          </a:prstGeom>
          <a:noFill/>
        </p:spPr>
        <p:txBody>
          <a:bodyPr wrap="square" lIns="0" tIns="0" rIns="0" bIns="0" anchor="t">
            <a:spAutoFit/>
          </a:bodyPr>
          <a:lstStyle/>
          <a:p>
            <a:pPr algn="l">
              <a:lnSpc>
                <a:spcPct val="108000"/>
              </a:lnSpc>
              <a:spcAft>
                <a:spcPts val="400"/>
              </a:spcAft>
            </a:pPr>
            <a:r>
              <a:rPr sz="1000" b="0" i="0" spc="150">
                <a:solidFill>
                  <a:srgbClr val="0B1E3F"/>
                </a:solidFill>
                <a:latin typeface="Segoe UI Semibold"/>
              </a:rPr>
              <a:t>DEPORT</a:t>
            </a:r>
            <a:r>
              <a:rPr sz="1000" b="0" i="0">
                <a:solidFill>
                  <a:srgbClr val="475569"/>
                </a:solidFill>
                <a:latin typeface="Segoe UI"/>
              </a:rPr>
              <a:t>  ·  Disruption-Aware Logistics Decision Support</a:t>
            </a:r>
          </a:p>
        </p:txBody>
      </p:sp>
      <p:sp>
        <p:nvSpPr>
          <p:cNvPr id="8" name="TextBox 7"/>
          <p:cNvSpPr txBox="1"/>
          <p:nvPr/>
        </p:nvSpPr>
        <p:spPr>
          <a:xfrm>
            <a:off x="10725912" y="6464808"/>
            <a:ext cx="914400" cy="228600"/>
          </a:xfrm>
          <a:prstGeom prst="rect">
            <a:avLst/>
          </a:prstGeom>
          <a:noFill/>
        </p:spPr>
        <p:txBody>
          <a:bodyPr wrap="square" lIns="0" tIns="0" rIns="0" bIns="0" anchor="t">
            <a:spAutoFit/>
          </a:bodyPr>
          <a:lstStyle/>
          <a:p>
            <a:pPr algn="r">
              <a:lnSpc>
                <a:spcPct val="108000"/>
              </a:lnSpc>
              <a:spcAft>
                <a:spcPts val="400"/>
              </a:spcAft>
            </a:pPr>
            <a:r>
              <a:rPr sz="1000" b="0" i="0">
                <a:solidFill>
                  <a:srgbClr val="475569"/>
                </a:solidFill>
                <a:latin typeface="Segoe UI"/>
              </a:rPr>
              <a:t>16 / 17</a:t>
            </a:r>
          </a:p>
        </p:txBody>
      </p:sp>
      <p:sp>
        <p:nvSpPr>
          <p:cNvPr id="9" name="Rectangle 8"/>
          <p:cNvSpPr/>
          <p:nvPr/>
        </p:nvSpPr>
        <p:spPr>
          <a:xfrm>
            <a:off x="1097280" y="2240280"/>
            <a:ext cx="10012680" cy="548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1005840" y="2057400"/>
            <a:ext cx="420624" cy="420624"/>
          </a:xfrm>
          <a:prstGeom prst="ellipse">
            <a:avLst/>
          </a:prstGeom>
          <a:solidFill>
            <a:srgbClr val="2563EB"/>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554480" y="2075688"/>
            <a:ext cx="2286000" cy="365760"/>
          </a:xfrm>
          <a:prstGeom prst="rect">
            <a:avLst/>
          </a:prstGeom>
          <a:noFill/>
        </p:spPr>
        <p:txBody>
          <a:bodyPr wrap="square" lIns="0" tIns="0" rIns="0" bIns="0" anchor="t">
            <a:spAutoFit/>
          </a:bodyPr>
          <a:lstStyle/>
          <a:p>
            <a:pPr algn="l">
              <a:lnSpc>
                <a:spcPct val="108000"/>
              </a:lnSpc>
              <a:spcAft>
                <a:spcPts val="400"/>
              </a:spcAft>
            </a:pPr>
            <a:r>
              <a:rPr sz="1400" b="0" i="0" spc="200">
                <a:solidFill>
                  <a:srgbClr val="2563EB"/>
                </a:solidFill>
                <a:latin typeface="Segoe UI Semibold"/>
              </a:rPr>
              <a:t>NEXT</a:t>
            </a:r>
          </a:p>
        </p:txBody>
      </p:sp>
      <p:sp>
        <p:nvSpPr>
          <p:cNvPr id="12" name="Rounded Rectangle 11"/>
          <p:cNvSpPr/>
          <p:nvPr/>
        </p:nvSpPr>
        <p:spPr>
          <a:xfrm>
            <a:off x="777240" y="2743200"/>
            <a:ext cx="3474720" cy="292608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97280" y="3017520"/>
            <a:ext cx="2926080" cy="2560320"/>
          </a:xfrm>
          <a:prstGeom prst="rect">
            <a:avLst/>
          </a:prstGeom>
          <a:noFill/>
        </p:spPr>
        <p:txBody>
          <a:bodyPr wrap="square" lIns="0" tIns="0" rIns="0" bIns="0" anchor="t">
            <a:spAutoFit/>
          </a:bodyPr>
          <a:lstStyle/>
          <a:p>
            <a:pPr algn="l">
              <a:lnSpc>
                <a:spcPct val="110000"/>
              </a:lnSpc>
              <a:spcAft>
                <a:spcPts val="1200"/>
              </a:spcAft>
            </a:pPr>
            <a:r>
              <a:rPr sz="1000" b="0" i="0">
                <a:solidFill>
                  <a:srgbClr val="2563EB"/>
                </a:solidFill>
                <a:latin typeface="Segoe UI"/>
              </a:rPr>
              <a:t>●  </a:t>
            </a:r>
            <a:r>
              <a:rPr sz="1500" b="0" i="0">
                <a:solidFill>
                  <a:srgbClr val="0F172A"/>
                </a:solidFill>
                <a:latin typeface="Segoe UI"/>
              </a:rPr>
              <a:t>Live traffic and weather feeds</a:t>
            </a:r>
          </a:p>
          <a:p>
            <a:pPr algn="l">
              <a:lnSpc>
                <a:spcPct val="110000"/>
              </a:lnSpc>
              <a:spcAft>
                <a:spcPts val="1200"/>
              </a:spcAft>
            </a:pPr>
            <a:r>
              <a:rPr sz="1000" b="0" i="0">
                <a:solidFill>
                  <a:srgbClr val="2563EB"/>
                </a:solidFill>
                <a:latin typeface="Segoe UI"/>
              </a:rPr>
              <a:t>●  </a:t>
            </a:r>
            <a:r>
              <a:rPr sz="1500" b="0" i="0">
                <a:solidFill>
                  <a:srgbClr val="0F172A"/>
                </a:solidFill>
                <a:latin typeface="Segoe UI"/>
              </a:rPr>
              <a:t>Send real SMS / WhatsApp messages</a:t>
            </a:r>
          </a:p>
          <a:p>
            <a:pPr algn="l">
              <a:lnSpc>
                <a:spcPct val="110000"/>
              </a:lnSpc>
              <a:spcAft>
                <a:spcPts val="1200"/>
              </a:spcAft>
            </a:pPr>
            <a:r>
              <a:rPr sz="1000" b="0" i="0">
                <a:solidFill>
                  <a:srgbClr val="2563EB"/>
                </a:solidFill>
                <a:latin typeface="Segoe UI"/>
              </a:rPr>
              <a:t>●  </a:t>
            </a:r>
            <a:r>
              <a:rPr sz="1500" b="0" i="0">
                <a:solidFill>
                  <a:srgbClr val="0F172A"/>
                </a:solidFill>
                <a:latin typeface="Segoe UI"/>
              </a:rPr>
              <a:t>Google sign-in for all staff</a:t>
            </a:r>
          </a:p>
        </p:txBody>
      </p:sp>
      <p:sp>
        <p:nvSpPr>
          <p:cNvPr id="14" name="Oval 13"/>
          <p:cNvSpPr/>
          <p:nvPr/>
        </p:nvSpPr>
        <p:spPr>
          <a:xfrm>
            <a:off x="4663440" y="2057400"/>
            <a:ext cx="420624" cy="420624"/>
          </a:xfrm>
          <a:prstGeom prst="ellipse">
            <a:avLst/>
          </a:prstGeom>
          <a:solidFill>
            <a:srgbClr val="7C3AED"/>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212079" y="2075688"/>
            <a:ext cx="2286000" cy="365760"/>
          </a:xfrm>
          <a:prstGeom prst="rect">
            <a:avLst/>
          </a:prstGeom>
          <a:noFill/>
        </p:spPr>
        <p:txBody>
          <a:bodyPr wrap="square" lIns="0" tIns="0" rIns="0" bIns="0" anchor="t">
            <a:spAutoFit/>
          </a:bodyPr>
          <a:lstStyle/>
          <a:p>
            <a:pPr algn="l">
              <a:lnSpc>
                <a:spcPct val="108000"/>
              </a:lnSpc>
              <a:spcAft>
                <a:spcPts val="400"/>
              </a:spcAft>
            </a:pPr>
            <a:r>
              <a:rPr sz="1400" b="0" i="0" spc="200">
                <a:solidFill>
                  <a:srgbClr val="7C3AED"/>
                </a:solidFill>
                <a:latin typeface="Segoe UI Semibold"/>
              </a:rPr>
              <a:t>THEN</a:t>
            </a:r>
          </a:p>
        </p:txBody>
      </p:sp>
      <p:sp>
        <p:nvSpPr>
          <p:cNvPr id="16" name="Rounded Rectangle 15"/>
          <p:cNvSpPr/>
          <p:nvPr/>
        </p:nvSpPr>
        <p:spPr>
          <a:xfrm>
            <a:off x="4434840" y="2743200"/>
            <a:ext cx="3474720" cy="292608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4754879" y="3017520"/>
            <a:ext cx="2926080" cy="2560320"/>
          </a:xfrm>
          <a:prstGeom prst="rect">
            <a:avLst/>
          </a:prstGeom>
          <a:noFill/>
        </p:spPr>
        <p:txBody>
          <a:bodyPr wrap="square" lIns="0" tIns="0" rIns="0" bIns="0" anchor="t">
            <a:spAutoFit/>
          </a:bodyPr>
          <a:lstStyle/>
          <a:p>
            <a:pPr algn="l">
              <a:lnSpc>
                <a:spcPct val="110000"/>
              </a:lnSpc>
              <a:spcAft>
                <a:spcPts val="1200"/>
              </a:spcAft>
            </a:pPr>
            <a:r>
              <a:rPr sz="1000" b="0" i="0">
                <a:solidFill>
                  <a:srgbClr val="7C3AED"/>
                </a:solidFill>
                <a:latin typeface="Segoe UI"/>
              </a:rPr>
              <a:t>●  </a:t>
            </a:r>
            <a:r>
              <a:rPr sz="1500" b="0" i="0">
                <a:solidFill>
                  <a:srgbClr val="0F172A"/>
                </a:solidFill>
                <a:latin typeface="Segoe UI"/>
              </a:rPr>
              <a:t>Native Android app on our API</a:t>
            </a:r>
          </a:p>
          <a:p>
            <a:pPr algn="l">
              <a:lnSpc>
                <a:spcPct val="110000"/>
              </a:lnSpc>
              <a:spcAft>
                <a:spcPts val="1200"/>
              </a:spcAft>
            </a:pPr>
            <a:r>
              <a:rPr sz="1000" b="0" i="0">
                <a:solidFill>
                  <a:srgbClr val="7C3AED"/>
                </a:solidFill>
                <a:latin typeface="Segoe UI"/>
              </a:rPr>
              <a:t>●  </a:t>
            </a:r>
            <a:r>
              <a:rPr sz="1500" b="0" i="0">
                <a:solidFill>
                  <a:srgbClr val="0F172A"/>
                </a:solidFill>
                <a:latin typeface="Segoe UI"/>
              </a:rPr>
              <a:t>Live GPS position of vehicles</a:t>
            </a:r>
          </a:p>
          <a:p>
            <a:pPr algn="l">
              <a:lnSpc>
                <a:spcPct val="110000"/>
              </a:lnSpc>
              <a:spcAft>
                <a:spcPts val="1200"/>
              </a:spcAft>
            </a:pPr>
            <a:r>
              <a:rPr sz="1000" b="0" i="0">
                <a:solidFill>
                  <a:srgbClr val="7C3AED"/>
                </a:solidFill>
                <a:latin typeface="Segoe UI"/>
              </a:rPr>
              <a:t>●  </a:t>
            </a:r>
            <a:r>
              <a:rPr sz="1500" b="0" i="0">
                <a:solidFill>
                  <a:srgbClr val="0F172A"/>
                </a:solidFill>
                <a:latin typeface="Segoe UI"/>
              </a:rPr>
              <a:t>Photo proof of delivery</a:t>
            </a:r>
          </a:p>
        </p:txBody>
      </p:sp>
      <p:sp>
        <p:nvSpPr>
          <p:cNvPr id="18" name="Oval 17"/>
          <p:cNvSpPr/>
          <p:nvPr/>
        </p:nvSpPr>
        <p:spPr>
          <a:xfrm>
            <a:off x="8321040" y="2057400"/>
            <a:ext cx="420624" cy="420624"/>
          </a:xfrm>
          <a:prstGeom prst="ellipse">
            <a:avLst/>
          </a:prstGeom>
          <a:solidFill>
            <a:srgbClr val="F59E0B"/>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869680" y="2075688"/>
            <a:ext cx="2286000" cy="365760"/>
          </a:xfrm>
          <a:prstGeom prst="rect">
            <a:avLst/>
          </a:prstGeom>
          <a:noFill/>
        </p:spPr>
        <p:txBody>
          <a:bodyPr wrap="square" lIns="0" tIns="0" rIns="0" bIns="0" anchor="t">
            <a:spAutoFit/>
          </a:bodyPr>
          <a:lstStyle/>
          <a:p>
            <a:pPr algn="l">
              <a:lnSpc>
                <a:spcPct val="108000"/>
              </a:lnSpc>
              <a:spcAft>
                <a:spcPts val="400"/>
              </a:spcAft>
            </a:pPr>
            <a:r>
              <a:rPr sz="1400" b="0" i="0" spc="200">
                <a:solidFill>
                  <a:srgbClr val="F59E0B"/>
                </a:solidFill>
                <a:latin typeface="Segoe UI Semibold"/>
              </a:rPr>
              <a:t>LATER</a:t>
            </a:r>
          </a:p>
        </p:txBody>
      </p:sp>
      <p:sp>
        <p:nvSpPr>
          <p:cNvPr id="20" name="Rounded Rectangle 19"/>
          <p:cNvSpPr/>
          <p:nvPr/>
        </p:nvSpPr>
        <p:spPr>
          <a:xfrm>
            <a:off x="8092440" y="2743200"/>
            <a:ext cx="3474720" cy="2926080"/>
          </a:xfrm>
          <a:prstGeom prst="roundRect">
            <a:avLst>
              <a:gd name="adj" fmla="val 80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412480" y="3017520"/>
            <a:ext cx="2926080" cy="2560320"/>
          </a:xfrm>
          <a:prstGeom prst="rect">
            <a:avLst/>
          </a:prstGeom>
          <a:noFill/>
        </p:spPr>
        <p:txBody>
          <a:bodyPr wrap="square" lIns="0" tIns="0" rIns="0" bIns="0" anchor="t">
            <a:spAutoFit/>
          </a:bodyPr>
          <a:lstStyle/>
          <a:p>
            <a:pPr algn="l">
              <a:lnSpc>
                <a:spcPct val="110000"/>
              </a:lnSpc>
              <a:spcAft>
                <a:spcPts val="1200"/>
              </a:spcAft>
            </a:pPr>
            <a:r>
              <a:rPr sz="1000" b="0" i="0">
                <a:solidFill>
                  <a:srgbClr val="F59E0B"/>
                </a:solidFill>
                <a:latin typeface="Segoe UI"/>
              </a:rPr>
              <a:t>●  </a:t>
            </a:r>
            <a:r>
              <a:rPr sz="1500" b="0" i="0">
                <a:solidFill>
                  <a:srgbClr val="0F172A"/>
                </a:solidFill>
                <a:latin typeface="Segoe UI"/>
              </a:rPr>
              <a:t>Predict delays before they happen</a:t>
            </a:r>
          </a:p>
          <a:p>
            <a:pPr algn="l">
              <a:lnSpc>
                <a:spcPct val="110000"/>
              </a:lnSpc>
              <a:spcAft>
                <a:spcPts val="1200"/>
              </a:spcAft>
            </a:pPr>
            <a:r>
              <a:rPr sz="1000" b="0" i="0">
                <a:solidFill>
                  <a:srgbClr val="F59E0B"/>
                </a:solidFill>
                <a:latin typeface="Segoe UI"/>
              </a:rPr>
              <a:t>●  </a:t>
            </a:r>
            <a:r>
              <a:rPr sz="1500" b="0" i="0">
                <a:solidFill>
                  <a:srgbClr val="0F172A"/>
                </a:solidFill>
                <a:latin typeface="Segoe UI"/>
              </a:rPr>
              <a:t>More cities, cloud database</a:t>
            </a:r>
          </a:p>
          <a:p>
            <a:pPr algn="l">
              <a:lnSpc>
                <a:spcPct val="110000"/>
              </a:lnSpc>
              <a:spcAft>
                <a:spcPts val="1200"/>
              </a:spcAft>
            </a:pPr>
            <a:r>
              <a:rPr sz="1000" b="0" i="0">
                <a:solidFill>
                  <a:srgbClr val="F59E0B"/>
                </a:solidFill>
                <a:latin typeface="Segoe UI"/>
              </a:rPr>
              <a:t>●  </a:t>
            </a:r>
            <a:r>
              <a:rPr sz="1500" b="0" i="0">
                <a:solidFill>
                  <a:srgbClr val="0F172A"/>
                </a:solidFill>
                <a:latin typeface="Segoe UI"/>
              </a:rPr>
              <a:t>Learn from past decisions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70B14"/>
        </a:solidFill>
        <a:effectLst/>
      </p:bgPr>
    </p:bg>
    <p:spTree>
      <p:nvGrpSpPr>
        <p:cNvPr id="1" name=""/>
        <p:cNvGrpSpPr/>
        <p:nvPr/>
      </p:nvGrpSpPr>
      <p:grpSpPr>
        <a:xfrm>
          <a:off x="0" y="0"/>
          <a:ext cx="0" cy="0"/>
          <a:chOff x="0" y="0"/>
          <a:chExt cx="0" cy="0"/>
        </a:xfrm>
      </p:grpSpPr>
      <p:sp>
        <p:nvSpPr>
          <p:cNvPr id="2" name="Oval 1"/>
          <p:cNvSpPr/>
          <p:nvPr/>
        </p:nvSpPr>
        <p:spPr>
          <a:xfrm>
            <a:off x="-2011680" y="-2194560"/>
            <a:ext cx="6858000" cy="6858000"/>
          </a:xfrm>
          <a:prstGeom prst="ellipse">
            <a:avLst/>
          </a:prstGeom>
          <a:solidFill>
            <a:srgbClr val="2563EB">
              <a:alpha val="30000"/>
            </a:srgbClr>
          </a:solidFill>
          <a:ln>
            <a:noFill/>
          </a:ln>
          <a:effectLst>
            <a:softEdge rad="2011680"/>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Oval 2"/>
          <p:cNvSpPr/>
          <p:nvPr/>
        </p:nvSpPr>
        <p:spPr>
          <a:xfrm>
            <a:off x="8778240" y="-2560320"/>
            <a:ext cx="5943600" cy="5943600"/>
          </a:xfrm>
          <a:prstGeom prst="ellipse">
            <a:avLst/>
          </a:prstGeom>
          <a:solidFill>
            <a:srgbClr val="7C3AED">
              <a:alpha val="26000"/>
            </a:srgbClr>
          </a:solidFill>
          <a:ln>
            <a:noFill/>
          </a:ln>
          <a:effectLst>
            <a:softEdge rad="2011680"/>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Oval 3"/>
          <p:cNvSpPr/>
          <p:nvPr/>
        </p:nvSpPr>
        <p:spPr>
          <a:xfrm>
            <a:off x="6400800" y="4206240"/>
            <a:ext cx="6400800" cy="6400800"/>
          </a:xfrm>
          <a:prstGeom prst="ellipse">
            <a:avLst/>
          </a:prstGeom>
          <a:solidFill>
            <a:srgbClr val="14B8A6">
              <a:alpha val="18000"/>
            </a:srgbClr>
          </a:solidFill>
          <a:ln>
            <a:noFill/>
          </a:ln>
          <a:effectLst>
            <a:softEdge rad="2011680"/>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Freeform 4"/>
          <p:cNvSpPr/>
          <p:nvPr/>
        </p:nvSpPr>
        <p:spPr>
          <a:xfrm>
            <a:off x="-274320" y="3840480"/>
            <a:ext cx="12710160" cy="1554480"/>
          </a:xfrm>
          <a:custGeom>
            <a:avLst/>
            <a:gdLst/>
            <a:ahLst/>
            <a:cxnLst/>
            <a:rect l="l" t="t" r="r" b="b"/>
            <a:pathLst>
              <a:path w="12710160" h="1554480">
                <a:moveTo>
                  <a:pt x="0" y="1554480"/>
                </a:moveTo>
                <a:lnTo>
                  <a:pt x="225034" y="1471208"/>
                </a:lnTo>
                <a:lnTo>
                  <a:pt x="447873" y="1399226"/>
                </a:lnTo>
                <a:lnTo>
                  <a:pt x="669066" y="1337822"/>
                </a:lnTo>
                <a:lnTo>
                  <a:pt x="889162" y="1286286"/>
                </a:lnTo>
                <a:lnTo>
                  <a:pt x="1108710" y="1243905"/>
                </a:lnTo>
                <a:lnTo>
                  <a:pt x="1328257" y="1209968"/>
                </a:lnTo>
                <a:lnTo>
                  <a:pt x="1548353" y="1183763"/>
                </a:lnTo>
                <a:lnTo>
                  <a:pt x="1769546" y="1164579"/>
                </a:lnTo>
                <a:lnTo>
                  <a:pt x="1992386" y="1151705"/>
                </a:lnTo>
                <a:lnTo>
                  <a:pt x="2217420" y="1144428"/>
                </a:lnTo>
                <a:lnTo>
                  <a:pt x="2445197" y="1142038"/>
                </a:lnTo>
                <a:lnTo>
                  <a:pt x="2676265" y="1143822"/>
                </a:lnTo>
                <a:lnTo>
                  <a:pt x="2911175" y="1149070"/>
                </a:lnTo>
                <a:lnTo>
                  <a:pt x="3150473" y="1157070"/>
                </a:lnTo>
                <a:lnTo>
                  <a:pt x="3394710" y="1167110"/>
                </a:lnTo>
                <a:lnTo>
                  <a:pt x="3644432" y="1178478"/>
                </a:lnTo>
                <a:lnTo>
                  <a:pt x="3900190" y="1190464"/>
                </a:lnTo>
                <a:lnTo>
                  <a:pt x="4162531" y="1202355"/>
                </a:lnTo>
                <a:lnTo>
                  <a:pt x="4432005" y="1213441"/>
                </a:lnTo>
                <a:lnTo>
                  <a:pt x="4709160" y="1223010"/>
                </a:lnTo>
                <a:lnTo>
                  <a:pt x="4994544" y="1230349"/>
                </a:lnTo>
                <a:lnTo>
                  <a:pt x="5288706" y="1234748"/>
                </a:lnTo>
                <a:lnTo>
                  <a:pt x="5592196" y="1235495"/>
                </a:lnTo>
                <a:lnTo>
                  <a:pt x="5905560" y="1231879"/>
                </a:lnTo>
                <a:lnTo>
                  <a:pt x="6229350" y="1223188"/>
                </a:lnTo>
                <a:lnTo>
                  <a:pt x="6564111" y="1208711"/>
                </a:lnTo>
                <a:lnTo>
                  <a:pt x="6910395" y="1187735"/>
                </a:lnTo>
                <a:lnTo>
                  <a:pt x="7268748" y="1159550"/>
                </a:lnTo>
                <a:lnTo>
                  <a:pt x="7639720" y="1123444"/>
                </a:lnTo>
                <a:lnTo>
                  <a:pt x="8023860" y="1078706"/>
                </a:lnTo>
                <a:lnTo>
                  <a:pt x="8421715" y="1024623"/>
                </a:lnTo>
                <a:lnTo>
                  <a:pt x="8833835" y="960485"/>
                </a:lnTo>
                <a:lnTo>
                  <a:pt x="9260768" y="885580"/>
                </a:lnTo>
                <a:lnTo>
                  <a:pt x="9703064" y="799197"/>
                </a:lnTo>
                <a:lnTo>
                  <a:pt x="10161270" y="700623"/>
                </a:lnTo>
                <a:lnTo>
                  <a:pt x="10635935" y="589147"/>
                </a:lnTo>
                <a:lnTo>
                  <a:pt x="11127607" y="464059"/>
                </a:lnTo>
                <a:lnTo>
                  <a:pt x="11636837" y="324646"/>
                </a:lnTo>
                <a:lnTo>
                  <a:pt x="12164171" y="170196"/>
                </a:lnTo>
                <a:lnTo>
                  <a:pt x="12710160" y="0"/>
                </a:lnTo>
              </a:path>
            </a:pathLst>
          </a:custGeom>
          <a:noFill/>
          <a:ln w="19050">
            <a:solidFill>
              <a:srgbClr val="60A5FA">
                <a:alpha val="3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Freeform 5"/>
          <p:cNvSpPr/>
          <p:nvPr/>
        </p:nvSpPr>
        <p:spPr>
          <a:xfrm>
            <a:off x="-274320" y="990546"/>
            <a:ext cx="12710160" cy="472494"/>
          </a:xfrm>
          <a:custGeom>
            <a:avLst/>
            <a:gdLst/>
            <a:ahLst/>
            <a:cxnLst/>
            <a:rect l="l" t="t" r="r" b="b"/>
            <a:pathLst>
              <a:path w="12710160" h="472494">
                <a:moveTo>
                  <a:pt x="0" y="106734"/>
                </a:moveTo>
                <a:lnTo>
                  <a:pt x="295242" y="170261"/>
                </a:lnTo>
                <a:lnTo>
                  <a:pt x="591205" y="224051"/>
                </a:lnTo>
                <a:lnTo>
                  <a:pt x="887922" y="268651"/>
                </a:lnTo>
                <a:lnTo>
                  <a:pt x="1185428" y="304610"/>
                </a:lnTo>
                <a:lnTo>
                  <a:pt x="1483756" y="332476"/>
                </a:lnTo>
                <a:lnTo>
                  <a:pt x="1782942" y="352799"/>
                </a:lnTo>
                <a:lnTo>
                  <a:pt x="2083020" y="366126"/>
                </a:lnTo>
                <a:lnTo>
                  <a:pt x="2384023" y="373007"/>
                </a:lnTo>
                <a:lnTo>
                  <a:pt x="2685987" y="373990"/>
                </a:lnTo>
                <a:lnTo>
                  <a:pt x="2988945" y="369624"/>
                </a:lnTo>
                <a:lnTo>
                  <a:pt x="3292931" y="360457"/>
                </a:lnTo>
                <a:lnTo>
                  <a:pt x="3597981" y="347038"/>
                </a:lnTo>
                <a:lnTo>
                  <a:pt x="3904127" y="329916"/>
                </a:lnTo>
                <a:lnTo>
                  <a:pt x="4211406" y="309639"/>
                </a:lnTo>
                <a:lnTo>
                  <a:pt x="4519850" y="286756"/>
                </a:lnTo>
                <a:lnTo>
                  <a:pt x="4829495" y="261816"/>
                </a:lnTo>
                <a:lnTo>
                  <a:pt x="5140373" y="235367"/>
                </a:lnTo>
                <a:lnTo>
                  <a:pt x="5452521" y="207958"/>
                </a:lnTo>
                <a:lnTo>
                  <a:pt x="5765972" y="180137"/>
                </a:lnTo>
                <a:lnTo>
                  <a:pt x="6080760" y="152454"/>
                </a:lnTo>
                <a:lnTo>
                  <a:pt x="6396919" y="125456"/>
                </a:lnTo>
                <a:lnTo>
                  <a:pt x="6714484" y="99693"/>
                </a:lnTo>
                <a:lnTo>
                  <a:pt x="7033490" y="75712"/>
                </a:lnTo>
                <a:lnTo>
                  <a:pt x="7353970" y="54064"/>
                </a:lnTo>
                <a:lnTo>
                  <a:pt x="7675959" y="35296"/>
                </a:lnTo>
                <a:lnTo>
                  <a:pt x="7999491" y="19957"/>
                </a:lnTo>
                <a:lnTo>
                  <a:pt x="8324600" y="8596"/>
                </a:lnTo>
                <a:lnTo>
                  <a:pt x="8651321" y="1760"/>
                </a:lnTo>
                <a:lnTo>
                  <a:pt x="8979688" y="0"/>
                </a:lnTo>
                <a:lnTo>
                  <a:pt x="9309735" y="3863"/>
                </a:lnTo>
                <a:lnTo>
                  <a:pt x="9641496" y="13899"/>
                </a:lnTo>
                <a:lnTo>
                  <a:pt x="9975006" y="30655"/>
                </a:lnTo>
                <a:lnTo>
                  <a:pt x="10310300" y="54681"/>
                </a:lnTo>
                <a:lnTo>
                  <a:pt x="10647410" y="86525"/>
                </a:lnTo>
                <a:lnTo>
                  <a:pt x="10986373" y="126736"/>
                </a:lnTo>
                <a:lnTo>
                  <a:pt x="11327221" y="175862"/>
                </a:lnTo>
                <a:lnTo>
                  <a:pt x="11669989" y="234452"/>
                </a:lnTo>
                <a:lnTo>
                  <a:pt x="12014713" y="303055"/>
                </a:lnTo>
                <a:lnTo>
                  <a:pt x="12361424" y="382219"/>
                </a:lnTo>
                <a:lnTo>
                  <a:pt x="12710160" y="472494"/>
                </a:lnTo>
              </a:path>
            </a:pathLst>
          </a:custGeom>
          <a:noFill/>
          <a:ln w="19050">
            <a:solidFill>
              <a:srgbClr val="60A5FA">
                <a:alpha val="28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reeform 6"/>
          <p:cNvSpPr/>
          <p:nvPr/>
        </p:nvSpPr>
        <p:spPr>
          <a:xfrm>
            <a:off x="1828800" y="5486400"/>
            <a:ext cx="10607040" cy="1645920"/>
          </a:xfrm>
          <a:custGeom>
            <a:avLst/>
            <a:gdLst/>
            <a:ahLst/>
            <a:cxnLst/>
            <a:rect l="l" t="t" r="r" b="b"/>
            <a:pathLst>
              <a:path w="10607040" h="1645920">
                <a:moveTo>
                  <a:pt x="0" y="1645920"/>
                </a:moveTo>
                <a:lnTo>
                  <a:pt x="174851" y="1488426"/>
                </a:lnTo>
                <a:lnTo>
                  <a:pt x="356398" y="1344716"/>
                </a:lnTo>
                <a:lnTo>
                  <a:pt x="544478" y="1214174"/>
                </a:lnTo>
                <a:lnTo>
                  <a:pt x="738926" y="1096182"/>
                </a:lnTo>
                <a:lnTo>
                  <a:pt x="939581" y="990123"/>
                </a:lnTo>
                <a:lnTo>
                  <a:pt x="1146280" y="895380"/>
                </a:lnTo>
                <a:lnTo>
                  <a:pt x="1358859" y="811335"/>
                </a:lnTo>
                <a:lnTo>
                  <a:pt x="1577157" y="737372"/>
                </a:lnTo>
                <a:lnTo>
                  <a:pt x="1801009" y="672872"/>
                </a:lnTo>
                <a:lnTo>
                  <a:pt x="2030253" y="617220"/>
                </a:lnTo>
                <a:lnTo>
                  <a:pt x="2264727" y="569796"/>
                </a:lnTo>
                <a:lnTo>
                  <a:pt x="2504267" y="529986"/>
                </a:lnTo>
                <a:lnTo>
                  <a:pt x="2748710" y="497170"/>
                </a:lnTo>
                <a:lnTo>
                  <a:pt x="2997894" y="470733"/>
                </a:lnTo>
                <a:lnTo>
                  <a:pt x="3251656" y="450056"/>
                </a:lnTo>
                <a:lnTo>
                  <a:pt x="3509832" y="434522"/>
                </a:lnTo>
                <a:lnTo>
                  <a:pt x="3772261" y="423515"/>
                </a:lnTo>
                <a:lnTo>
                  <a:pt x="4038779" y="416417"/>
                </a:lnTo>
                <a:lnTo>
                  <a:pt x="4309222" y="412611"/>
                </a:lnTo>
                <a:lnTo>
                  <a:pt x="4583430" y="411480"/>
                </a:lnTo>
                <a:lnTo>
                  <a:pt x="4861237" y="412405"/>
                </a:lnTo>
                <a:lnTo>
                  <a:pt x="5142482" y="414771"/>
                </a:lnTo>
                <a:lnTo>
                  <a:pt x="5427002" y="417960"/>
                </a:lnTo>
                <a:lnTo>
                  <a:pt x="5714634" y="421355"/>
                </a:lnTo>
                <a:lnTo>
                  <a:pt x="6005214" y="424338"/>
                </a:lnTo>
                <a:lnTo>
                  <a:pt x="6298581" y="426293"/>
                </a:lnTo>
                <a:lnTo>
                  <a:pt x="6594571" y="426601"/>
                </a:lnTo>
                <a:lnTo>
                  <a:pt x="6893021" y="424647"/>
                </a:lnTo>
                <a:lnTo>
                  <a:pt x="7193769" y="419812"/>
                </a:lnTo>
                <a:lnTo>
                  <a:pt x="7496651" y="411480"/>
                </a:lnTo>
                <a:lnTo>
                  <a:pt x="7801505" y="399032"/>
                </a:lnTo>
                <a:lnTo>
                  <a:pt x="8108167" y="381853"/>
                </a:lnTo>
                <a:lnTo>
                  <a:pt x="8416476" y="359324"/>
                </a:lnTo>
                <a:lnTo>
                  <a:pt x="8726267" y="330829"/>
                </a:lnTo>
                <a:lnTo>
                  <a:pt x="9037379" y="295751"/>
                </a:lnTo>
                <a:lnTo>
                  <a:pt x="9349648" y="253471"/>
                </a:lnTo>
                <a:lnTo>
                  <a:pt x="9662911" y="203373"/>
                </a:lnTo>
                <a:lnTo>
                  <a:pt x="9977006" y="144840"/>
                </a:lnTo>
                <a:lnTo>
                  <a:pt x="10291770" y="77255"/>
                </a:lnTo>
                <a:lnTo>
                  <a:pt x="10607040" y="0"/>
                </a:lnTo>
              </a:path>
            </a:pathLst>
          </a:custGeom>
          <a:noFill/>
          <a:ln w="19050">
            <a:solidFill>
              <a:srgbClr val="A78BFA">
                <a:alpha val="25000"/>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logo_512.png"/>
          <p:cNvPicPr>
            <a:picLocks noChangeAspect="1"/>
          </p:cNvPicPr>
          <p:nvPr/>
        </p:nvPicPr>
        <p:blipFill>
          <a:blip r:embed="rId3"/>
          <a:stretch>
            <a:fillRect/>
          </a:stretch>
        </p:blipFill>
        <p:spPr>
          <a:xfrm>
            <a:off x="5550408" y="1143000"/>
            <a:ext cx="1097280" cy="1097280"/>
          </a:xfrm>
          <a:prstGeom prst="rect">
            <a:avLst/>
          </a:prstGeom>
        </p:spPr>
      </p:pic>
      <p:sp>
        <p:nvSpPr>
          <p:cNvPr id="9" name="TextBox 8"/>
          <p:cNvSpPr txBox="1"/>
          <p:nvPr/>
        </p:nvSpPr>
        <p:spPr>
          <a:xfrm>
            <a:off x="914400" y="2377440"/>
            <a:ext cx="10360152" cy="914400"/>
          </a:xfrm>
          <a:prstGeom prst="rect">
            <a:avLst/>
          </a:prstGeom>
          <a:noFill/>
        </p:spPr>
        <p:txBody>
          <a:bodyPr wrap="square" lIns="0" tIns="0" rIns="0" bIns="0" anchor="t">
            <a:spAutoFit/>
          </a:bodyPr>
          <a:lstStyle/>
          <a:p>
            <a:pPr algn="ctr">
              <a:lnSpc>
                <a:spcPct val="100000"/>
              </a:lnSpc>
              <a:spcAft>
                <a:spcPts val="400"/>
              </a:spcAft>
            </a:pPr>
            <a:r>
              <a:rPr sz="5400" b="0" i="0">
                <a:solidFill>
                  <a:srgbClr val="FFFFFF"/>
                </a:solidFill>
                <a:latin typeface="Segoe UI Black"/>
              </a:rPr>
              <a:t>Thank you</a:t>
            </a:r>
          </a:p>
        </p:txBody>
      </p:sp>
      <p:sp>
        <p:nvSpPr>
          <p:cNvPr id="10" name="TextBox 9"/>
          <p:cNvSpPr txBox="1"/>
          <p:nvPr/>
        </p:nvSpPr>
        <p:spPr>
          <a:xfrm>
            <a:off x="914400" y="3291840"/>
            <a:ext cx="10360152" cy="457200"/>
          </a:xfrm>
          <a:prstGeom prst="rect">
            <a:avLst/>
          </a:prstGeom>
          <a:noFill/>
        </p:spPr>
        <p:txBody>
          <a:bodyPr wrap="square" lIns="0" tIns="0" rIns="0" bIns="0" anchor="t">
            <a:spAutoFit/>
          </a:bodyPr>
          <a:lstStyle/>
          <a:p>
            <a:pPr algn="ctr">
              <a:lnSpc>
                <a:spcPct val="108000"/>
              </a:lnSpc>
              <a:spcAft>
                <a:spcPts val="400"/>
              </a:spcAft>
            </a:pPr>
            <a:r>
              <a:rPr sz="2200" b="0" i="0">
                <a:solidFill>
                  <a:srgbClr val="F59E0B"/>
                </a:solidFill>
                <a:latin typeface="Segoe UI Semibold"/>
              </a:rPr>
              <a:t>From Disruption to Decision.</a:t>
            </a:r>
          </a:p>
        </p:txBody>
      </p:sp>
      <p:sp>
        <p:nvSpPr>
          <p:cNvPr id="11" name="Rounded Rectangle 10"/>
          <p:cNvSpPr/>
          <p:nvPr/>
        </p:nvSpPr>
        <p:spPr>
          <a:xfrm>
            <a:off x="3108960" y="4069080"/>
            <a:ext cx="5971032" cy="566928"/>
          </a:xfrm>
          <a:prstGeom prst="roundRect">
            <a:avLst>
              <a:gd name="adj" fmla="val 50000"/>
            </a:avLst>
          </a:prstGeom>
          <a:solidFill>
            <a:srgbClr val="FFFFFF">
              <a:alpha val="8000"/>
            </a:srgbClr>
          </a:solidFill>
          <a:ln w="9525">
            <a:solidFill>
              <a:srgbClr val="FFFFFF">
                <a:alpha val="25000"/>
              </a:srgbClr>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500" b="0">
                <a:solidFill>
                  <a:srgbClr val="0F172A"/>
                </a:solidFill>
                <a:latin typeface="Segoe UI Emoji"/>
              </a:rPr>
              <a:t>🌐  </a:t>
            </a:r>
            <a:r>
              <a:rPr sz="1700" b="0">
                <a:solidFill>
                  <a:srgbClr val="E2E8F0"/>
                </a:solidFill>
                <a:latin typeface="Segoe UI Semibold"/>
              </a:rPr>
              <a:t>ripple-coimbatore.streamlit.app</a:t>
            </a:r>
          </a:p>
        </p:txBody>
      </p:sp>
      <p:sp>
        <p:nvSpPr>
          <p:cNvPr id="12" name="TextBox 11"/>
          <p:cNvSpPr txBox="1"/>
          <p:nvPr/>
        </p:nvSpPr>
        <p:spPr>
          <a:xfrm>
            <a:off x="914400" y="4892040"/>
            <a:ext cx="10360152" cy="457200"/>
          </a:xfrm>
          <a:prstGeom prst="rect">
            <a:avLst/>
          </a:prstGeom>
          <a:noFill/>
        </p:spPr>
        <p:txBody>
          <a:bodyPr wrap="square" lIns="0" tIns="0" rIns="0" bIns="0" anchor="t">
            <a:spAutoFit/>
          </a:bodyPr>
          <a:lstStyle/>
          <a:p>
            <a:pPr algn="ctr">
              <a:lnSpc>
                <a:spcPct val="108000"/>
              </a:lnSpc>
              <a:spcAft>
                <a:spcPts val="400"/>
              </a:spcAft>
            </a:pPr>
            <a:r>
              <a:rPr sz="2400" b="0" i="0">
                <a:solidFill>
                  <a:srgbClr val="93C5FD"/>
                </a:solidFill>
                <a:latin typeface="Segoe UI Semibold"/>
              </a:rPr>
              <a:t>Questions?</a:t>
            </a:r>
          </a:p>
        </p:txBody>
      </p:sp>
      <p:sp>
        <p:nvSpPr>
          <p:cNvPr id="13" name="TextBox 12"/>
          <p:cNvSpPr txBox="1"/>
          <p:nvPr/>
        </p:nvSpPr>
        <p:spPr>
          <a:xfrm>
            <a:off x="914400" y="5897880"/>
            <a:ext cx="10360152" cy="320040"/>
          </a:xfrm>
          <a:prstGeom prst="rect">
            <a:avLst/>
          </a:prstGeom>
          <a:noFill/>
        </p:spPr>
        <p:txBody>
          <a:bodyPr wrap="square" lIns="0" tIns="0" rIns="0" bIns="0" anchor="t">
            <a:spAutoFit/>
          </a:bodyPr>
          <a:lstStyle/>
          <a:p>
            <a:pPr algn="ctr">
              <a:lnSpc>
                <a:spcPct val="108000"/>
              </a:lnSpc>
              <a:spcAft>
                <a:spcPts val="400"/>
              </a:spcAft>
            </a:pPr>
            <a:r>
              <a:rPr sz="1250" b="0" i="0">
                <a:solidFill>
                  <a:srgbClr val="94A3B8"/>
                </a:solidFill>
                <a:latin typeface="Segoe UI"/>
              </a:rPr>
              <a:t>Demo logins are in our handout · source: github.com/vaiu0412/hack_inovix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3192</Words>
  <Application>Microsoft Office PowerPoint</Application>
  <PresentationFormat>Widescreen</PresentationFormat>
  <Paragraphs>344</Paragraphs>
  <Slides>17</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Segoe UI</vt:lpstr>
      <vt:lpstr>Segoe UI Black</vt:lpstr>
      <vt:lpstr>Segoe UI Emoji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Vaidharshini Suresh</cp:lastModifiedBy>
  <cp:revision>2</cp:revision>
  <dcterms:created xsi:type="dcterms:W3CDTF">2013-01-27T09:14:16Z</dcterms:created>
  <dcterms:modified xsi:type="dcterms:W3CDTF">2026-10-09T01:02:47Z</dcterms:modified>
  <cp:category/>
</cp:coreProperties>
</file>