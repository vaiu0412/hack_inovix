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1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477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We are Team Inovix, AI &amp; DS third year from Coimbatore Institute of Engineering and Technology. Our problem statement is PS02, Disruption-Aware Logistics Planning. We built a working prototype that turns a delivery disruption into a decision in minutes: a partner reports the problem, AI understands it, the system recommends what to do and the operator approves it. (Add each member's role on this slide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Last-mile delivery in a city like Coimbatore is fragile. One accident on a main road delays many deliveries at once. Today the manager often does not know where each partner is, complaints arrive as calls and messages, the impact is worked out by hand, and there is no system that suggests the best next action. The result is missed deadlines – including urgent ones like medicines.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system has two sides. The branch admin gets a dashboard with a live map, partner details and a delivery status table. The delivery partner reports a problem by tapping an issue type and typing or recording a voice note in Tamil or English. AI extracts the issue, road, duration and severity, the system measures which deliveries are affected and recommends actions such as a backup vehicle or a reroute, each with a short reason. Only when the operator clicks Accept do the routes, ETAs, map and partner phones update – the human stays in control.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is Python. Streamlit is the web front end for admins and partners, FastAPI exposes the same logic as a REST API for a future mobile app, and SQLite stores all data with one transaction per accepted plan. For AI, a Groq or Gemini language model reads the report when a key is set, with an offline rule-based Tamil/English parser as fallback; SpeechRecognition turns voice into text and RapidFuzz matches misspelled places. Maps use Folium with real road shapes from OSRM. Code is on GitHub and the demo is deployed on Streamlit Community Cloud.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screenshots of the running prototype with demo data. (1) The admin's Command Center with KPIs, at-risk deliveries and the live map. (2) The delivery partner's own screen with vehicle, next stop and status. (3) The Report screen: tap an issue type, then type or record a voice note. (4) The Alerts page: what changed, what is affected, and the recommended plan with reasons – the operator clicks Accept plan and routes, ETAs and partner phones update. Then switch to the live demo.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20840" y="0"/>
            <a:ext cx="5470855" cy="6858000"/>
          </a:xfrm>
          <a:prstGeom prst="rect">
            <a:avLst/>
          </a:prstGeom>
          <a:solidFill>
            <a:srgbClr val="13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086600" y="960120"/>
            <a:ext cx="4754880" cy="32461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03_live_map.jpg"/>
          <p:cNvPicPr>
            <a:picLocks noChangeAspect="1"/>
          </p:cNvPicPr>
          <p:nvPr/>
        </p:nvPicPr>
        <p:blipFill>
          <a:blip r:embed="rId3"/>
          <a:srcRect b="541"/>
          <a:stretch>
            <a:fillRect/>
          </a:stretch>
        </p:blipFill>
        <p:spPr>
          <a:xfrm>
            <a:off x="7223760" y="1097280"/>
            <a:ext cx="4480560" cy="2971800"/>
          </a:xfrm>
          <a:prstGeom prst="rect">
            <a:avLst/>
          </a:prstGeom>
          <a:ln w="9525">
            <a:solidFill>
              <a:srgbClr val="D9E2EC"/>
            </a:solidFill>
          </a:ln>
        </p:spPr>
      </p:pic>
      <p:sp>
        <p:nvSpPr>
          <p:cNvPr id="6" name="Oval 5"/>
          <p:cNvSpPr/>
          <p:nvPr/>
        </p:nvSpPr>
        <p:spPr>
          <a:xfrm>
            <a:off x="7269480" y="4526280"/>
            <a:ext cx="548640" cy="54864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69480" y="4526280"/>
            <a:ext cx="548640" cy="548640"/>
          </a:xfrm>
          <a:prstGeom prst="rect">
            <a:avLst/>
          </a:prstGeom>
          <a:noFill/>
        </p:spPr>
        <p:txBody>
          <a:bodyPr wrap="square" lIns="0" tIns="0" rIns="0" bIns="0" anchor="ctr">
            <a:spAutoFit/>
          </a:bodyPr>
          <a:lstStyle/>
          <a:p>
            <a:pPr algn="ctr">
              <a:spcAft>
                <a:spcPts val="400"/>
              </a:spcAft>
            </a:pPr>
            <a:r>
              <a:rPr sz="1700">
                <a:solidFill>
                  <a:srgbClr val="FFFFFF"/>
                </a:solidFill>
                <a:latin typeface="Segoe UI Emoji"/>
              </a:rPr>
              <a:t>📦</a:t>
            </a:r>
          </a:p>
        </p:txBody>
      </p:sp>
      <p:cxnSp>
        <p:nvCxnSpPr>
          <p:cNvPr id="8" name="Connector 7"/>
          <p:cNvCxnSpPr/>
          <p:nvPr/>
        </p:nvCxnSpPr>
        <p:spPr>
          <a:xfrm>
            <a:off x="7863840" y="4800600"/>
            <a:ext cx="868680" cy="0"/>
          </a:xfrm>
          <a:prstGeom prst="line">
            <a:avLst/>
          </a:prstGeom>
          <a:ln w="31750">
            <a:solidFill>
              <a:srgbClr val="5EEAD4"/>
            </a:solidFill>
            <a:prstDash val="dash"/>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778240" y="452628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0" y="4526280"/>
            <a:ext cx="548640" cy="548640"/>
          </a:xfrm>
          <a:prstGeom prst="rect">
            <a:avLst/>
          </a:prstGeom>
          <a:noFill/>
        </p:spPr>
        <p:txBody>
          <a:bodyPr wrap="square" lIns="0" tIns="0" rIns="0" bIns="0" anchor="ctr">
            <a:spAutoFit/>
          </a:bodyPr>
          <a:lstStyle/>
          <a:p>
            <a:pPr algn="ctr">
              <a:spcAft>
                <a:spcPts val="400"/>
              </a:spcAft>
            </a:pPr>
            <a:r>
              <a:rPr sz="1700">
                <a:solidFill>
                  <a:srgbClr val="FFFFFF"/>
                </a:solidFill>
                <a:latin typeface="Segoe UI Emoji"/>
              </a:rPr>
              <a:t>🚚</a:t>
            </a:r>
          </a:p>
        </p:txBody>
      </p:sp>
      <p:cxnSp>
        <p:nvCxnSpPr>
          <p:cNvPr id="11" name="Connector 10"/>
          <p:cNvCxnSpPr/>
          <p:nvPr/>
        </p:nvCxnSpPr>
        <p:spPr>
          <a:xfrm>
            <a:off x="9372600" y="4800600"/>
            <a:ext cx="868680" cy="0"/>
          </a:xfrm>
          <a:prstGeom prst="line">
            <a:avLst/>
          </a:prstGeom>
          <a:ln w="31750">
            <a:solidFill>
              <a:srgbClr val="5EEAD4"/>
            </a:solidFill>
            <a:prstDash val="dash"/>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7000" y="4526280"/>
            <a:ext cx="548640" cy="54864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87000" y="4526280"/>
            <a:ext cx="548640" cy="548640"/>
          </a:xfrm>
          <a:prstGeom prst="rect">
            <a:avLst/>
          </a:prstGeom>
          <a:noFill/>
        </p:spPr>
        <p:txBody>
          <a:bodyPr wrap="square" lIns="0" tIns="0" rIns="0" bIns="0" anchor="ctr">
            <a:spAutoFit/>
          </a:bodyPr>
          <a:lstStyle/>
          <a:p>
            <a:pPr algn="ctr">
              <a:spcAft>
                <a:spcPts val="400"/>
              </a:spcAft>
            </a:pPr>
            <a:r>
              <a:rPr sz="1700">
                <a:solidFill>
                  <a:srgbClr val="FFFFFF"/>
                </a:solidFill>
                <a:latin typeface="Segoe UI Emoji"/>
              </a:rPr>
              <a:t>📍</a:t>
            </a:r>
          </a:p>
        </p:txBody>
      </p:sp>
      <p:sp>
        <p:nvSpPr>
          <p:cNvPr id="14" name="TextBox 13"/>
          <p:cNvSpPr txBox="1"/>
          <p:nvPr/>
        </p:nvSpPr>
        <p:spPr>
          <a:xfrm>
            <a:off x="7086600" y="5212080"/>
            <a:ext cx="4754880" cy="548640"/>
          </a:xfrm>
          <a:prstGeom prst="rect">
            <a:avLst/>
          </a:prstGeom>
          <a:noFill/>
        </p:spPr>
        <p:txBody>
          <a:bodyPr wrap="square" lIns="0" tIns="0" rIns="0" bIns="0" anchor="t">
            <a:spAutoFit/>
          </a:bodyPr>
          <a:lstStyle/>
          <a:p>
            <a:pPr algn="ctr">
              <a:spcAft>
                <a:spcPts val="400"/>
              </a:spcAft>
            </a:pPr>
            <a:r>
              <a:rPr sz="1300">
                <a:solidFill>
                  <a:srgbClr val="CBD5E1"/>
                </a:solidFill>
                <a:latin typeface="Segoe UI Semibold"/>
              </a:rPr>
              <a:t>Report  →  Analyse  →  Recommend  →  Approve  →  Update</a:t>
            </a:r>
          </a:p>
        </p:txBody>
      </p:sp>
      <p:sp>
        <p:nvSpPr>
          <p:cNvPr id="15" name="TextBox 14"/>
          <p:cNvSpPr txBox="1"/>
          <p:nvPr/>
        </p:nvSpPr>
        <p:spPr>
          <a:xfrm>
            <a:off x="594360" y="502920"/>
            <a:ext cx="5852160" cy="365760"/>
          </a:xfrm>
          <a:prstGeom prst="rect">
            <a:avLst/>
          </a:prstGeom>
          <a:noFill/>
        </p:spPr>
        <p:txBody>
          <a:bodyPr wrap="square" lIns="0" tIns="0" rIns="0" bIns="0" anchor="t">
            <a:spAutoFit/>
          </a:bodyPr>
          <a:lstStyle/>
          <a:p>
            <a:pPr algn="l">
              <a:spcAft>
                <a:spcPts val="400"/>
              </a:spcAft>
            </a:pPr>
            <a:r>
              <a:rPr sz="1200">
                <a:solidFill>
                  <a:srgbClr val="5EEAD4"/>
                </a:solidFill>
                <a:latin typeface="Segoe UI Semibold"/>
              </a:rPr>
              <a:t>HACKNEXT'26  ·  SNS COLLEGE OF ENGINEERING, COIMBATORE</a:t>
            </a:r>
          </a:p>
        </p:txBody>
      </p:sp>
      <p:sp>
        <p:nvSpPr>
          <p:cNvPr id="16" name="Rounded Rectangle 15"/>
          <p:cNvSpPr/>
          <p:nvPr/>
        </p:nvSpPr>
        <p:spPr>
          <a:xfrm>
            <a:off x="594360" y="960120"/>
            <a:ext cx="3977639" cy="384048"/>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960120"/>
            <a:ext cx="3977639" cy="384048"/>
          </a:xfrm>
          <a:prstGeom prst="rect">
            <a:avLst/>
          </a:prstGeom>
          <a:noFill/>
        </p:spPr>
        <p:txBody>
          <a:bodyPr wrap="square" lIns="0" tIns="0" rIns="0" bIns="0" anchor="ctr">
            <a:spAutoFit/>
          </a:bodyPr>
          <a:lstStyle/>
          <a:p>
            <a:pPr algn="ctr">
              <a:spcAft>
                <a:spcPts val="400"/>
              </a:spcAft>
            </a:pPr>
            <a:r>
              <a:rPr sz="1300">
                <a:solidFill>
                  <a:srgbClr val="FFFFFF"/>
                </a:solidFill>
                <a:latin typeface="Segoe UI Semibold"/>
              </a:rPr>
              <a:t>PS02 – Disruption-Aware Logistics Planning</a:t>
            </a:r>
          </a:p>
        </p:txBody>
      </p:sp>
      <p:sp>
        <p:nvSpPr>
          <p:cNvPr id="18" name="TextBox 17"/>
          <p:cNvSpPr txBox="1"/>
          <p:nvPr/>
        </p:nvSpPr>
        <p:spPr>
          <a:xfrm>
            <a:off x="594360" y="1554480"/>
            <a:ext cx="5943600" cy="1737360"/>
          </a:xfrm>
          <a:prstGeom prst="rect">
            <a:avLst/>
          </a:prstGeom>
          <a:noFill/>
        </p:spPr>
        <p:txBody>
          <a:bodyPr wrap="square" lIns="0" tIns="0" rIns="0" bIns="0" anchor="t">
            <a:spAutoFit/>
          </a:bodyPr>
          <a:lstStyle/>
          <a:p>
            <a:pPr algn="l">
              <a:spcAft>
                <a:spcPts val="400"/>
              </a:spcAft>
            </a:pPr>
            <a:r>
              <a:rPr sz="4000">
                <a:solidFill>
                  <a:srgbClr val="FFFFFF"/>
                </a:solidFill>
                <a:latin typeface="Segoe UI Semibold"/>
              </a:rPr>
              <a:t>AI-Powered</a:t>
            </a:r>
          </a:p>
          <a:p>
            <a:pPr algn="l">
              <a:spcAft>
                <a:spcPts val="400"/>
              </a:spcAft>
            </a:pPr>
            <a:r>
              <a:rPr sz="3400">
                <a:solidFill>
                  <a:srgbClr val="FFFFFF"/>
                </a:solidFill>
                <a:latin typeface="Segoe UI Semibold"/>
              </a:rPr>
              <a:t>Disruption-Aware Logistics</a:t>
            </a:r>
          </a:p>
          <a:p>
            <a:pPr algn="l">
              <a:spcAft>
                <a:spcPts val="400"/>
              </a:spcAft>
            </a:pPr>
            <a:r>
              <a:rPr sz="3400">
                <a:solidFill>
                  <a:srgbClr val="5EEAD4"/>
                </a:solidFill>
                <a:latin typeface="Segoe UI Semibold"/>
              </a:rPr>
              <a:t>Planning System</a:t>
            </a:r>
          </a:p>
        </p:txBody>
      </p:sp>
      <p:sp>
        <p:nvSpPr>
          <p:cNvPr id="19" name="TextBox 18"/>
          <p:cNvSpPr txBox="1"/>
          <p:nvPr/>
        </p:nvSpPr>
        <p:spPr>
          <a:xfrm>
            <a:off x="594360" y="3520440"/>
            <a:ext cx="5852160" cy="365760"/>
          </a:xfrm>
          <a:prstGeom prst="rect">
            <a:avLst/>
          </a:prstGeom>
          <a:noFill/>
        </p:spPr>
        <p:txBody>
          <a:bodyPr wrap="square" lIns="0" tIns="0" rIns="0" bIns="0" anchor="t">
            <a:spAutoFit/>
          </a:bodyPr>
          <a:lstStyle/>
          <a:p>
            <a:pPr algn="l">
              <a:spcAft>
                <a:spcPts val="400"/>
              </a:spcAft>
            </a:pPr>
            <a:r>
              <a:rPr sz="1400">
                <a:solidFill>
                  <a:srgbClr val="CBD5E1"/>
                </a:solidFill>
                <a:latin typeface="Segoe UI"/>
              </a:rPr>
              <a:t>Domain: Transportation &amp; Logistics</a:t>
            </a:r>
          </a:p>
        </p:txBody>
      </p:sp>
      <p:sp>
        <p:nvSpPr>
          <p:cNvPr id="20" name="Rounded Rectangle 19"/>
          <p:cNvSpPr/>
          <p:nvPr/>
        </p:nvSpPr>
        <p:spPr>
          <a:xfrm>
            <a:off x="594360" y="4023360"/>
            <a:ext cx="5806440" cy="2194560"/>
          </a:xfrm>
          <a:prstGeom prst="roundRect">
            <a:avLst>
              <a:gd name="adj" fmla="val 6000"/>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4160520"/>
            <a:ext cx="2743200" cy="365760"/>
          </a:xfrm>
          <a:prstGeom prst="rect">
            <a:avLst/>
          </a:prstGeom>
          <a:noFill/>
        </p:spPr>
        <p:txBody>
          <a:bodyPr wrap="square" lIns="0" tIns="0" rIns="0" bIns="0" anchor="t">
            <a:spAutoFit/>
          </a:bodyPr>
          <a:lstStyle/>
          <a:p>
            <a:pPr algn="l">
              <a:spcAft>
                <a:spcPts val="400"/>
              </a:spcAft>
            </a:pPr>
            <a:r>
              <a:rPr sz="1500">
                <a:solidFill>
                  <a:srgbClr val="5EEAD4"/>
                </a:solidFill>
                <a:latin typeface="Segoe UI Semibold"/>
              </a:rPr>
              <a:t>TEAM INOVIX</a:t>
            </a:r>
          </a:p>
        </p:txBody>
      </p:sp>
      <p:sp>
        <p:nvSpPr>
          <p:cNvPr id="22" name="TextBox 21"/>
          <p:cNvSpPr txBox="1"/>
          <p:nvPr/>
        </p:nvSpPr>
        <p:spPr>
          <a:xfrm>
            <a:off x="2926080" y="4187952"/>
            <a:ext cx="3291840" cy="365760"/>
          </a:xfrm>
          <a:prstGeom prst="rect">
            <a:avLst/>
          </a:prstGeom>
          <a:noFill/>
        </p:spPr>
        <p:txBody>
          <a:bodyPr wrap="square" lIns="0" tIns="0" rIns="0" bIns="0" anchor="t">
            <a:spAutoFit/>
          </a:bodyPr>
          <a:lstStyle/>
          <a:p>
            <a:pPr algn="r">
              <a:spcAft>
                <a:spcPts val="400"/>
              </a:spcAft>
            </a:pPr>
            <a:r>
              <a:rPr sz="1200">
                <a:solidFill>
                  <a:srgbClr val="CBD5E1"/>
                </a:solidFill>
                <a:latin typeface="Segoe UI"/>
              </a:rPr>
              <a:t>AI &amp; DS · 3rd Year</a:t>
            </a:r>
          </a:p>
        </p:txBody>
      </p:sp>
      <p:sp>
        <p:nvSpPr>
          <p:cNvPr id="23" name="Oval 22"/>
          <p:cNvSpPr/>
          <p:nvPr/>
        </p:nvSpPr>
        <p:spPr>
          <a:xfrm>
            <a:off x="868680" y="4617720"/>
            <a:ext cx="384048" cy="38404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4617720"/>
            <a:ext cx="384048" cy="384048"/>
          </a:xfrm>
          <a:prstGeom prst="rect">
            <a:avLst/>
          </a:prstGeom>
          <a:noFill/>
        </p:spPr>
        <p:txBody>
          <a:bodyPr wrap="square" lIns="0" tIns="0" rIns="0" bIns="0" anchor="ctr">
            <a:spAutoFit/>
          </a:bodyPr>
          <a:lstStyle/>
          <a:p>
            <a:pPr algn="ctr">
              <a:spcAft>
                <a:spcPts val="400"/>
              </a:spcAft>
            </a:pPr>
            <a:r>
              <a:rPr sz="1400">
                <a:solidFill>
                  <a:srgbClr val="FFFFFF"/>
                </a:solidFill>
                <a:latin typeface="Segoe UI Emoji"/>
              </a:rPr>
              <a:t>V</a:t>
            </a:r>
          </a:p>
        </p:txBody>
      </p:sp>
      <p:sp>
        <p:nvSpPr>
          <p:cNvPr id="25" name="TextBox 24"/>
          <p:cNvSpPr txBox="1"/>
          <p:nvPr/>
        </p:nvSpPr>
        <p:spPr>
          <a:xfrm>
            <a:off x="1371600" y="4599432"/>
            <a:ext cx="2194560" cy="274320"/>
          </a:xfrm>
          <a:prstGeom prst="rect">
            <a:avLst/>
          </a:prstGeom>
          <a:noFill/>
        </p:spPr>
        <p:txBody>
          <a:bodyPr wrap="square" lIns="0" tIns="0" rIns="0" bIns="0" anchor="t">
            <a:spAutoFit/>
          </a:bodyPr>
          <a:lstStyle/>
          <a:p>
            <a:pPr algn="l">
              <a:spcAft>
                <a:spcPts val="400"/>
              </a:spcAft>
            </a:pPr>
            <a:r>
              <a:rPr sz="1400">
                <a:solidFill>
                  <a:srgbClr val="FFFFFF"/>
                </a:solidFill>
                <a:latin typeface="Segoe UI Semibold"/>
              </a:rPr>
              <a:t>Vaidharshini S</a:t>
            </a:r>
          </a:p>
        </p:txBody>
      </p:sp>
      <p:sp>
        <p:nvSpPr>
          <p:cNvPr id="26" name="TextBox 25"/>
          <p:cNvSpPr txBox="1"/>
          <p:nvPr/>
        </p:nvSpPr>
        <p:spPr>
          <a:xfrm>
            <a:off x="1371600" y="4855464"/>
            <a:ext cx="2194560" cy="228600"/>
          </a:xfrm>
          <a:prstGeom prst="rect">
            <a:avLst/>
          </a:prstGeom>
          <a:noFill/>
        </p:spPr>
        <p:txBody>
          <a:bodyPr wrap="square" lIns="0" tIns="0" rIns="0" bIns="0" anchor="t">
            <a:spAutoFit/>
          </a:bodyPr>
          <a:lstStyle/>
          <a:p>
            <a:pPr algn="l">
              <a:spcAft>
                <a:spcPts val="400"/>
              </a:spcAft>
            </a:pPr>
            <a:r>
              <a:rPr sz="1050">
                <a:solidFill>
                  <a:srgbClr val="94A3B8"/>
                </a:solidFill>
                <a:latin typeface="Segoe UI"/>
              </a:rPr>
              <a:t>Role: to be added</a:t>
            </a:r>
          </a:p>
        </p:txBody>
      </p:sp>
      <p:sp>
        <p:nvSpPr>
          <p:cNvPr id="27" name="Oval 26"/>
          <p:cNvSpPr/>
          <p:nvPr/>
        </p:nvSpPr>
        <p:spPr>
          <a:xfrm>
            <a:off x="3611880" y="4617720"/>
            <a:ext cx="384048" cy="38404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11880" y="4617720"/>
            <a:ext cx="384048" cy="384048"/>
          </a:xfrm>
          <a:prstGeom prst="rect">
            <a:avLst/>
          </a:prstGeom>
          <a:noFill/>
        </p:spPr>
        <p:txBody>
          <a:bodyPr wrap="square" lIns="0" tIns="0" rIns="0" bIns="0" anchor="ctr">
            <a:spAutoFit/>
          </a:bodyPr>
          <a:lstStyle/>
          <a:p>
            <a:pPr algn="ctr">
              <a:spcAft>
                <a:spcPts val="400"/>
              </a:spcAft>
            </a:pPr>
            <a:r>
              <a:rPr sz="1400">
                <a:solidFill>
                  <a:srgbClr val="FFFFFF"/>
                </a:solidFill>
                <a:latin typeface="Segoe UI Emoji"/>
              </a:rPr>
              <a:t>M</a:t>
            </a:r>
          </a:p>
        </p:txBody>
      </p:sp>
      <p:sp>
        <p:nvSpPr>
          <p:cNvPr id="29" name="TextBox 28"/>
          <p:cNvSpPr txBox="1"/>
          <p:nvPr/>
        </p:nvSpPr>
        <p:spPr>
          <a:xfrm>
            <a:off x="4114800" y="4599432"/>
            <a:ext cx="2194560" cy="274320"/>
          </a:xfrm>
          <a:prstGeom prst="rect">
            <a:avLst/>
          </a:prstGeom>
          <a:noFill/>
        </p:spPr>
        <p:txBody>
          <a:bodyPr wrap="square" lIns="0" tIns="0" rIns="0" bIns="0" anchor="t">
            <a:spAutoFit/>
          </a:bodyPr>
          <a:lstStyle/>
          <a:p>
            <a:pPr algn="l">
              <a:spcAft>
                <a:spcPts val="400"/>
              </a:spcAft>
            </a:pPr>
            <a:r>
              <a:rPr sz="1400">
                <a:solidFill>
                  <a:srgbClr val="FFFFFF"/>
                </a:solidFill>
                <a:latin typeface="Segoe UI Semibold"/>
              </a:rPr>
              <a:t>Manikandan R</a:t>
            </a:r>
          </a:p>
        </p:txBody>
      </p:sp>
      <p:sp>
        <p:nvSpPr>
          <p:cNvPr id="30" name="TextBox 29"/>
          <p:cNvSpPr txBox="1"/>
          <p:nvPr/>
        </p:nvSpPr>
        <p:spPr>
          <a:xfrm>
            <a:off x="4114800" y="4855464"/>
            <a:ext cx="2194560" cy="228600"/>
          </a:xfrm>
          <a:prstGeom prst="rect">
            <a:avLst/>
          </a:prstGeom>
          <a:noFill/>
        </p:spPr>
        <p:txBody>
          <a:bodyPr wrap="square" lIns="0" tIns="0" rIns="0" bIns="0" anchor="t">
            <a:spAutoFit/>
          </a:bodyPr>
          <a:lstStyle/>
          <a:p>
            <a:pPr algn="l">
              <a:spcAft>
                <a:spcPts val="400"/>
              </a:spcAft>
            </a:pPr>
            <a:r>
              <a:rPr sz="1050">
                <a:solidFill>
                  <a:srgbClr val="94A3B8"/>
                </a:solidFill>
                <a:latin typeface="Segoe UI"/>
              </a:rPr>
              <a:t>Role: to be added</a:t>
            </a:r>
          </a:p>
        </p:txBody>
      </p:sp>
      <p:sp>
        <p:nvSpPr>
          <p:cNvPr id="31" name="Oval 30"/>
          <p:cNvSpPr/>
          <p:nvPr/>
        </p:nvSpPr>
        <p:spPr>
          <a:xfrm>
            <a:off x="868680" y="5276088"/>
            <a:ext cx="384048" cy="38404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8680" y="5276088"/>
            <a:ext cx="384048" cy="384048"/>
          </a:xfrm>
          <a:prstGeom prst="rect">
            <a:avLst/>
          </a:prstGeom>
          <a:noFill/>
        </p:spPr>
        <p:txBody>
          <a:bodyPr wrap="square" lIns="0" tIns="0" rIns="0" bIns="0" anchor="ctr">
            <a:spAutoFit/>
          </a:bodyPr>
          <a:lstStyle/>
          <a:p>
            <a:pPr algn="ctr">
              <a:spcAft>
                <a:spcPts val="400"/>
              </a:spcAft>
            </a:pPr>
            <a:r>
              <a:rPr sz="1400">
                <a:solidFill>
                  <a:srgbClr val="FFFFFF"/>
                </a:solidFill>
                <a:latin typeface="Segoe UI Emoji"/>
              </a:rPr>
              <a:t>P</a:t>
            </a:r>
          </a:p>
        </p:txBody>
      </p:sp>
      <p:sp>
        <p:nvSpPr>
          <p:cNvPr id="33" name="TextBox 32"/>
          <p:cNvSpPr txBox="1"/>
          <p:nvPr/>
        </p:nvSpPr>
        <p:spPr>
          <a:xfrm>
            <a:off x="1371600" y="5257800"/>
            <a:ext cx="2194560" cy="274320"/>
          </a:xfrm>
          <a:prstGeom prst="rect">
            <a:avLst/>
          </a:prstGeom>
          <a:noFill/>
        </p:spPr>
        <p:txBody>
          <a:bodyPr wrap="square" lIns="0" tIns="0" rIns="0" bIns="0" anchor="t">
            <a:spAutoFit/>
          </a:bodyPr>
          <a:lstStyle/>
          <a:p>
            <a:pPr algn="l">
              <a:spcAft>
                <a:spcPts val="400"/>
              </a:spcAft>
            </a:pPr>
            <a:r>
              <a:rPr sz="1400">
                <a:solidFill>
                  <a:srgbClr val="FFFFFF"/>
                </a:solidFill>
                <a:latin typeface="Segoe UI Semibold"/>
              </a:rPr>
              <a:t>Pranesh T</a:t>
            </a:r>
          </a:p>
        </p:txBody>
      </p:sp>
      <p:sp>
        <p:nvSpPr>
          <p:cNvPr id="34" name="TextBox 33"/>
          <p:cNvSpPr txBox="1"/>
          <p:nvPr/>
        </p:nvSpPr>
        <p:spPr>
          <a:xfrm>
            <a:off x="1371600" y="5513831"/>
            <a:ext cx="2194560" cy="228600"/>
          </a:xfrm>
          <a:prstGeom prst="rect">
            <a:avLst/>
          </a:prstGeom>
          <a:noFill/>
        </p:spPr>
        <p:txBody>
          <a:bodyPr wrap="square" lIns="0" tIns="0" rIns="0" bIns="0" anchor="t">
            <a:spAutoFit/>
          </a:bodyPr>
          <a:lstStyle/>
          <a:p>
            <a:pPr algn="l">
              <a:spcAft>
                <a:spcPts val="400"/>
              </a:spcAft>
            </a:pPr>
            <a:r>
              <a:rPr sz="1050">
                <a:solidFill>
                  <a:srgbClr val="94A3B8"/>
                </a:solidFill>
                <a:latin typeface="Segoe UI"/>
              </a:rPr>
              <a:t>Role: to be added</a:t>
            </a:r>
          </a:p>
        </p:txBody>
      </p:sp>
      <p:sp>
        <p:nvSpPr>
          <p:cNvPr id="35" name="Oval 34"/>
          <p:cNvSpPr/>
          <p:nvPr/>
        </p:nvSpPr>
        <p:spPr>
          <a:xfrm>
            <a:off x="3611880" y="5276088"/>
            <a:ext cx="384048" cy="38404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11880" y="5276088"/>
            <a:ext cx="384048" cy="384048"/>
          </a:xfrm>
          <a:prstGeom prst="rect">
            <a:avLst/>
          </a:prstGeom>
          <a:noFill/>
        </p:spPr>
        <p:txBody>
          <a:bodyPr wrap="square" lIns="0" tIns="0" rIns="0" bIns="0" anchor="ctr">
            <a:spAutoFit/>
          </a:bodyPr>
          <a:lstStyle/>
          <a:p>
            <a:pPr algn="ctr">
              <a:spcAft>
                <a:spcPts val="400"/>
              </a:spcAft>
            </a:pPr>
            <a:r>
              <a:rPr sz="1400">
                <a:solidFill>
                  <a:srgbClr val="FFFFFF"/>
                </a:solidFill>
                <a:latin typeface="Segoe UI Emoji"/>
              </a:rPr>
              <a:t>Y</a:t>
            </a:r>
          </a:p>
        </p:txBody>
      </p:sp>
      <p:sp>
        <p:nvSpPr>
          <p:cNvPr id="37" name="TextBox 36"/>
          <p:cNvSpPr txBox="1"/>
          <p:nvPr/>
        </p:nvSpPr>
        <p:spPr>
          <a:xfrm>
            <a:off x="4114800" y="5257800"/>
            <a:ext cx="2194560" cy="274320"/>
          </a:xfrm>
          <a:prstGeom prst="rect">
            <a:avLst/>
          </a:prstGeom>
          <a:noFill/>
        </p:spPr>
        <p:txBody>
          <a:bodyPr wrap="square" lIns="0" tIns="0" rIns="0" bIns="0" anchor="t">
            <a:spAutoFit/>
          </a:bodyPr>
          <a:lstStyle/>
          <a:p>
            <a:pPr algn="l">
              <a:spcAft>
                <a:spcPts val="400"/>
              </a:spcAft>
            </a:pPr>
            <a:r>
              <a:rPr sz="1400">
                <a:solidFill>
                  <a:srgbClr val="FFFFFF"/>
                </a:solidFill>
                <a:latin typeface="Segoe UI Semibold"/>
              </a:rPr>
              <a:t>Yuvaraj N</a:t>
            </a:r>
          </a:p>
        </p:txBody>
      </p:sp>
      <p:sp>
        <p:nvSpPr>
          <p:cNvPr id="38" name="TextBox 37"/>
          <p:cNvSpPr txBox="1"/>
          <p:nvPr/>
        </p:nvSpPr>
        <p:spPr>
          <a:xfrm>
            <a:off x="4114800" y="5513831"/>
            <a:ext cx="2194560" cy="228600"/>
          </a:xfrm>
          <a:prstGeom prst="rect">
            <a:avLst/>
          </a:prstGeom>
          <a:noFill/>
        </p:spPr>
        <p:txBody>
          <a:bodyPr wrap="square" lIns="0" tIns="0" rIns="0" bIns="0" anchor="t">
            <a:spAutoFit/>
          </a:bodyPr>
          <a:lstStyle/>
          <a:p>
            <a:pPr algn="l">
              <a:spcAft>
                <a:spcPts val="400"/>
              </a:spcAft>
            </a:pPr>
            <a:r>
              <a:rPr sz="1050">
                <a:solidFill>
                  <a:srgbClr val="94A3B8"/>
                </a:solidFill>
                <a:latin typeface="Segoe UI"/>
              </a:rPr>
              <a:t>Role: to be added</a:t>
            </a:r>
          </a:p>
        </p:txBody>
      </p:sp>
      <p:sp>
        <p:nvSpPr>
          <p:cNvPr id="39" name="TextBox 38"/>
          <p:cNvSpPr txBox="1"/>
          <p:nvPr/>
        </p:nvSpPr>
        <p:spPr>
          <a:xfrm>
            <a:off x="868680" y="5897880"/>
            <a:ext cx="5486400" cy="274320"/>
          </a:xfrm>
          <a:prstGeom prst="rect">
            <a:avLst/>
          </a:prstGeom>
          <a:noFill/>
        </p:spPr>
        <p:txBody>
          <a:bodyPr wrap="square" lIns="0" tIns="0" rIns="0" bIns="0" anchor="t">
            <a:spAutoFit/>
          </a:bodyPr>
          <a:lstStyle/>
          <a:p>
            <a:pPr algn="l">
              <a:spcAft>
                <a:spcPts val="400"/>
              </a:spcAft>
            </a:pPr>
            <a:r>
              <a:rPr sz="1200">
                <a:solidFill>
                  <a:srgbClr val="CBD5E1"/>
                </a:solidFill>
                <a:latin typeface="Segoe UI"/>
              </a:rPr>
              <a:t>Coimbatore Institute of Engineering and Technology</a:t>
            </a:r>
          </a:p>
        </p:txBody>
      </p:sp>
      <p:sp>
        <p:nvSpPr>
          <p:cNvPr id="40" name="TextBox 39"/>
          <p:cNvSpPr txBox="1"/>
          <p:nvPr/>
        </p:nvSpPr>
        <p:spPr>
          <a:xfrm>
            <a:off x="548640" y="6473952"/>
            <a:ext cx="8229600" cy="274320"/>
          </a:xfrm>
          <a:prstGeom prst="rect">
            <a:avLst/>
          </a:prstGeom>
          <a:noFill/>
        </p:spPr>
        <p:txBody>
          <a:bodyPr wrap="square" lIns="0" tIns="0" rIns="0" bIns="0" anchor="t">
            <a:spAutoFit/>
          </a:bodyPr>
          <a:lstStyle/>
          <a:p>
            <a:pPr algn="l">
              <a:spcAft>
                <a:spcPts val="400"/>
              </a:spcAft>
            </a:pPr>
            <a:r>
              <a:rPr sz="1000">
                <a:solidFill>
                  <a:srgbClr val="94A3B8"/>
                </a:solidFill>
                <a:latin typeface="Segoe UI"/>
              </a:rPr>
              <a:t>PS02 – Disruption-Aware Logistics Planning  ·  Team Inovix</a:t>
            </a:r>
          </a:p>
        </p:txBody>
      </p:sp>
      <p:sp>
        <p:nvSpPr>
          <p:cNvPr id="41" name="TextBox 40"/>
          <p:cNvSpPr txBox="1"/>
          <p:nvPr/>
        </p:nvSpPr>
        <p:spPr>
          <a:xfrm>
            <a:off x="11155680" y="6473952"/>
            <a:ext cx="502920" cy="274320"/>
          </a:xfrm>
          <a:prstGeom prst="rect">
            <a:avLst/>
          </a:prstGeom>
          <a:noFill/>
        </p:spPr>
        <p:txBody>
          <a:bodyPr wrap="square" lIns="0" tIns="0" rIns="0" bIns="0" anchor="t">
            <a:spAutoFit/>
          </a:bodyPr>
          <a:lstStyle/>
          <a:p>
            <a:pPr algn="r">
              <a:spcAft>
                <a:spcPts val="400"/>
              </a:spcAft>
            </a:pPr>
            <a:r>
              <a:rPr sz="1000">
                <a:solidFill>
                  <a:srgbClr val="94A3B8"/>
                </a:solidFill>
                <a:latin typeface="Segoe UI"/>
              </a:rPr>
              <a:t>1 /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486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2880"/>
            <a:ext cx="8686800" cy="365760"/>
          </a:xfrm>
          <a:prstGeom prst="rect">
            <a:avLst/>
          </a:prstGeom>
          <a:noFill/>
        </p:spPr>
        <p:txBody>
          <a:bodyPr wrap="square" lIns="0" tIns="0" rIns="0" bIns="0" anchor="t">
            <a:spAutoFit/>
          </a:bodyPr>
          <a:lstStyle/>
          <a:p>
            <a:pPr algn="l">
              <a:spcAft>
                <a:spcPts val="400"/>
              </a:spcAft>
            </a:pPr>
            <a:r>
              <a:rPr sz="1200">
                <a:solidFill>
                  <a:srgbClr val="5EEAD4"/>
                </a:solidFill>
                <a:latin typeface="Segoe UI Semibold"/>
              </a:rPr>
              <a:t>PROBLEM STATEMENT</a:t>
            </a:r>
          </a:p>
        </p:txBody>
      </p:sp>
      <p:sp>
        <p:nvSpPr>
          <p:cNvPr id="6" name="TextBox 5"/>
          <p:cNvSpPr txBox="1"/>
          <p:nvPr/>
        </p:nvSpPr>
        <p:spPr>
          <a:xfrm>
            <a:off x="548640" y="438912"/>
            <a:ext cx="9601200" cy="548640"/>
          </a:xfrm>
          <a:prstGeom prst="rect">
            <a:avLst/>
          </a:prstGeom>
          <a:noFill/>
        </p:spPr>
        <p:txBody>
          <a:bodyPr wrap="square" lIns="0" tIns="0" rIns="0" bIns="0" anchor="t">
            <a:spAutoFit/>
          </a:bodyPr>
          <a:lstStyle/>
          <a:p>
            <a:pPr algn="l">
              <a:spcAft>
                <a:spcPts val="400"/>
              </a:spcAft>
            </a:pPr>
            <a:r>
              <a:rPr sz="2800">
                <a:solidFill>
                  <a:srgbClr val="FFFFFF"/>
                </a:solidFill>
                <a:latin typeface="Segoe UI Semibold"/>
              </a:rPr>
              <a:t>When one road closes, the whole plan breaks</a:t>
            </a:r>
          </a:p>
        </p:txBody>
      </p:sp>
      <p:sp>
        <p:nvSpPr>
          <p:cNvPr id="7" name="TextBox 6"/>
          <p:cNvSpPr txBox="1"/>
          <p:nvPr/>
        </p:nvSpPr>
        <p:spPr>
          <a:xfrm>
            <a:off x="9692640" y="384048"/>
            <a:ext cx="1965960" cy="365760"/>
          </a:xfrm>
          <a:prstGeom prst="rect">
            <a:avLst/>
          </a:prstGeom>
          <a:noFill/>
        </p:spPr>
        <p:txBody>
          <a:bodyPr wrap="square" lIns="0" tIns="0" rIns="0" bIns="0" anchor="t">
            <a:spAutoFit/>
          </a:bodyPr>
          <a:lstStyle/>
          <a:p>
            <a:pPr algn="r">
              <a:spcAft>
                <a:spcPts val="400"/>
              </a:spcAft>
            </a:pPr>
            <a:r>
              <a:rPr sz="1200">
                <a:solidFill>
                  <a:srgbClr val="CBD5E1"/>
                </a:solidFill>
                <a:latin typeface="Segoe UI"/>
              </a:rPr>
              <a:t>HackNext'26 · Inovix</a:t>
            </a:r>
          </a:p>
        </p:txBody>
      </p:sp>
      <p:sp>
        <p:nvSpPr>
          <p:cNvPr id="8" name="TextBox 7"/>
          <p:cNvSpPr txBox="1"/>
          <p:nvPr/>
        </p:nvSpPr>
        <p:spPr>
          <a:xfrm>
            <a:off x="548640" y="6473952"/>
            <a:ext cx="8229600" cy="274320"/>
          </a:xfrm>
          <a:prstGeom prst="rect">
            <a:avLst/>
          </a:prstGeom>
          <a:noFill/>
        </p:spPr>
        <p:txBody>
          <a:bodyPr wrap="square" lIns="0" tIns="0" rIns="0" bIns="0" anchor="t">
            <a:spAutoFit/>
          </a:bodyPr>
          <a:lstStyle/>
          <a:p>
            <a:pPr algn="l">
              <a:spcAft>
                <a:spcPts val="400"/>
              </a:spcAft>
            </a:pPr>
            <a:r>
              <a:rPr sz="1000">
                <a:solidFill>
                  <a:srgbClr val="475569"/>
                </a:solidFill>
                <a:latin typeface="Segoe UI"/>
              </a:rPr>
              <a:t>PS02 – Disruption-Aware Logistics Planning  ·  Team Inovix</a:t>
            </a:r>
          </a:p>
        </p:txBody>
      </p:sp>
      <p:sp>
        <p:nvSpPr>
          <p:cNvPr id="9" name="TextBox 8"/>
          <p:cNvSpPr txBox="1"/>
          <p:nvPr/>
        </p:nvSpPr>
        <p:spPr>
          <a:xfrm>
            <a:off x="11155680" y="6473952"/>
            <a:ext cx="502920" cy="274320"/>
          </a:xfrm>
          <a:prstGeom prst="rect">
            <a:avLst/>
          </a:prstGeom>
          <a:noFill/>
        </p:spPr>
        <p:txBody>
          <a:bodyPr wrap="square" lIns="0" tIns="0" rIns="0" bIns="0" anchor="t">
            <a:spAutoFit/>
          </a:bodyPr>
          <a:lstStyle/>
          <a:p>
            <a:pPr algn="r">
              <a:spcAft>
                <a:spcPts val="400"/>
              </a:spcAft>
            </a:pPr>
            <a:r>
              <a:rPr sz="1000">
                <a:solidFill>
                  <a:srgbClr val="475569"/>
                </a:solidFill>
                <a:latin typeface="Segoe UI"/>
              </a:rPr>
              <a:t>2 / 5</a:t>
            </a:r>
          </a:p>
        </p:txBody>
      </p:sp>
      <p:sp>
        <p:nvSpPr>
          <p:cNvPr id="10" name="Rounded Rectangle 9"/>
          <p:cNvSpPr/>
          <p:nvPr/>
        </p:nvSpPr>
        <p:spPr>
          <a:xfrm>
            <a:off x="548640" y="1600200"/>
            <a:ext cx="2075688" cy="35204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600200"/>
            <a:ext cx="2075688"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216152" y="1965960"/>
            <a:ext cx="749808" cy="74980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16152" y="1965960"/>
            <a:ext cx="749808" cy="749808"/>
          </a:xfrm>
          <a:prstGeom prst="rect">
            <a:avLst/>
          </a:prstGeom>
          <a:noFill/>
        </p:spPr>
        <p:txBody>
          <a:bodyPr wrap="square" lIns="0" tIns="0" rIns="0" bIns="0" anchor="ctr">
            <a:spAutoFit/>
          </a:bodyPr>
          <a:lstStyle/>
          <a:p>
            <a:pPr algn="ctr">
              <a:spcAft>
                <a:spcPts val="400"/>
              </a:spcAft>
            </a:pPr>
            <a:r>
              <a:rPr sz="2600">
                <a:solidFill>
                  <a:srgbClr val="FFFFFF"/>
                </a:solidFill>
                <a:latin typeface="Segoe UI Emoji"/>
              </a:rPr>
              <a:t>🚧</a:t>
            </a:r>
          </a:p>
        </p:txBody>
      </p:sp>
      <p:sp>
        <p:nvSpPr>
          <p:cNvPr id="14" name="TextBox 13"/>
          <p:cNvSpPr txBox="1"/>
          <p:nvPr/>
        </p:nvSpPr>
        <p:spPr>
          <a:xfrm>
            <a:off x="713232" y="2926080"/>
            <a:ext cx="1746504" cy="640080"/>
          </a:xfrm>
          <a:prstGeom prst="rect">
            <a:avLst/>
          </a:prstGeom>
          <a:noFill/>
        </p:spPr>
        <p:txBody>
          <a:bodyPr wrap="square" lIns="0" tIns="0" rIns="0" bIns="0" anchor="t">
            <a:spAutoFit/>
          </a:bodyPr>
          <a:lstStyle/>
          <a:p>
            <a:pPr algn="ctr">
              <a:spcAft>
                <a:spcPts val="400"/>
              </a:spcAft>
            </a:pPr>
            <a:r>
              <a:rPr sz="1600">
                <a:solidFill>
                  <a:srgbClr val="0B1F3A"/>
                </a:solidFill>
                <a:latin typeface="Segoe UI Semibold"/>
              </a:rPr>
              <a:t>Unexpected disruptions</a:t>
            </a:r>
          </a:p>
        </p:txBody>
      </p:sp>
      <p:sp>
        <p:nvSpPr>
          <p:cNvPr id="15" name="TextBox 14"/>
          <p:cNvSpPr txBox="1"/>
          <p:nvPr/>
        </p:nvSpPr>
        <p:spPr>
          <a:xfrm>
            <a:off x="713232" y="3611880"/>
            <a:ext cx="1746504" cy="1371600"/>
          </a:xfrm>
          <a:prstGeom prst="rect">
            <a:avLst/>
          </a:prstGeom>
          <a:noFill/>
        </p:spPr>
        <p:txBody>
          <a:bodyPr wrap="square" lIns="0" tIns="0" rIns="0" bIns="0" anchor="t">
            <a:spAutoFit/>
          </a:bodyPr>
          <a:lstStyle/>
          <a:p>
            <a:pPr algn="ctr">
              <a:spcAft>
                <a:spcPts val="400"/>
              </a:spcAft>
            </a:pPr>
            <a:r>
              <a:rPr sz="1250">
                <a:solidFill>
                  <a:srgbClr val="475569"/>
                </a:solidFill>
                <a:latin typeface="Segoe UI"/>
              </a:rPr>
              <a:t>Accidents, traffic, flooding and protests delay deliveries without warning.</a:t>
            </a:r>
          </a:p>
        </p:txBody>
      </p:sp>
      <p:sp>
        <p:nvSpPr>
          <p:cNvPr id="16" name="Rounded Rectangle 15"/>
          <p:cNvSpPr/>
          <p:nvPr/>
        </p:nvSpPr>
        <p:spPr>
          <a:xfrm>
            <a:off x="2807208" y="1600200"/>
            <a:ext cx="2075688" cy="35204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807208" y="1600200"/>
            <a:ext cx="2075688"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474720" y="1965960"/>
            <a:ext cx="749808" cy="74980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0" y="1965960"/>
            <a:ext cx="749808" cy="749808"/>
          </a:xfrm>
          <a:prstGeom prst="rect">
            <a:avLst/>
          </a:prstGeom>
          <a:noFill/>
        </p:spPr>
        <p:txBody>
          <a:bodyPr wrap="square" lIns="0" tIns="0" rIns="0" bIns="0" anchor="ctr">
            <a:spAutoFit/>
          </a:bodyPr>
          <a:lstStyle/>
          <a:p>
            <a:pPr algn="ctr">
              <a:spcAft>
                <a:spcPts val="400"/>
              </a:spcAft>
            </a:pPr>
            <a:r>
              <a:rPr sz="2600">
                <a:solidFill>
                  <a:srgbClr val="FFFFFF"/>
                </a:solidFill>
                <a:latin typeface="Segoe UI Emoji"/>
              </a:rPr>
              <a:t>📍</a:t>
            </a:r>
          </a:p>
        </p:txBody>
      </p:sp>
      <p:sp>
        <p:nvSpPr>
          <p:cNvPr id="20" name="TextBox 19"/>
          <p:cNvSpPr txBox="1"/>
          <p:nvPr/>
        </p:nvSpPr>
        <p:spPr>
          <a:xfrm>
            <a:off x="2971800" y="2926080"/>
            <a:ext cx="1746504" cy="640080"/>
          </a:xfrm>
          <a:prstGeom prst="rect">
            <a:avLst/>
          </a:prstGeom>
          <a:noFill/>
        </p:spPr>
        <p:txBody>
          <a:bodyPr wrap="square" lIns="0" tIns="0" rIns="0" bIns="0" anchor="t">
            <a:spAutoFit/>
          </a:bodyPr>
          <a:lstStyle/>
          <a:p>
            <a:pPr algn="ctr">
              <a:spcAft>
                <a:spcPts val="400"/>
              </a:spcAft>
            </a:pPr>
            <a:r>
              <a:rPr sz="1600">
                <a:solidFill>
                  <a:srgbClr val="0B1F3A"/>
                </a:solidFill>
                <a:latin typeface="Segoe UI Semibold"/>
              </a:rPr>
              <a:t>No live visibility</a:t>
            </a:r>
          </a:p>
        </p:txBody>
      </p:sp>
      <p:sp>
        <p:nvSpPr>
          <p:cNvPr id="21" name="TextBox 20"/>
          <p:cNvSpPr txBox="1"/>
          <p:nvPr/>
        </p:nvSpPr>
        <p:spPr>
          <a:xfrm>
            <a:off x="2971800" y="3611880"/>
            <a:ext cx="1746504" cy="1371600"/>
          </a:xfrm>
          <a:prstGeom prst="rect">
            <a:avLst/>
          </a:prstGeom>
          <a:noFill/>
        </p:spPr>
        <p:txBody>
          <a:bodyPr wrap="square" lIns="0" tIns="0" rIns="0" bIns="0" anchor="t">
            <a:spAutoFit/>
          </a:bodyPr>
          <a:lstStyle/>
          <a:p>
            <a:pPr algn="ctr">
              <a:spcAft>
                <a:spcPts val="400"/>
              </a:spcAft>
            </a:pPr>
            <a:r>
              <a:rPr sz="1250">
                <a:solidFill>
                  <a:srgbClr val="475569"/>
                </a:solidFill>
                <a:latin typeface="Segoe UI"/>
              </a:rPr>
              <a:t>Hard to track delivery personnel and the status of every delivery.</a:t>
            </a:r>
          </a:p>
        </p:txBody>
      </p:sp>
      <p:sp>
        <p:nvSpPr>
          <p:cNvPr id="22" name="Rounded Rectangle 21"/>
          <p:cNvSpPr/>
          <p:nvPr/>
        </p:nvSpPr>
        <p:spPr>
          <a:xfrm>
            <a:off x="5065776" y="1600200"/>
            <a:ext cx="2075688" cy="35204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65776" y="1600200"/>
            <a:ext cx="2075688"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733288" y="1965960"/>
            <a:ext cx="749808" cy="74980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733288" y="1965960"/>
            <a:ext cx="749808" cy="749808"/>
          </a:xfrm>
          <a:prstGeom prst="rect">
            <a:avLst/>
          </a:prstGeom>
          <a:noFill/>
        </p:spPr>
        <p:txBody>
          <a:bodyPr wrap="square" lIns="0" tIns="0" rIns="0" bIns="0" anchor="ctr">
            <a:spAutoFit/>
          </a:bodyPr>
          <a:lstStyle/>
          <a:p>
            <a:pPr algn="ctr">
              <a:spcAft>
                <a:spcPts val="400"/>
              </a:spcAft>
            </a:pPr>
            <a:r>
              <a:rPr sz="2600">
                <a:solidFill>
                  <a:srgbClr val="FFFFFF"/>
                </a:solidFill>
                <a:latin typeface="Segoe UI Emoji"/>
              </a:rPr>
              <a:t>📝</a:t>
            </a:r>
          </a:p>
        </p:txBody>
      </p:sp>
      <p:sp>
        <p:nvSpPr>
          <p:cNvPr id="26" name="TextBox 25"/>
          <p:cNvSpPr txBox="1"/>
          <p:nvPr/>
        </p:nvSpPr>
        <p:spPr>
          <a:xfrm>
            <a:off x="5230368" y="2926080"/>
            <a:ext cx="1746504" cy="640080"/>
          </a:xfrm>
          <a:prstGeom prst="rect">
            <a:avLst/>
          </a:prstGeom>
          <a:noFill/>
        </p:spPr>
        <p:txBody>
          <a:bodyPr wrap="square" lIns="0" tIns="0" rIns="0" bIns="0" anchor="t">
            <a:spAutoFit/>
          </a:bodyPr>
          <a:lstStyle/>
          <a:p>
            <a:pPr algn="ctr">
              <a:spcAft>
                <a:spcPts val="400"/>
              </a:spcAft>
            </a:pPr>
            <a:r>
              <a:rPr sz="1600">
                <a:solidFill>
                  <a:srgbClr val="0B1F3A"/>
                </a:solidFill>
                <a:latin typeface="Segoe UI Semibold"/>
              </a:rPr>
              <a:t>Manual incident handling</a:t>
            </a:r>
          </a:p>
        </p:txBody>
      </p:sp>
      <p:sp>
        <p:nvSpPr>
          <p:cNvPr id="27" name="TextBox 26"/>
          <p:cNvSpPr txBox="1"/>
          <p:nvPr/>
        </p:nvSpPr>
        <p:spPr>
          <a:xfrm>
            <a:off x="5230368" y="3611880"/>
            <a:ext cx="1746504" cy="1371600"/>
          </a:xfrm>
          <a:prstGeom prst="rect">
            <a:avLst/>
          </a:prstGeom>
          <a:noFill/>
        </p:spPr>
        <p:txBody>
          <a:bodyPr wrap="square" lIns="0" tIns="0" rIns="0" bIns="0" anchor="t">
            <a:spAutoFit/>
          </a:bodyPr>
          <a:lstStyle/>
          <a:p>
            <a:pPr algn="ctr">
              <a:spcAft>
                <a:spcPts val="400"/>
              </a:spcAft>
            </a:pPr>
            <a:r>
              <a:rPr sz="1250">
                <a:solidFill>
                  <a:srgbClr val="475569"/>
                </a:solidFill>
                <a:latin typeface="Segoe UI"/>
              </a:rPr>
              <a:t>Complaints come by phone calls and messages – slow and easy to lose.</a:t>
            </a:r>
          </a:p>
        </p:txBody>
      </p:sp>
      <p:sp>
        <p:nvSpPr>
          <p:cNvPr id="28" name="Rounded Rectangle 27"/>
          <p:cNvSpPr/>
          <p:nvPr/>
        </p:nvSpPr>
        <p:spPr>
          <a:xfrm>
            <a:off x="7324344" y="1600200"/>
            <a:ext cx="2075688" cy="35204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324344" y="1600200"/>
            <a:ext cx="2075688"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991856" y="1965960"/>
            <a:ext cx="749808" cy="74980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991856" y="1965960"/>
            <a:ext cx="749808" cy="749808"/>
          </a:xfrm>
          <a:prstGeom prst="rect">
            <a:avLst/>
          </a:prstGeom>
          <a:noFill/>
        </p:spPr>
        <p:txBody>
          <a:bodyPr wrap="square" lIns="0" tIns="0" rIns="0" bIns="0" anchor="ctr">
            <a:spAutoFit/>
          </a:bodyPr>
          <a:lstStyle/>
          <a:p>
            <a:pPr algn="ctr">
              <a:spcAft>
                <a:spcPts val="400"/>
              </a:spcAft>
            </a:pPr>
            <a:r>
              <a:rPr sz="2600">
                <a:solidFill>
                  <a:srgbClr val="FFFFFF"/>
                </a:solidFill>
                <a:latin typeface="Segoe UI Emoji"/>
              </a:rPr>
              <a:t>⏱️</a:t>
            </a:r>
          </a:p>
        </p:txBody>
      </p:sp>
      <p:sp>
        <p:nvSpPr>
          <p:cNvPr id="32" name="TextBox 31"/>
          <p:cNvSpPr txBox="1"/>
          <p:nvPr/>
        </p:nvSpPr>
        <p:spPr>
          <a:xfrm>
            <a:off x="7488936" y="2926080"/>
            <a:ext cx="1746504" cy="640080"/>
          </a:xfrm>
          <a:prstGeom prst="rect">
            <a:avLst/>
          </a:prstGeom>
          <a:noFill/>
        </p:spPr>
        <p:txBody>
          <a:bodyPr wrap="square" lIns="0" tIns="0" rIns="0" bIns="0" anchor="t">
            <a:spAutoFit/>
          </a:bodyPr>
          <a:lstStyle/>
          <a:p>
            <a:pPr algn="ctr">
              <a:spcAft>
                <a:spcPts val="400"/>
              </a:spcAft>
            </a:pPr>
            <a:r>
              <a:rPr sz="1600">
                <a:solidFill>
                  <a:srgbClr val="0B1F3A"/>
                </a:solidFill>
                <a:latin typeface="Segoe UI Semibold"/>
              </a:rPr>
              <a:t>Slow decisions</a:t>
            </a:r>
          </a:p>
        </p:txBody>
      </p:sp>
      <p:sp>
        <p:nvSpPr>
          <p:cNvPr id="33" name="TextBox 32"/>
          <p:cNvSpPr txBox="1"/>
          <p:nvPr/>
        </p:nvSpPr>
        <p:spPr>
          <a:xfrm>
            <a:off x="7488936" y="3611880"/>
            <a:ext cx="1746504" cy="1371600"/>
          </a:xfrm>
          <a:prstGeom prst="rect">
            <a:avLst/>
          </a:prstGeom>
          <a:noFill/>
        </p:spPr>
        <p:txBody>
          <a:bodyPr wrap="square" lIns="0" tIns="0" rIns="0" bIns="0" anchor="t">
            <a:spAutoFit/>
          </a:bodyPr>
          <a:lstStyle/>
          <a:p>
            <a:pPr algn="ctr">
              <a:spcAft>
                <a:spcPts val="400"/>
              </a:spcAft>
            </a:pPr>
            <a:r>
              <a:rPr sz="1250">
                <a:solidFill>
                  <a:srgbClr val="475569"/>
                </a:solidFill>
                <a:latin typeface="Segoe UI"/>
              </a:rPr>
              <a:t>Managers work out the impact by hand while deadlines slip.</a:t>
            </a:r>
          </a:p>
        </p:txBody>
      </p:sp>
      <p:sp>
        <p:nvSpPr>
          <p:cNvPr id="34" name="Rounded Rectangle 33"/>
          <p:cNvSpPr/>
          <p:nvPr/>
        </p:nvSpPr>
        <p:spPr>
          <a:xfrm>
            <a:off x="9582912" y="1600200"/>
            <a:ext cx="2075688" cy="35204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582912" y="1600200"/>
            <a:ext cx="2075688"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250424" y="1965960"/>
            <a:ext cx="749808" cy="74980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250424" y="1965960"/>
            <a:ext cx="749808" cy="749808"/>
          </a:xfrm>
          <a:prstGeom prst="rect">
            <a:avLst/>
          </a:prstGeom>
          <a:noFill/>
        </p:spPr>
        <p:txBody>
          <a:bodyPr wrap="square" lIns="0" tIns="0" rIns="0" bIns="0" anchor="ctr">
            <a:spAutoFit/>
          </a:bodyPr>
          <a:lstStyle/>
          <a:p>
            <a:pPr algn="ctr">
              <a:spcAft>
                <a:spcPts val="400"/>
              </a:spcAft>
            </a:pPr>
            <a:r>
              <a:rPr sz="2600">
                <a:solidFill>
                  <a:srgbClr val="FFFFFF"/>
                </a:solidFill>
                <a:latin typeface="Segoe UI Emoji"/>
              </a:rPr>
              <a:t>🧭</a:t>
            </a:r>
          </a:p>
        </p:txBody>
      </p:sp>
      <p:sp>
        <p:nvSpPr>
          <p:cNvPr id="38" name="TextBox 37"/>
          <p:cNvSpPr txBox="1"/>
          <p:nvPr/>
        </p:nvSpPr>
        <p:spPr>
          <a:xfrm>
            <a:off x="9747504" y="2926080"/>
            <a:ext cx="1746504" cy="640080"/>
          </a:xfrm>
          <a:prstGeom prst="rect">
            <a:avLst/>
          </a:prstGeom>
          <a:noFill/>
        </p:spPr>
        <p:txBody>
          <a:bodyPr wrap="square" lIns="0" tIns="0" rIns="0" bIns="0" anchor="t">
            <a:spAutoFit/>
          </a:bodyPr>
          <a:lstStyle/>
          <a:p>
            <a:pPr algn="ctr">
              <a:spcAft>
                <a:spcPts val="400"/>
              </a:spcAft>
            </a:pPr>
            <a:r>
              <a:rPr sz="1600">
                <a:solidFill>
                  <a:srgbClr val="0B1F3A"/>
                </a:solidFill>
                <a:latin typeface="Segoe UI Semibold"/>
              </a:rPr>
              <a:t>No smart suggestions</a:t>
            </a:r>
          </a:p>
        </p:txBody>
      </p:sp>
      <p:sp>
        <p:nvSpPr>
          <p:cNvPr id="39" name="TextBox 38"/>
          <p:cNvSpPr txBox="1"/>
          <p:nvPr/>
        </p:nvSpPr>
        <p:spPr>
          <a:xfrm>
            <a:off x="9747504" y="3611880"/>
            <a:ext cx="1746504" cy="1371600"/>
          </a:xfrm>
          <a:prstGeom prst="rect">
            <a:avLst/>
          </a:prstGeom>
          <a:noFill/>
        </p:spPr>
        <p:txBody>
          <a:bodyPr wrap="square" lIns="0" tIns="0" rIns="0" bIns="0" anchor="t">
            <a:spAutoFit/>
          </a:bodyPr>
          <a:lstStyle/>
          <a:p>
            <a:pPr algn="ctr">
              <a:spcAft>
                <a:spcPts val="400"/>
              </a:spcAft>
            </a:pPr>
            <a:r>
              <a:rPr sz="1250">
                <a:solidFill>
                  <a:srgbClr val="475569"/>
                </a:solidFill>
                <a:latin typeface="Segoe UI"/>
              </a:rPr>
              <a:t>No guidance on which route or delivery to change, and why.</a:t>
            </a:r>
          </a:p>
        </p:txBody>
      </p:sp>
      <p:sp>
        <p:nvSpPr>
          <p:cNvPr id="40" name="Rounded Rectangle 39"/>
          <p:cNvSpPr/>
          <p:nvPr/>
        </p:nvSpPr>
        <p:spPr>
          <a:xfrm>
            <a:off x="548640" y="5440680"/>
            <a:ext cx="11091672" cy="777240"/>
          </a:xfrm>
          <a:prstGeom prst="roundRect">
            <a:avLst>
              <a:gd name="adj" fmla="val 2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960" y="5440680"/>
            <a:ext cx="10607040" cy="777240"/>
          </a:xfrm>
          <a:prstGeom prst="rect">
            <a:avLst/>
          </a:prstGeom>
          <a:noFill/>
        </p:spPr>
        <p:txBody>
          <a:bodyPr wrap="square" lIns="0" tIns="0" rIns="0" bIns="0" anchor="ctr">
            <a:spAutoFit/>
          </a:bodyPr>
          <a:lstStyle/>
          <a:p>
            <a:pPr algn="ctr">
              <a:spcAft>
                <a:spcPts val="400"/>
              </a:spcAft>
            </a:pPr>
            <a:r>
              <a:rPr sz="1600">
                <a:solidFill>
                  <a:srgbClr val="5EEAD4"/>
                </a:solidFill>
                <a:latin typeface="Segoe UI Semibold"/>
              </a:rPr>
              <a:t>Result:  </a:t>
            </a:r>
            <a:r>
              <a:rPr sz="1600">
                <a:solidFill>
                  <a:srgbClr val="FFFFFF"/>
                </a:solidFill>
                <a:latin typeface="Segoe UI"/>
              </a:rPr>
              <a:t>missed deadlines, unhappy customers and urgent parcels (e.g. medicines) arriving late.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486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2880"/>
            <a:ext cx="8686800" cy="365760"/>
          </a:xfrm>
          <a:prstGeom prst="rect">
            <a:avLst/>
          </a:prstGeom>
          <a:noFill/>
        </p:spPr>
        <p:txBody>
          <a:bodyPr wrap="square" lIns="0" tIns="0" rIns="0" bIns="0" anchor="t">
            <a:spAutoFit/>
          </a:bodyPr>
          <a:lstStyle/>
          <a:p>
            <a:pPr algn="l">
              <a:spcAft>
                <a:spcPts val="400"/>
              </a:spcAft>
            </a:pPr>
            <a:r>
              <a:rPr sz="1200">
                <a:solidFill>
                  <a:srgbClr val="5EEAD4"/>
                </a:solidFill>
                <a:latin typeface="Segoe UI Semibold"/>
              </a:rPr>
              <a:t>PROPOSED SOLUTION</a:t>
            </a:r>
          </a:p>
        </p:txBody>
      </p:sp>
      <p:sp>
        <p:nvSpPr>
          <p:cNvPr id="6" name="TextBox 5"/>
          <p:cNvSpPr txBox="1"/>
          <p:nvPr/>
        </p:nvSpPr>
        <p:spPr>
          <a:xfrm>
            <a:off x="548640" y="438912"/>
            <a:ext cx="9601200" cy="548640"/>
          </a:xfrm>
          <a:prstGeom prst="rect">
            <a:avLst/>
          </a:prstGeom>
          <a:noFill/>
        </p:spPr>
        <p:txBody>
          <a:bodyPr wrap="square" lIns="0" tIns="0" rIns="0" bIns="0" anchor="t">
            <a:spAutoFit/>
          </a:bodyPr>
          <a:lstStyle/>
          <a:p>
            <a:pPr algn="l">
              <a:spcAft>
                <a:spcPts val="400"/>
              </a:spcAft>
            </a:pPr>
            <a:r>
              <a:rPr sz="2800">
                <a:solidFill>
                  <a:srgbClr val="FFFFFF"/>
                </a:solidFill>
                <a:latin typeface="Segoe UI Semibold"/>
              </a:rPr>
              <a:t>From disruption to decision – in one click</a:t>
            </a:r>
          </a:p>
        </p:txBody>
      </p:sp>
      <p:sp>
        <p:nvSpPr>
          <p:cNvPr id="7" name="TextBox 6"/>
          <p:cNvSpPr txBox="1"/>
          <p:nvPr/>
        </p:nvSpPr>
        <p:spPr>
          <a:xfrm>
            <a:off x="9692640" y="384048"/>
            <a:ext cx="1965960" cy="365760"/>
          </a:xfrm>
          <a:prstGeom prst="rect">
            <a:avLst/>
          </a:prstGeom>
          <a:noFill/>
        </p:spPr>
        <p:txBody>
          <a:bodyPr wrap="square" lIns="0" tIns="0" rIns="0" bIns="0" anchor="t">
            <a:spAutoFit/>
          </a:bodyPr>
          <a:lstStyle/>
          <a:p>
            <a:pPr algn="r">
              <a:spcAft>
                <a:spcPts val="400"/>
              </a:spcAft>
            </a:pPr>
            <a:r>
              <a:rPr sz="1200">
                <a:solidFill>
                  <a:srgbClr val="CBD5E1"/>
                </a:solidFill>
                <a:latin typeface="Segoe UI"/>
              </a:rPr>
              <a:t>HackNext'26 · Inovix</a:t>
            </a:r>
          </a:p>
        </p:txBody>
      </p:sp>
      <p:sp>
        <p:nvSpPr>
          <p:cNvPr id="8" name="TextBox 7"/>
          <p:cNvSpPr txBox="1"/>
          <p:nvPr/>
        </p:nvSpPr>
        <p:spPr>
          <a:xfrm>
            <a:off x="548640" y="6473952"/>
            <a:ext cx="8229600" cy="274320"/>
          </a:xfrm>
          <a:prstGeom prst="rect">
            <a:avLst/>
          </a:prstGeom>
          <a:noFill/>
        </p:spPr>
        <p:txBody>
          <a:bodyPr wrap="square" lIns="0" tIns="0" rIns="0" bIns="0" anchor="t">
            <a:spAutoFit/>
          </a:bodyPr>
          <a:lstStyle/>
          <a:p>
            <a:pPr algn="l">
              <a:spcAft>
                <a:spcPts val="400"/>
              </a:spcAft>
            </a:pPr>
            <a:r>
              <a:rPr sz="1000">
                <a:solidFill>
                  <a:srgbClr val="475569"/>
                </a:solidFill>
                <a:latin typeface="Segoe UI"/>
              </a:rPr>
              <a:t>PS02 – Disruption-Aware Logistics Planning  ·  Team Inovix</a:t>
            </a:r>
          </a:p>
        </p:txBody>
      </p:sp>
      <p:sp>
        <p:nvSpPr>
          <p:cNvPr id="9" name="TextBox 8"/>
          <p:cNvSpPr txBox="1"/>
          <p:nvPr/>
        </p:nvSpPr>
        <p:spPr>
          <a:xfrm>
            <a:off x="11155680" y="6473952"/>
            <a:ext cx="502920" cy="274320"/>
          </a:xfrm>
          <a:prstGeom prst="rect">
            <a:avLst/>
          </a:prstGeom>
          <a:noFill/>
        </p:spPr>
        <p:txBody>
          <a:bodyPr wrap="square" lIns="0" tIns="0" rIns="0" bIns="0" anchor="t">
            <a:spAutoFit/>
          </a:bodyPr>
          <a:lstStyle/>
          <a:p>
            <a:pPr algn="r">
              <a:spcAft>
                <a:spcPts val="400"/>
              </a:spcAft>
            </a:pPr>
            <a:r>
              <a:rPr sz="1000">
                <a:solidFill>
                  <a:srgbClr val="475569"/>
                </a:solidFill>
                <a:latin typeface="Segoe UI"/>
              </a:rPr>
              <a:t>3 / 5</a:t>
            </a:r>
          </a:p>
        </p:txBody>
      </p:sp>
      <p:sp>
        <p:nvSpPr>
          <p:cNvPr id="10" name="Rounded Rectangle 9"/>
          <p:cNvSpPr/>
          <p:nvPr/>
        </p:nvSpPr>
        <p:spPr>
          <a:xfrm>
            <a:off x="548640" y="1463040"/>
            <a:ext cx="3566160" cy="1261872"/>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31520" y="1737360"/>
            <a:ext cx="685800" cy="685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1737360"/>
            <a:ext cx="685800" cy="685800"/>
          </a:xfrm>
          <a:prstGeom prst="rect">
            <a:avLst/>
          </a:prstGeom>
          <a:noFill/>
        </p:spPr>
        <p:txBody>
          <a:bodyPr wrap="square" lIns="0" tIns="0" rIns="0" bIns="0" anchor="ctr">
            <a:spAutoFit/>
          </a:bodyPr>
          <a:lstStyle/>
          <a:p>
            <a:pPr algn="ctr">
              <a:spcAft>
                <a:spcPts val="400"/>
              </a:spcAft>
            </a:pPr>
            <a:r>
              <a:rPr sz="2200">
                <a:solidFill>
                  <a:srgbClr val="FFFFFF"/>
                </a:solidFill>
                <a:latin typeface="Segoe UI Emoji"/>
              </a:rPr>
              <a:t>🗺️</a:t>
            </a:r>
          </a:p>
        </p:txBody>
      </p:sp>
      <p:sp>
        <p:nvSpPr>
          <p:cNvPr id="13" name="TextBox 12"/>
          <p:cNvSpPr txBox="1"/>
          <p:nvPr/>
        </p:nvSpPr>
        <p:spPr>
          <a:xfrm>
            <a:off x="1572768" y="1645920"/>
            <a:ext cx="2423160" cy="365760"/>
          </a:xfrm>
          <a:prstGeom prst="rect">
            <a:avLst/>
          </a:prstGeom>
          <a:noFill/>
        </p:spPr>
        <p:txBody>
          <a:bodyPr wrap="square" lIns="0" tIns="0" rIns="0" bIns="0" anchor="t">
            <a:spAutoFit/>
          </a:bodyPr>
          <a:lstStyle/>
          <a:p>
            <a:pPr algn="l">
              <a:spcAft>
                <a:spcPts val="400"/>
              </a:spcAft>
            </a:pPr>
            <a:r>
              <a:rPr sz="1450">
                <a:solidFill>
                  <a:srgbClr val="0B1F3A"/>
                </a:solidFill>
                <a:latin typeface="Segoe UI Semibold"/>
              </a:rPr>
              <a:t>Dashboard + live map</a:t>
            </a:r>
          </a:p>
        </p:txBody>
      </p:sp>
      <p:sp>
        <p:nvSpPr>
          <p:cNvPr id="14" name="TextBox 13"/>
          <p:cNvSpPr txBox="1"/>
          <p:nvPr/>
        </p:nvSpPr>
        <p:spPr>
          <a:xfrm>
            <a:off x="1572768" y="1993392"/>
            <a:ext cx="2423160" cy="731520"/>
          </a:xfrm>
          <a:prstGeom prst="rect">
            <a:avLst/>
          </a:prstGeom>
          <a:noFill/>
        </p:spPr>
        <p:txBody>
          <a:bodyPr wrap="square" lIns="0" tIns="0" rIns="0" bIns="0" anchor="t">
            <a:spAutoFit/>
          </a:bodyPr>
          <a:lstStyle/>
          <a:p>
            <a:pPr algn="l">
              <a:spcAft>
                <a:spcPts val="400"/>
              </a:spcAft>
            </a:pPr>
            <a:r>
              <a:rPr sz="1150">
                <a:solidFill>
                  <a:srgbClr val="475569"/>
                </a:solidFill>
                <a:latin typeface="Segoe UI"/>
              </a:rPr>
              <a:t>Branch view with every vehicle, route and alert on a real-road map.</a:t>
            </a:r>
          </a:p>
        </p:txBody>
      </p:sp>
      <p:sp>
        <p:nvSpPr>
          <p:cNvPr id="15" name="Rounded Rectangle 14"/>
          <p:cNvSpPr/>
          <p:nvPr/>
        </p:nvSpPr>
        <p:spPr>
          <a:xfrm>
            <a:off x="4297679" y="1463040"/>
            <a:ext cx="3566160" cy="1261872"/>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80559" y="1737360"/>
            <a:ext cx="685800" cy="685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59" y="1737360"/>
            <a:ext cx="685800" cy="685800"/>
          </a:xfrm>
          <a:prstGeom prst="rect">
            <a:avLst/>
          </a:prstGeom>
          <a:noFill/>
        </p:spPr>
        <p:txBody>
          <a:bodyPr wrap="square" lIns="0" tIns="0" rIns="0" bIns="0" anchor="ctr">
            <a:spAutoFit/>
          </a:bodyPr>
          <a:lstStyle/>
          <a:p>
            <a:pPr algn="ctr">
              <a:spcAft>
                <a:spcPts val="400"/>
              </a:spcAft>
            </a:pPr>
            <a:r>
              <a:rPr sz="2200">
                <a:solidFill>
                  <a:srgbClr val="FFFFFF"/>
                </a:solidFill>
                <a:latin typeface="Segoe UI Emoji"/>
              </a:rPr>
              <a:t>👥</a:t>
            </a:r>
          </a:p>
        </p:txBody>
      </p:sp>
      <p:sp>
        <p:nvSpPr>
          <p:cNvPr id="18" name="TextBox 17"/>
          <p:cNvSpPr txBox="1"/>
          <p:nvPr/>
        </p:nvSpPr>
        <p:spPr>
          <a:xfrm>
            <a:off x="5321807" y="1645920"/>
            <a:ext cx="2423160" cy="365760"/>
          </a:xfrm>
          <a:prstGeom prst="rect">
            <a:avLst/>
          </a:prstGeom>
          <a:noFill/>
        </p:spPr>
        <p:txBody>
          <a:bodyPr wrap="square" lIns="0" tIns="0" rIns="0" bIns="0" anchor="t">
            <a:spAutoFit/>
          </a:bodyPr>
          <a:lstStyle/>
          <a:p>
            <a:pPr algn="l">
              <a:spcAft>
                <a:spcPts val="400"/>
              </a:spcAft>
            </a:pPr>
            <a:r>
              <a:rPr sz="1450">
                <a:solidFill>
                  <a:srgbClr val="0B1F3A"/>
                </a:solidFill>
                <a:latin typeface="Segoe UI Semibold"/>
              </a:rPr>
              <a:t>Personnel &amp; delivery status</a:t>
            </a:r>
          </a:p>
        </p:txBody>
      </p:sp>
      <p:sp>
        <p:nvSpPr>
          <p:cNvPr id="19" name="TextBox 18"/>
          <p:cNvSpPr txBox="1"/>
          <p:nvPr/>
        </p:nvSpPr>
        <p:spPr>
          <a:xfrm>
            <a:off x="5321807" y="1993392"/>
            <a:ext cx="2423160" cy="731520"/>
          </a:xfrm>
          <a:prstGeom prst="rect">
            <a:avLst/>
          </a:prstGeom>
          <a:noFill/>
        </p:spPr>
        <p:txBody>
          <a:bodyPr wrap="square" lIns="0" tIns="0" rIns="0" bIns="0" anchor="t">
            <a:spAutoFit/>
          </a:bodyPr>
          <a:lstStyle/>
          <a:p>
            <a:pPr algn="l">
              <a:spcAft>
                <a:spcPts val="400"/>
              </a:spcAft>
            </a:pPr>
            <a:r>
              <a:rPr sz="1150">
                <a:solidFill>
                  <a:srgbClr val="475569"/>
                </a:solidFill>
                <a:latin typeface="Segoe UI"/>
              </a:rPr>
              <a:t>Partners, vehicles, load and a delivery status table.</a:t>
            </a:r>
          </a:p>
        </p:txBody>
      </p:sp>
      <p:sp>
        <p:nvSpPr>
          <p:cNvPr id="20" name="Rounded Rectangle 19"/>
          <p:cNvSpPr/>
          <p:nvPr/>
        </p:nvSpPr>
        <p:spPr>
          <a:xfrm>
            <a:off x="8046719" y="1463040"/>
            <a:ext cx="3566160" cy="1261872"/>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229599" y="1737360"/>
            <a:ext cx="685800" cy="685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599" y="1737360"/>
            <a:ext cx="685800" cy="685800"/>
          </a:xfrm>
          <a:prstGeom prst="rect">
            <a:avLst/>
          </a:prstGeom>
          <a:noFill/>
        </p:spPr>
        <p:txBody>
          <a:bodyPr wrap="square" lIns="0" tIns="0" rIns="0" bIns="0" anchor="ctr">
            <a:spAutoFit/>
          </a:bodyPr>
          <a:lstStyle/>
          <a:p>
            <a:pPr algn="ctr">
              <a:spcAft>
                <a:spcPts val="400"/>
              </a:spcAft>
            </a:pPr>
            <a:r>
              <a:rPr sz="2200">
                <a:solidFill>
                  <a:srgbClr val="FFFFFF"/>
                </a:solidFill>
                <a:latin typeface="Segoe UI Emoji"/>
              </a:rPr>
              <a:t>🎙️</a:t>
            </a:r>
          </a:p>
        </p:txBody>
      </p:sp>
      <p:sp>
        <p:nvSpPr>
          <p:cNvPr id="23" name="TextBox 22"/>
          <p:cNvSpPr txBox="1"/>
          <p:nvPr/>
        </p:nvSpPr>
        <p:spPr>
          <a:xfrm>
            <a:off x="9070847" y="1645920"/>
            <a:ext cx="2423160" cy="365760"/>
          </a:xfrm>
          <a:prstGeom prst="rect">
            <a:avLst/>
          </a:prstGeom>
          <a:noFill/>
        </p:spPr>
        <p:txBody>
          <a:bodyPr wrap="square" lIns="0" tIns="0" rIns="0" bIns="0" anchor="t">
            <a:spAutoFit/>
          </a:bodyPr>
          <a:lstStyle/>
          <a:p>
            <a:pPr algn="l">
              <a:spcAft>
                <a:spcPts val="400"/>
              </a:spcAft>
            </a:pPr>
            <a:r>
              <a:rPr sz="1450">
                <a:solidFill>
                  <a:srgbClr val="0B1F3A"/>
                </a:solidFill>
                <a:latin typeface="Segoe UI Semibold"/>
              </a:rPr>
              <a:t>Complaints by text or voice</a:t>
            </a:r>
          </a:p>
        </p:txBody>
      </p:sp>
      <p:sp>
        <p:nvSpPr>
          <p:cNvPr id="24" name="TextBox 23"/>
          <p:cNvSpPr txBox="1"/>
          <p:nvPr/>
        </p:nvSpPr>
        <p:spPr>
          <a:xfrm>
            <a:off x="9070847" y="1993392"/>
            <a:ext cx="2423160" cy="731520"/>
          </a:xfrm>
          <a:prstGeom prst="rect">
            <a:avLst/>
          </a:prstGeom>
          <a:noFill/>
        </p:spPr>
        <p:txBody>
          <a:bodyPr wrap="square" lIns="0" tIns="0" rIns="0" bIns="0" anchor="t">
            <a:spAutoFit/>
          </a:bodyPr>
          <a:lstStyle/>
          <a:p>
            <a:pPr algn="l">
              <a:spcAft>
                <a:spcPts val="400"/>
              </a:spcAft>
            </a:pPr>
            <a:r>
              <a:rPr sz="1150">
                <a:solidFill>
                  <a:srgbClr val="475569"/>
                </a:solidFill>
                <a:latin typeface="Segoe UI"/>
              </a:rPr>
              <a:t>Partner taps an issue type and types or records (Tamil / English).</a:t>
            </a:r>
          </a:p>
        </p:txBody>
      </p:sp>
      <p:sp>
        <p:nvSpPr>
          <p:cNvPr id="25" name="Rounded Rectangle 24"/>
          <p:cNvSpPr/>
          <p:nvPr/>
        </p:nvSpPr>
        <p:spPr>
          <a:xfrm>
            <a:off x="548640" y="2880360"/>
            <a:ext cx="3566160" cy="1261872"/>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31520" y="3154680"/>
            <a:ext cx="685800" cy="685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3154680"/>
            <a:ext cx="685800" cy="685800"/>
          </a:xfrm>
          <a:prstGeom prst="rect">
            <a:avLst/>
          </a:prstGeom>
          <a:noFill/>
        </p:spPr>
        <p:txBody>
          <a:bodyPr wrap="square" lIns="0" tIns="0" rIns="0" bIns="0" anchor="ctr">
            <a:spAutoFit/>
          </a:bodyPr>
          <a:lstStyle/>
          <a:p>
            <a:pPr algn="ctr">
              <a:spcAft>
                <a:spcPts val="400"/>
              </a:spcAft>
            </a:pPr>
            <a:r>
              <a:rPr sz="2200">
                <a:solidFill>
                  <a:srgbClr val="FFFFFF"/>
                </a:solidFill>
                <a:latin typeface="Segoe UI Emoji"/>
              </a:rPr>
              <a:t>🤖</a:t>
            </a:r>
          </a:p>
        </p:txBody>
      </p:sp>
      <p:sp>
        <p:nvSpPr>
          <p:cNvPr id="28" name="TextBox 27"/>
          <p:cNvSpPr txBox="1"/>
          <p:nvPr/>
        </p:nvSpPr>
        <p:spPr>
          <a:xfrm>
            <a:off x="1572768" y="3063240"/>
            <a:ext cx="2423160" cy="365760"/>
          </a:xfrm>
          <a:prstGeom prst="rect">
            <a:avLst/>
          </a:prstGeom>
          <a:noFill/>
        </p:spPr>
        <p:txBody>
          <a:bodyPr wrap="square" lIns="0" tIns="0" rIns="0" bIns="0" anchor="t">
            <a:spAutoFit/>
          </a:bodyPr>
          <a:lstStyle/>
          <a:p>
            <a:pPr algn="l">
              <a:spcAft>
                <a:spcPts val="400"/>
              </a:spcAft>
            </a:pPr>
            <a:r>
              <a:rPr sz="1450">
                <a:solidFill>
                  <a:srgbClr val="0B1F3A"/>
                </a:solidFill>
                <a:latin typeface="Segoe UI Semibold"/>
              </a:rPr>
              <a:t>AI issue understanding</a:t>
            </a:r>
          </a:p>
        </p:txBody>
      </p:sp>
      <p:sp>
        <p:nvSpPr>
          <p:cNvPr id="29" name="TextBox 28"/>
          <p:cNvSpPr txBox="1"/>
          <p:nvPr/>
        </p:nvSpPr>
        <p:spPr>
          <a:xfrm>
            <a:off x="1572768" y="3410712"/>
            <a:ext cx="2423160" cy="731520"/>
          </a:xfrm>
          <a:prstGeom prst="rect">
            <a:avLst/>
          </a:prstGeom>
          <a:noFill/>
        </p:spPr>
        <p:txBody>
          <a:bodyPr wrap="square" lIns="0" tIns="0" rIns="0" bIns="0" anchor="t">
            <a:spAutoFit/>
          </a:bodyPr>
          <a:lstStyle/>
          <a:p>
            <a:pPr algn="l">
              <a:spcAft>
                <a:spcPts val="400"/>
              </a:spcAft>
            </a:pPr>
            <a:r>
              <a:rPr sz="1150">
                <a:solidFill>
                  <a:srgbClr val="475569"/>
                </a:solidFill>
                <a:latin typeface="Segoe UI"/>
              </a:rPr>
              <a:t>Finds the issue type, road, duration and severity from the report.</a:t>
            </a:r>
          </a:p>
        </p:txBody>
      </p:sp>
      <p:sp>
        <p:nvSpPr>
          <p:cNvPr id="30" name="Rounded Rectangle 29"/>
          <p:cNvSpPr/>
          <p:nvPr/>
        </p:nvSpPr>
        <p:spPr>
          <a:xfrm>
            <a:off x="4297679" y="2880360"/>
            <a:ext cx="3566160" cy="1261872"/>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480559" y="3154680"/>
            <a:ext cx="685800" cy="685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80559" y="3154680"/>
            <a:ext cx="685800" cy="685800"/>
          </a:xfrm>
          <a:prstGeom prst="rect">
            <a:avLst/>
          </a:prstGeom>
          <a:noFill/>
        </p:spPr>
        <p:txBody>
          <a:bodyPr wrap="square" lIns="0" tIns="0" rIns="0" bIns="0" anchor="ctr">
            <a:spAutoFit/>
          </a:bodyPr>
          <a:lstStyle/>
          <a:p>
            <a:pPr algn="ctr">
              <a:spcAft>
                <a:spcPts val="400"/>
              </a:spcAft>
            </a:pPr>
            <a:r>
              <a:rPr sz="2200">
                <a:solidFill>
                  <a:srgbClr val="FFFFFF"/>
                </a:solidFill>
                <a:latin typeface="Segoe UI Emoji"/>
              </a:rPr>
              <a:t>💡</a:t>
            </a:r>
          </a:p>
        </p:txBody>
      </p:sp>
      <p:sp>
        <p:nvSpPr>
          <p:cNvPr id="33" name="TextBox 32"/>
          <p:cNvSpPr txBox="1"/>
          <p:nvPr/>
        </p:nvSpPr>
        <p:spPr>
          <a:xfrm>
            <a:off x="5321807" y="3063240"/>
            <a:ext cx="2423160" cy="365760"/>
          </a:xfrm>
          <a:prstGeom prst="rect">
            <a:avLst/>
          </a:prstGeom>
          <a:noFill/>
        </p:spPr>
        <p:txBody>
          <a:bodyPr wrap="square" lIns="0" tIns="0" rIns="0" bIns="0" anchor="t">
            <a:spAutoFit/>
          </a:bodyPr>
          <a:lstStyle/>
          <a:p>
            <a:pPr algn="l">
              <a:spcAft>
                <a:spcPts val="400"/>
              </a:spcAft>
            </a:pPr>
            <a:r>
              <a:rPr sz="1450">
                <a:solidFill>
                  <a:srgbClr val="0B1F3A"/>
                </a:solidFill>
                <a:latin typeface="Segoe UI Semibold"/>
              </a:rPr>
              <a:t>Next-best-action plan</a:t>
            </a:r>
          </a:p>
        </p:txBody>
      </p:sp>
      <p:sp>
        <p:nvSpPr>
          <p:cNvPr id="34" name="TextBox 33"/>
          <p:cNvSpPr txBox="1"/>
          <p:nvPr/>
        </p:nvSpPr>
        <p:spPr>
          <a:xfrm>
            <a:off x="5321807" y="3410712"/>
            <a:ext cx="2423160" cy="731520"/>
          </a:xfrm>
          <a:prstGeom prst="rect">
            <a:avLst/>
          </a:prstGeom>
          <a:noFill/>
        </p:spPr>
        <p:txBody>
          <a:bodyPr wrap="square" lIns="0" tIns="0" rIns="0" bIns="0" anchor="t">
            <a:spAutoFit/>
          </a:bodyPr>
          <a:lstStyle/>
          <a:p>
            <a:pPr algn="l">
              <a:spcAft>
                <a:spcPts val="400"/>
              </a:spcAft>
            </a:pPr>
            <a:r>
              <a:rPr sz="1150">
                <a:solidFill>
                  <a:srgbClr val="475569"/>
                </a:solidFill>
                <a:latin typeface="Segoe UI"/>
              </a:rPr>
              <a:t>Backup vehicle, reroute, prioritise, notify – each with a reason.</a:t>
            </a:r>
          </a:p>
        </p:txBody>
      </p:sp>
      <p:sp>
        <p:nvSpPr>
          <p:cNvPr id="35" name="Rounded Rectangle 34"/>
          <p:cNvSpPr/>
          <p:nvPr/>
        </p:nvSpPr>
        <p:spPr>
          <a:xfrm>
            <a:off x="8046719" y="2880360"/>
            <a:ext cx="3566160" cy="1261872"/>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229599" y="3154680"/>
            <a:ext cx="685800" cy="685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599" y="3154680"/>
            <a:ext cx="685800" cy="685800"/>
          </a:xfrm>
          <a:prstGeom prst="rect">
            <a:avLst/>
          </a:prstGeom>
          <a:noFill/>
        </p:spPr>
        <p:txBody>
          <a:bodyPr wrap="square" lIns="0" tIns="0" rIns="0" bIns="0" anchor="ctr">
            <a:spAutoFit/>
          </a:bodyPr>
          <a:lstStyle/>
          <a:p>
            <a:pPr algn="ctr">
              <a:spcAft>
                <a:spcPts val="400"/>
              </a:spcAft>
            </a:pPr>
            <a:r>
              <a:rPr sz="2200">
                <a:solidFill>
                  <a:srgbClr val="FFFFFF"/>
                </a:solidFill>
                <a:latin typeface="Segoe UI Emoji"/>
              </a:rPr>
              <a:t>✅</a:t>
            </a:r>
          </a:p>
        </p:txBody>
      </p:sp>
      <p:sp>
        <p:nvSpPr>
          <p:cNvPr id="38" name="TextBox 37"/>
          <p:cNvSpPr txBox="1"/>
          <p:nvPr/>
        </p:nvSpPr>
        <p:spPr>
          <a:xfrm>
            <a:off x="9070847" y="3063240"/>
            <a:ext cx="2423160" cy="365760"/>
          </a:xfrm>
          <a:prstGeom prst="rect">
            <a:avLst/>
          </a:prstGeom>
          <a:noFill/>
        </p:spPr>
        <p:txBody>
          <a:bodyPr wrap="square" lIns="0" tIns="0" rIns="0" bIns="0" anchor="t">
            <a:spAutoFit/>
          </a:bodyPr>
          <a:lstStyle/>
          <a:p>
            <a:pPr algn="l">
              <a:spcAft>
                <a:spcPts val="400"/>
              </a:spcAft>
            </a:pPr>
            <a:r>
              <a:rPr sz="1450">
                <a:solidFill>
                  <a:srgbClr val="0B1F3A"/>
                </a:solidFill>
                <a:latin typeface="Segoe UI Semibold"/>
              </a:rPr>
              <a:t>Operator approval → update</a:t>
            </a:r>
          </a:p>
        </p:txBody>
      </p:sp>
      <p:sp>
        <p:nvSpPr>
          <p:cNvPr id="39" name="TextBox 38"/>
          <p:cNvSpPr txBox="1"/>
          <p:nvPr/>
        </p:nvSpPr>
        <p:spPr>
          <a:xfrm>
            <a:off x="9070847" y="3410712"/>
            <a:ext cx="2423160" cy="731520"/>
          </a:xfrm>
          <a:prstGeom prst="rect">
            <a:avLst/>
          </a:prstGeom>
          <a:noFill/>
        </p:spPr>
        <p:txBody>
          <a:bodyPr wrap="square" lIns="0" tIns="0" rIns="0" bIns="0" anchor="t">
            <a:spAutoFit/>
          </a:bodyPr>
          <a:lstStyle/>
          <a:p>
            <a:pPr algn="l">
              <a:spcAft>
                <a:spcPts val="400"/>
              </a:spcAft>
            </a:pPr>
            <a:r>
              <a:rPr sz="1150">
                <a:solidFill>
                  <a:srgbClr val="475569"/>
                </a:solidFill>
                <a:latin typeface="Segoe UI"/>
              </a:rPr>
              <a:t>On Accept: routes, ETAs, map and partner phones update together.</a:t>
            </a:r>
          </a:p>
        </p:txBody>
      </p:sp>
      <p:sp>
        <p:nvSpPr>
          <p:cNvPr id="40" name="TextBox 39"/>
          <p:cNvSpPr txBox="1"/>
          <p:nvPr/>
        </p:nvSpPr>
        <p:spPr>
          <a:xfrm>
            <a:off x="548640" y="4434840"/>
            <a:ext cx="5486400" cy="320040"/>
          </a:xfrm>
          <a:prstGeom prst="rect">
            <a:avLst/>
          </a:prstGeom>
          <a:noFill/>
        </p:spPr>
        <p:txBody>
          <a:bodyPr wrap="square" lIns="0" tIns="0" rIns="0" bIns="0" anchor="t">
            <a:spAutoFit/>
          </a:bodyPr>
          <a:lstStyle/>
          <a:p>
            <a:pPr algn="l">
              <a:spcAft>
                <a:spcPts val="400"/>
              </a:spcAft>
            </a:pPr>
            <a:r>
              <a:rPr sz="1200">
                <a:solidFill>
                  <a:srgbClr val="0D9488"/>
                </a:solidFill>
                <a:latin typeface="Segoe UI Semibold"/>
              </a:rPr>
              <a:t>HOW IT WORKS</a:t>
            </a:r>
          </a:p>
        </p:txBody>
      </p:sp>
      <p:sp>
        <p:nvSpPr>
          <p:cNvPr id="41" name="Rounded Rectangle 40"/>
          <p:cNvSpPr/>
          <p:nvPr/>
        </p:nvSpPr>
        <p:spPr>
          <a:xfrm>
            <a:off x="548640" y="4800600"/>
            <a:ext cx="1572768" cy="914400"/>
          </a:xfrm>
          <a:prstGeom prst="roundRect">
            <a:avLst>
              <a:gd name="adj" fmla="val 1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1792" y="4800600"/>
            <a:ext cx="1426464" cy="914400"/>
          </a:xfrm>
          <a:prstGeom prst="rect">
            <a:avLst/>
          </a:prstGeom>
          <a:noFill/>
        </p:spPr>
        <p:txBody>
          <a:bodyPr wrap="square" lIns="0" tIns="0" rIns="0" bIns="0" anchor="ctr">
            <a:spAutoFit/>
          </a:bodyPr>
          <a:lstStyle/>
          <a:p>
            <a:pPr algn="ctr">
              <a:spcAft>
                <a:spcPts val="400"/>
              </a:spcAft>
            </a:pPr>
            <a:r>
              <a:rPr sz="1300">
                <a:solidFill>
                  <a:srgbClr val="FFFFFF"/>
                </a:solidFill>
                <a:latin typeface="Segoe UI Semibold"/>
              </a:rPr>
              <a:t>Delivery
Person</a:t>
            </a:r>
          </a:p>
        </p:txBody>
      </p:sp>
      <p:sp>
        <p:nvSpPr>
          <p:cNvPr id="43" name="Right Arrow 42"/>
          <p:cNvSpPr/>
          <p:nvPr/>
        </p:nvSpPr>
        <p:spPr>
          <a:xfrm>
            <a:off x="2176272" y="5120640"/>
            <a:ext cx="221284" cy="274320"/>
          </a:xfrm>
          <a:prstGeom prst="rightArrow">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2452420" y="4800600"/>
            <a:ext cx="1572768" cy="914400"/>
          </a:xfrm>
          <a:prstGeom prst="roundRect">
            <a:avLst>
              <a:gd name="adj" fmla="val 15000"/>
            </a:avLst>
          </a:prstGeom>
          <a:solidFill>
            <a:srgbClr val="13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25572" y="4800600"/>
            <a:ext cx="1426464" cy="914400"/>
          </a:xfrm>
          <a:prstGeom prst="rect">
            <a:avLst/>
          </a:prstGeom>
          <a:noFill/>
        </p:spPr>
        <p:txBody>
          <a:bodyPr wrap="square" lIns="0" tIns="0" rIns="0" bIns="0" anchor="ctr">
            <a:spAutoFit/>
          </a:bodyPr>
          <a:lstStyle/>
          <a:p>
            <a:pPr algn="ctr">
              <a:spcAft>
                <a:spcPts val="400"/>
              </a:spcAft>
            </a:pPr>
            <a:r>
              <a:rPr sz="1300">
                <a:solidFill>
                  <a:srgbClr val="FFFFFF"/>
                </a:solidFill>
                <a:latin typeface="Segoe UI Semibold"/>
              </a:rPr>
              <a:t>Complaint
Submission</a:t>
            </a:r>
          </a:p>
        </p:txBody>
      </p:sp>
      <p:sp>
        <p:nvSpPr>
          <p:cNvPr id="46" name="Right Arrow 45"/>
          <p:cNvSpPr/>
          <p:nvPr/>
        </p:nvSpPr>
        <p:spPr>
          <a:xfrm>
            <a:off x="4080052" y="5120640"/>
            <a:ext cx="221284" cy="274320"/>
          </a:xfrm>
          <a:prstGeom prst="rightArrow">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4356201" y="4800600"/>
            <a:ext cx="1572768" cy="914400"/>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29353" y="4800600"/>
            <a:ext cx="1426464" cy="914400"/>
          </a:xfrm>
          <a:prstGeom prst="rect">
            <a:avLst/>
          </a:prstGeom>
          <a:noFill/>
        </p:spPr>
        <p:txBody>
          <a:bodyPr wrap="square" lIns="0" tIns="0" rIns="0" bIns="0" anchor="ctr">
            <a:spAutoFit/>
          </a:bodyPr>
          <a:lstStyle/>
          <a:p>
            <a:pPr algn="ctr">
              <a:spcAft>
                <a:spcPts val="400"/>
              </a:spcAft>
            </a:pPr>
            <a:r>
              <a:rPr sz="1300">
                <a:solidFill>
                  <a:srgbClr val="FFFFFF"/>
                </a:solidFill>
                <a:latin typeface="Segoe UI Semibold"/>
              </a:rPr>
              <a:t>AI Issue
Analysis</a:t>
            </a:r>
          </a:p>
        </p:txBody>
      </p:sp>
      <p:sp>
        <p:nvSpPr>
          <p:cNvPr id="49" name="Right Arrow 48"/>
          <p:cNvSpPr/>
          <p:nvPr/>
        </p:nvSpPr>
        <p:spPr>
          <a:xfrm>
            <a:off x="5983833" y="5120640"/>
            <a:ext cx="221284" cy="274320"/>
          </a:xfrm>
          <a:prstGeom prst="rightArrow">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6259982" y="4800600"/>
            <a:ext cx="1572768" cy="914400"/>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333134" y="4800600"/>
            <a:ext cx="1426464" cy="914400"/>
          </a:xfrm>
          <a:prstGeom prst="rect">
            <a:avLst/>
          </a:prstGeom>
          <a:noFill/>
        </p:spPr>
        <p:txBody>
          <a:bodyPr wrap="square" lIns="0" tIns="0" rIns="0" bIns="0" anchor="ctr">
            <a:spAutoFit/>
          </a:bodyPr>
          <a:lstStyle/>
          <a:p>
            <a:pPr algn="ctr">
              <a:spcAft>
                <a:spcPts val="400"/>
              </a:spcAft>
            </a:pPr>
            <a:r>
              <a:rPr sz="1300">
                <a:solidFill>
                  <a:srgbClr val="FFFFFF"/>
                </a:solidFill>
                <a:latin typeface="Segoe UI Semibold"/>
              </a:rPr>
              <a:t>Recommended
Action</a:t>
            </a:r>
          </a:p>
        </p:txBody>
      </p:sp>
      <p:sp>
        <p:nvSpPr>
          <p:cNvPr id="52" name="Right Arrow 51"/>
          <p:cNvSpPr/>
          <p:nvPr/>
        </p:nvSpPr>
        <p:spPr>
          <a:xfrm>
            <a:off x="7887614" y="5120640"/>
            <a:ext cx="221284" cy="274320"/>
          </a:xfrm>
          <a:prstGeom prst="rightArrow">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8163763" y="4800600"/>
            <a:ext cx="1572768" cy="914400"/>
          </a:xfrm>
          <a:prstGeom prst="roundRect">
            <a:avLst>
              <a:gd name="adj" fmla="val 15000"/>
            </a:avLst>
          </a:prstGeom>
          <a:solidFill>
            <a:srgbClr val="13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236915" y="4800600"/>
            <a:ext cx="1426464" cy="914400"/>
          </a:xfrm>
          <a:prstGeom prst="rect">
            <a:avLst/>
          </a:prstGeom>
          <a:noFill/>
        </p:spPr>
        <p:txBody>
          <a:bodyPr wrap="square" lIns="0" tIns="0" rIns="0" bIns="0" anchor="ctr">
            <a:spAutoFit/>
          </a:bodyPr>
          <a:lstStyle/>
          <a:p>
            <a:pPr algn="ctr">
              <a:spcAft>
                <a:spcPts val="400"/>
              </a:spcAft>
            </a:pPr>
            <a:r>
              <a:rPr sz="1300">
                <a:solidFill>
                  <a:srgbClr val="FFFFFF"/>
                </a:solidFill>
                <a:latin typeface="Segoe UI Semibold"/>
              </a:rPr>
              <a:t>Operator
Approval</a:t>
            </a:r>
          </a:p>
        </p:txBody>
      </p:sp>
      <p:sp>
        <p:nvSpPr>
          <p:cNvPr id="55" name="Right Arrow 54"/>
          <p:cNvSpPr/>
          <p:nvPr/>
        </p:nvSpPr>
        <p:spPr>
          <a:xfrm>
            <a:off x="9791395" y="5120640"/>
            <a:ext cx="221284" cy="274320"/>
          </a:xfrm>
          <a:prstGeom prst="rightArrow">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10067544" y="4800600"/>
            <a:ext cx="1572768" cy="914400"/>
          </a:xfrm>
          <a:prstGeom prst="roundRect">
            <a:avLst>
              <a:gd name="adj" fmla="val 1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0140696" y="4800600"/>
            <a:ext cx="1426464" cy="914400"/>
          </a:xfrm>
          <a:prstGeom prst="rect">
            <a:avLst/>
          </a:prstGeom>
          <a:noFill/>
        </p:spPr>
        <p:txBody>
          <a:bodyPr wrap="square" lIns="0" tIns="0" rIns="0" bIns="0" anchor="ctr">
            <a:spAutoFit/>
          </a:bodyPr>
          <a:lstStyle/>
          <a:p>
            <a:pPr algn="ctr">
              <a:spcAft>
                <a:spcPts val="400"/>
              </a:spcAft>
            </a:pPr>
            <a:r>
              <a:rPr sz="1300">
                <a:solidFill>
                  <a:srgbClr val="FFFFFF"/>
                </a:solidFill>
                <a:latin typeface="Segoe UI Semibold"/>
              </a:rPr>
              <a:t>Updated Delivery
Information</a:t>
            </a:r>
          </a:p>
        </p:txBody>
      </p:sp>
      <p:sp>
        <p:nvSpPr>
          <p:cNvPr id="58" name="TextBox 57"/>
          <p:cNvSpPr txBox="1"/>
          <p:nvPr/>
        </p:nvSpPr>
        <p:spPr>
          <a:xfrm>
            <a:off x="548640" y="5870448"/>
            <a:ext cx="11064240" cy="457200"/>
          </a:xfrm>
          <a:prstGeom prst="rect">
            <a:avLst/>
          </a:prstGeom>
          <a:noFill/>
        </p:spPr>
        <p:txBody>
          <a:bodyPr wrap="square" lIns="0" tIns="0" rIns="0" bIns="0" anchor="t">
            <a:spAutoFit/>
          </a:bodyPr>
          <a:lstStyle/>
          <a:p>
            <a:pPr algn="ctr">
              <a:spcAft>
                <a:spcPts val="400"/>
              </a:spcAft>
            </a:pPr>
            <a:r>
              <a:rPr sz="1300">
                <a:solidFill>
                  <a:srgbClr val="475569"/>
                </a:solidFill>
                <a:latin typeface="Segoe UI"/>
              </a:rPr>
              <a:t>AI suggests – the operator decides. Nothing changes until the plan is accepted.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9" y="16778"/>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486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2880"/>
            <a:ext cx="8686800" cy="365760"/>
          </a:xfrm>
          <a:prstGeom prst="rect">
            <a:avLst/>
          </a:prstGeom>
          <a:noFill/>
        </p:spPr>
        <p:txBody>
          <a:bodyPr wrap="square" lIns="0" tIns="0" rIns="0" bIns="0" anchor="t">
            <a:spAutoFit/>
          </a:bodyPr>
          <a:lstStyle/>
          <a:p>
            <a:pPr algn="l">
              <a:spcAft>
                <a:spcPts val="400"/>
              </a:spcAft>
            </a:pPr>
            <a:r>
              <a:rPr sz="1200">
                <a:solidFill>
                  <a:srgbClr val="5EEAD4"/>
                </a:solidFill>
                <a:latin typeface="Segoe UI Semibold"/>
              </a:rPr>
              <a:t>TECHNICAL STACK</a:t>
            </a:r>
          </a:p>
        </p:txBody>
      </p:sp>
      <p:sp>
        <p:nvSpPr>
          <p:cNvPr id="6" name="TextBox 5"/>
          <p:cNvSpPr txBox="1"/>
          <p:nvPr/>
        </p:nvSpPr>
        <p:spPr>
          <a:xfrm>
            <a:off x="548640" y="438912"/>
            <a:ext cx="9601200" cy="548640"/>
          </a:xfrm>
          <a:prstGeom prst="rect">
            <a:avLst/>
          </a:prstGeom>
          <a:noFill/>
        </p:spPr>
        <p:txBody>
          <a:bodyPr wrap="square" lIns="0" tIns="0" rIns="0" bIns="0" anchor="t">
            <a:spAutoFit/>
          </a:bodyPr>
          <a:lstStyle/>
          <a:p>
            <a:pPr algn="l">
              <a:spcAft>
                <a:spcPts val="400"/>
              </a:spcAft>
            </a:pPr>
            <a:r>
              <a:rPr sz="2800">
                <a:solidFill>
                  <a:srgbClr val="FFFFFF"/>
                </a:solidFill>
                <a:latin typeface="Segoe UI Semibold"/>
              </a:rPr>
              <a:t>Built with a simple, open Python stack</a:t>
            </a:r>
          </a:p>
        </p:txBody>
      </p:sp>
      <p:sp>
        <p:nvSpPr>
          <p:cNvPr id="7" name="TextBox 6"/>
          <p:cNvSpPr txBox="1"/>
          <p:nvPr/>
        </p:nvSpPr>
        <p:spPr>
          <a:xfrm>
            <a:off x="9692640" y="384048"/>
            <a:ext cx="1965960" cy="365760"/>
          </a:xfrm>
          <a:prstGeom prst="rect">
            <a:avLst/>
          </a:prstGeom>
          <a:noFill/>
        </p:spPr>
        <p:txBody>
          <a:bodyPr wrap="square" lIns="0" tIns="0" rIns="0" bIns="0" anchor="t">
            <a:spAutoFit/>
          </a:bodyPr>
          <a:lstStyle/>
          <a:p>
            <a:pPr algn="r">
              <a:spcAft>
                <a:spcPts val="400"/>
              </a:spcAft>
            </a:pPr>
            <a:r>
              <a:rPr sz="1200">
                <a:solidFill>
                  <a:srgbClr val="CBD5E1"/>
                </a:solidFill>
                <a:latin typeface="Segoe UI"/>
              </a:rPr>
              <a:t>HackNext'26 · Inovix</a:t>
            </a:r>
          </a:p>
        </p:txBody>
      </p:sp>
      <p:sp>
        <p:nvSpPr>
          <p:cNvPr id="8" name="TextBox 7"/>
          <p:cNvSpPr txBox="1"/>
          <p:nvPr/>
        </p:nvSpPr>
        <p:spPr>
          <a:xfrm>
            <a:off x="548640" y="6473952"/>
            <a:ext cx="8229600" cy="274320"/>
          </a:xfrm>
          <a:prstGeom prst="rect">
            <a:avLst/>
          </a:prstGeom>
          <a:noFill/>
        </p:spPr>
        <p:txBody>
          <a:bodyPr wrap="square" lIns="0" tIns="0" rIns="0" bIns="0" anchor="t">
            <a:spAutoFit/>
          </a:bodyPr>
          <a:lstStyle/>
          <a:p>
            <a:pPr algn="l">
              <a:spcAft>
                <a:spcPts val="400"/>
              </a:spcAft>
            </a:pPr>
            <a:r>
              <a:rPr sz="1000">
                <a:solidFill>
                  <a:srgbClr val="475569"/>
                </a:solidFill>
                <a:latin typeface="Segoe UI"/>
              </a:rPr>
              <a:t>PS02 – Disruption-Aware Logistics Planning  ·  Team Inovix</a:t>
            </a:r>
          </a:p>
        </p:txBody>
      </p:sp>
      <p:sp>
        <p:nvSpPr>
          <p:cNvPr id="9" name="TextBox 8"/>
          <p:cNvSpPr txBox="1"/>
          <p:nvPr/>
        </p:nvSpPr>
        <p:spPr>
          <a:xfrm>
            <a:off x="11155680" y="6473952"/>
            <a:ext cx="502920" cy="274320"/>
          </a:xfrm>
          <a:prstGeom prst="rect">
            <a:avLst/>
          </a:prstGeom>
          <a:noFill/>
        </p:spPr>
        <p:txBody>
          <a:bodyPr wrap="square" lIns="0" tIns="0" rIns="0" bIns="0" anchor="t">
            <a:spAutoFit/>
          </a:bodyPr>
          <a:lstStyle/>
          <a:p>
            <a:pPr algn="r">
              <a:spcAft>
                <a:spcPts val="400"/>
              </a:spcAft>
            </a:pPr>
            <a:r>
              <a:rPr sz="1000">
                <a:solidFill>
                  <a:srgbClr val="475569"/>
                </a:solidFill>
                <a:latin typeface="Segoe UI"/>
              </a:rPr>
              <a:t>4 / 5</a:t>
            </a:r>
          </a:p>
        </p:txBody>
      </p:sp>
      <p:sp>
        <p:nvSpPr>
          <p:cNvPr id="10" name="Rounded Rectangle 9"/>
          <p:cNvSpPr/>
          <p:nvPr/>
        </p:nvSpPr>
        <p:spPr>
          <a:xfrm>
            <a:off x="548640" y="1463040"/>
            <a:ext cx="3566160" cy="2286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48640" y="1463040"/>
            <a:ext cx="3566160" cy="658368"/>
          </a:xfrm>
          <a:prstGeom prst="roundRect">
            <a:avLst>
              <a:gd name="adj" fmla="val 2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1828800"/>
            <a:ext cx="3566160"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5800" y="1554480"/>
            <a:ext cx="475488" cy="47548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1554480"/>
            <a:ext cx="475488" cy="475488"/>
          </a:xfrm>
          <a:prstGeom prst="rect">
            <a:avLst/>
          </a:prstGeom>
          <a:noFill/>
        </p:spPr>
        <p:txBody>
          <a:bodyPr wrap="square" lIns="0" tIns="0" rIns="0" bIns="0" anchor="ctr">
            <a:spAutoFit/>
          </a:bodyPr>
          <a:lstStyle/>
          <a:p>
            <a:pPr algn="ctr">
              <a:spcAft>
                <a:spcPts val="400"/>
              </a:spcAft>
            </a:pPr>
            <a:r>
              <a:rPr sz="1500">
                <a:solidFill>
                  <a:srgbClr val="FFFFFF"/>
                </a:solidFill>
                <a:latin typeface="Segoe UI Emoji"/>
              </a:rPr>
              <a:t>🖥️</a:t>
            </a:r>
          </a:p>
        </p:txBody>
      </p:sp>
      <p:sp>
        <p:nvSpPr>
          <p:cNvPr id="15" name="TextBox 14"/>
          <p:cNvSpPr txBox="1"/>
          <p:nvPr/>
        </p:nvSpPr>
        <p:spPr>
          <a:xfrm>
            <a:off x="1280160" y="1554480"/>
            <a:ext cx="2743200" cy="475488"/>
          </a:xfrm>
          <a:prstGeom prst="rect">
            <a:avLst/>
          </a:prstGeom>
          <a:noFill/>
        </p:spPr>
        <p:txBody>
          <a:bodyPr wrap="square" lIns="0" tIns="0" rIns="0" bIns="0" anchor="ctr">
            <a:spAutoFit/>
          </a:bodyPr>
          <a:lstStyle/>
          <a:p>
            <a:pPr algn="l">
              <a:spcAft>
                <a:spcPts val="400"/>
              </a:spcAft>
            </a:pPr>
            <a:r>
              <a:rPr sz="1500">
                <a:solidFill>
                  <a:srgbClr val="FFFFFF"/>
                </a:solidFill>
                <a:latin typeface="Segoe UI Semibold"/>
              </a:rPr>
              <a:t>Frontend</a:t>
            </a:r>
          </a:p>
        </p:txBody>
      </p:sp>
      <p:sp>
        <p:nvSpPr>
          <p:cNvPr id="16" name="TextBox 15"/>
          <p:cNvSpPr txBox="1"/>
          <p:nvPr/>
        </p:nvSpPr>
        <p:spPr>
          <a:xfrm>
            <a:off x="777240" y="2304288"/>
            <a:ext cx="3200400" cy="1371600"/>
          </a:xfrm>
          <a:prstGeom prst="rect">
            <a:avLst/>
          </a:prstGeom>
          <a:noFill/>
        </p:spPr>
        <p:txBody>
          <a:bodyPr wrap="square" lIns="0" tIns="0" rIns="0" bIns="0" anchor="t">
            <a:spAutoFit/>
          </a:bodyPr>
          <a:lstStyle/>
          <a:p>
            <a:pPr algn="l">
              <a:spcAft>
                <a:spcPts val="400"/>
              </a:spcAft>
            </a:pPr>
            <a:r>
              <a:rPr sz="1200">
                <a:solidFill>
                  <a:srgbClr val="0D9488"/>
                </a:solidFill>
                <a:latin typeface="Segoe UI Semibold"/>
              </a:rPr>
              <a:t>▸ </a:t>
            </a:r>
            <a:r>
              <a:rPr sz="1250">
                <a:solidFill>
                  <a:srgbClr val="0F172A"/>
                </a:solidFill>
                <a:latin typeface="Segoe UI"/>
              </a:rPr>
              <a:t>Streamlit (multi-page, role-based)</a:t>
            </a:r>
          </a:p>
          <a:p>
            <a:pPr algn="l">
              <a:spcAft>
                <a:spcPts val="400"/>
              </a:spcAft>
            </a:pPr>
            <a:r>
              <a:rPr sz="1200">
                <a:solidFill>
                  <a:srgbClr val="0D9488"/>
                </a:solidFill>
                <a:latin typeface="Segoe UI Semibold"/>
              </a:rPr>
              <a:t>▸ </a:t>
            </a:r>
            <a:r>
              <a:rPr sz="1250">
                <a:solidFill>
                  <a:srgbClr val="0F172A"/>
                </a:solidFill>
                <a:latin typeface="Segoe UI"/>
              </a:rPr>
              <a:t>Custom CSS – dark glass UI</a:t>
            </a:r>
          </a:p>
          <a:p>
            <a:pPr algn="l">
              <a:spcAft>
                <a:spcPts val="400"/>
              </a:spcAft>
            </a:pPr>
            <a:r>
              <a:rPr sz="1200">
                <a:solidFill>
                  <a:srgbClr val="0D9488"/>
                </a:solidFill>
                <a:latin typeface="Segoe UI Semibold"/>
              </a:rPr>
              <a:t>▸ </a:t>
            </a:r>
            <a:r>
              <a:rPr sz="1250">
                <a:solidFill>
                  <a:srgbClr val="0F172A"/>
                </a:solidFill>
                <a:latin typeface="Segoe UI"/>
              </a:rPr>
              <a:t>Mobile-friendly partner screens</a:t>
            </a:r>
          </a:p>
        </p:txBody>
      </p:sp>
      <p:sp>
        <p:nvSpPr>
          <p:cNvPr id="17" name="Rounded Rectangle 16"/>
          <p:cNvSpPr/>
          <p:nvPr/>
        </p:nvSpPr>
        <p:spPr>
          <a:xfrm>
            <a:off x="4297679" y="1463040"/>
            <a:ext cx="3566160" cy="2286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297679" y="1463040"/>
            <a:ext cx="3566160" cy="658368"/>
          </a:xfrm>
          <a:prstGeom prst="roundRect">
            <a:avLst>
              <a:gd name="adj" fmla="val 2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97679" y="1828800"/>
            <a:ext cx="3566160"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434840" y="1554480"/>
            <a:ext cx="475488" cy="47548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34840" y="1554480"/>
            <a:ext cx="475488" cy="475488"/>
          </a:xfrm>
          <a:prstGeom prst="rect">
            <a:avLst/>
          </a:prstGeom>
          <a:noFill/>
        </p:spPr>
        <p:txBody>
          <a:bodyPr wrap="square" lIns="0" tIns="0" rIns="0" bIns="0" anchor="ctr">
            <a:spAutoFit/>
          </a:bodyPr>
          <a:lstStyle/>
          <a:p>
            <a:pPr algn="ctr">
              <a:spcAft>
                <a:spcPts val="400"/>
              </a:spcAft>
            </a:pPr>
            <a:r>
              <a:rPr sz="1500">
                <a:solidFill>
                  <a:srgbClr val="FFFFFF"/>
                </a:solidFill>
                <a:latin typeface="Segoe UI Emoji"/>
              </a:rPr>
              <a:t>⚙️</a:t>
            </a:r>
          </a:p>
        </p:txBody>
      </p:sp>
      <p:sp>
        <p:nvSpPr>
          <p:cNvPr id="22" name="TextBox 21"/>
          <p:cNvSpPr txBox="1"/>
          <p:nvPr/>
        </p:nvSpPr>
        <p:spPr>
          <a:xfrm>
            <a:off x="5029199" y="1554480"/>
            <a:ext cx="2743200" cy="475488"/>
          </a:xfrm>
          <a:prstGeom prst="rect">
            <a:avLst/>
          </a:prstGeom>
          <a:noFill/>
        </p:spPr>
        <p:txBody>
          <a:bodyPr wrap="square" lIns="0" tIns="0" rIns="0" bIns="0" anchor="ctr">
            <a:spAutoFit/>
          </a:bodyPr>
          <a:lstStyle/>
          <a:p>
            <a:pPr algn="l">
              <a:spcAft>
                <a:spcPts val="400"/>
              </a:spcAft>
            </a:pPr>
            <a:r>
              <a:rPr sz="1500">
                <a:solidFill>
                  <a:srgbClr val="FFFFFF"/>
                </a:solidFill>
                <a:latin typeface="Segoe UI Semibold"/>
              </a:rPr>
              <a:t>Backend</a:t>
            </a:r>
          </a:p>
        </p:txBody>
      </p:sp>
      <p:sp>
        <p:nvSpPr>
          <p:cNvPr id="23" name="TextBox 22"/>
          <p:cNvSpPr txBox="1"/>
          <p:nvPr/>
        </p:nvSpPr>
        <p:spPr>
          <a:xfrm>
            <a:off x="4526279" y="2304288"/>
            <a:ext cx="3200400" cy="1371600"/>
          </a:xfrm>
          <a:prstGeom prst="rect">
            <a:avLst/>
          </a:prstGeom>
          <a:noFill/>
        </p:spPr>
        <p:txBody>
          <a:bodyPr wrap="square" lIns="0" tIns="0" rIns="0" bIns="0" anchor="t">
            <a:spAutoFit/>
          </a:bodyPr>
          <a:lstStyle/>
          <a:p>
            <a:pPr algn="l">
              <a:spcAft>
                <a:spcPts val="400"/>
              </a:spcAft>
            </a:pPr>
            <a:r>
              <a:rPr sz="1200" dirty="0">
                <a:solidFill>
                  <a:srgbClr val="0D9488"/>
                </a:solidFill>
                <a:latin typeface="Segoe UI Semibold"/>
              </a:rPr>
              <a:t>▸ </a:t>
            </a:r>
            <a:r>
              <a:rPr sz="1250" dirty="0">
                <a:solidFill>
                  <a:srgbClr val="0F172A"/>
                </a:solidFill>
                <a:latin typeface="Segoe UI"/>
              </a:rPr>
              <a:t>Python</a:t>
            </a:r>
          </a:p>
          <a:p>
            <a:pPr algn="l">
              <a:spcAft>
                <a:spcPts val="400"/>
              </a:spcAft>
            </a:pPr>
            <a:r>
              <a:rPr sz="1200" dirty="0">
                <a:solidFill>
                  <a:srgbClr val="0D9488"/>
                </a:solidFill>
                <a:latin typeface="Segoe UI Semibold"/>
              </a:rPr>
              <a:t>▸ </a:t>
            </a:r>
            <a:r>
              <a:rPr sz="1250" dirty="0" err="1">
                <a:solidFill>
                  <a:srgbClr val="0F172A"/>
                </a:solidFill>
                <a:latin typeface="Segoe UI"/>
              </a:rPr>
              <a:t>FastAPI</a:t>
            </a:r>
            <a:r>
              <a:rPr sz="1250" dirty="0">
                <a:solidFill>
                  <a:srgbClr val="0F172A"/>
                </a:solidFill>
                <a:latin typeface="Segoe UI"/>
              </a:rPr>
              <a:t> + </a:t>
            </a:r>
            <a:r>
              <a:rPr sz="1250" dirty="0" err="1">
                <a:solidFill>
                  <a:srgbClr val="0F172A"/>
                </a:solidFill>
                <a:latin typeface="Segoe UI"/>
              </a:rPr>
              <a:t>Uvicorn</a:t>
            </a:r>
            <a:r>
              <a:rPr sz="1250" dirty="0">
                <a:solidFill>
                  <a:srgbClr val="0F172A"/>
                </a:solidFill>
                <a:latin typeface="Segoe UI"/>
              </a:rPr>
              <a:t> (REST API)</a:t>
            </a:r>
          </a:p>
          <a:p>
            <a:pPr algn="l">
              <a:spcAft>
                <a:spcPts val="400"/>
              </a:spcAft>
            </a:pPr>
            <a:r>
              <a:rPr sz="1200" dirty="0">
                <a:solidFill>
                  <a:srgbClr val="0D9488"/>
                </a:solidFill>
                <a:latin typeface="Segoe UI Semibold"/>
              </a:rPr>
              <a:t>▸ </a:t>
            </a:r>
            <a:r>
              <a:rPr sz="1250" dirty="0">
                <a:solidFill>
                  <a:srgbClr val="0F172A"/>
                </a:solidFill>
                <a:latin typeface="Segoe UI"/>
              </a:rPr>
              <a:t>Impact, risk and recommendation engine</a:t>
            </a:r>
          </a:p>
        </p:txBody>
      </p:sp>
      <p:sp>
        <p:nvSpPr>
          <p:cNvPr id="24" name="Rounded Rectangle 23"/>
          <p:cNvSpPr/>
          <p:nvPr/>
        </p:nvSpPr>
        <p:spPr>
          <a:xfrm>
            <a:off x="8046719" y="1463040"/>
            <a:ext cx="3566160" cy="2286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046719" y="1463040"/>
            <a:ext cx="3566160" cy="658368"/>
          </a:xfrm>
          <a:prstGeom prst="roundRect">
            <a:avLst>
              <a:gd name="adj" fmla="val 2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046719" y="1828800"/>
            <a:ext cx="3566160"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183879" y="1554480"/>
            <a:ext cx="475488" cy="47548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83879" y="1554480"/>
            <a:ext cx="475488" cy="475488"/>
          </a:xfrm>
          <a:prstGeom prst="rect">
            <a:avLst/>
          </a:prstGeom>
          <a:noFill/>
        </p:spPr>
        <p:txBody>
          <a:bodyPr wrap="square" lIns="0" tIns="0" rIns="0" bIns="0" anchor="ctr">
            <a:spAutoFit/>
          </a:bodyPr>
          <a:lstStyle/>
          <a:p>
            <a:pPr algn="ctr">
              <a:spcAft>
                <a:spcPts val="400"/>
              </a:spcAft>
            </a:pPr>
            <a:r>
              <a:rPr sz="1500">
                <a:solidFill>
                  <a:srgbClr val="FFFFFF"/>
                </a:solidFill>
                <a:latin typeface="Segoe UI Emoji"/>
              </a:rPr>
              <a:t>🧠</a:t>
            </a:r>
          </a:p>
        </p:txBody>
      </p:sp>
      <p:sp>
        <p:nvSpPr>
          <p:cNvPr id="29" name="TextBox 28"/>
          <p:cNvSpPr txBox="1"/>
          <p:nvPr/>
        </p:nvSpPr>
        <p:spPr>
          <a:xfrm>
            <a:off x="8778240" y="1554480"/>
            <a:ext cx="2743200" cy="475488"/>
          </a:xfrm>
          <a:prstGeom prst="rect">
            <a:avLst/>
          </a:prstGeom>
          <a:noFill/>
        </p:spPr>
        <p:txBody>
          <a:bodyPr wrap="square" lIns="0" tIns="0" rIns="0" bIns="0" anchor="ctr">
            <a:spAutoFit/>
          </a:bodyPr>
          <a:lstStyle/>
          <a:p>
            <a:pPr algn="l">
              <a:spcAft>
                <a:spcPts val="400"/>
              </a:spcAft>
            </a:pPr>
            <a:r>
              <a:rPr sz="1500">
                <a:solidFill>
                  <a:srgbClr val="FFFFFF"/>
                </a:solidFill>
                <a:latin typeface="Segoe UI Semibold"/>
              </a:rPr>
              <a:t>AI / NLP</a:t>
            </a:r>
          </a:p>
        </p:txBody>
      </p:sp>
      <p:sp>
        <p:nvSpPr>
          <p:cNvPr id="30" name="TextBox 29"/>
          <p:cNvSpPr txBox="1"/>
          <p:nvPr/>
        </p:nvSpPr>
        <p:spPr>
          <a:xfrm>
            <a:off x="8275319" y="2304288"/>
            <a:ext cx="3200400" cy="1371600"/>
          </a:xfrm>
          <a:prstGeom prst="rect">
            <a:avLst/>
          </a:prstGeom>
          <a:noFill/>
        </p:spPr>
        <p:txBody>
          <a:bodyPr wrap="square" lIns="0" tIns="0" rIns="0" bIns="0" anchor="t">
            <a:spAutoFit/>
          </a:bodyPr>
          <a:lstStyle/>
          <a:p>
            <a:pPr algn="l">
              <a:spcAft>
                <a:spcPts val="400"/>
              </a:spcAft>
            </a:pPr>
            <a:r>
              <a:rPr sz="1200">
                <a:solidFill>
                  <a:srgbClr val="0D9488"/>
                </a:solidFill>
                <a:latin typeface="Segoe UI Semibold"/>
              </a:rPr>
              <a:t>▸ </a:t>
            </a:r>
            <a:r>
              <a:rPr sz="1250">
                <a:solidFill>
                  <a:srgbClr val="0F172A"/>
                </a:solidFill>
                <a:latin typeface="Segoe UI"/>
              </a:rPr>
              <a:t>Groq LLM or Google Gemini (optional key)</a:t>
            </a:r>
          </a:p>
          <a:p>
            <a:pPr algn="l">
              <a:spcAft>
                <a:spcPts val="400"/>
              </a:spcAft>
            </a:pPr>
            <a:r>
              <a:rPr sz="1200">
                <a:solidFill>
                  <a:srgbClr val="0D9488"/>
                </a:solidFill>
                <a:latin typeface="Segoe UI Semibold"/>
              </a:rPr>
              <a:t>▸ </a:t>
            </a:r>
            <a:r>
              <a:rPr sz="1250">
                <a:solidFill>
                  <a:srgbClr val="0F172A"/>
                </a:solidFill>
                <a:latin typeface="Segoe UI"/>
              </a:rPr>
              <a:t>Rule-based Tamil/English parser (offline)</a:t>
            </a:r>
          </a:p>
          <a:p>
            <a:pPr algn="l">
              <a:spcAft>
                <a:spcPts val="400"/>
              </a:spcAft>
            </a:pPr>
            <a:r>
              <a:rPr sz="1200">
                <a:solidFill>
                  <a:srgbClr val="0D9488"/>
                </a:solidFill>
                <a:latin typeface="Segoe UI Semibold"/>
              </a:rPr>
              <a:t>▸ </a:t>
            </a:r>
            <a:r>
              <a:rPr sz="1250">
                <a:solidFill>
                  <a:srgbClr val="0F172A"/>
                </a:solidFill>
                <a:latin typeface="Segoe UI"/>
              </a:rPr>
              <a:t>SpeechRecognition (voice), RapidFuzz</a:t>
            </a:r>
          </a:p>
        </p:txBody>
      </p:sp>
      <p:sp>
        <p:nvSpPr>
          <p:cNvPr id="31" name="Rounded Rectangle 30"/>
          <p:cNvSpPr/>
          <p:nvPr/>
        </p:nvSpPr>
        <p:spPr>
          <a:xfrm>
            <a:off x="548640" y="3931920"/>
            <a:ext cx="3566160" cy="2286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48640" y="3931920"/>
            <a:ext cx="3566160" cy="658368"/>
          </a:xfrm>
          <a:prstGeom prst="roundRect">
            <a:avLst>
              <a:gd name="adj" fmla="val 2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48640" y="4297680"/>
            <a:ext cx="3566160"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85800" y="4023360"/>
            <a:ext cx="475488" cy="47548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4023360"/>
            <a:ext cx="475488" cy="475488"/>
          </a:xfrm>
          <a:prstGeom prst="rect">
            <a:avLst/>
          </a:prstGeom>
          <a:noFill/>
        </p:spPr>
        <p:txBody>
          <a:bodyPr wrap="square" lIns="0" tIns="0" rIns="0" bIns="0" anchor="ctr">
            <a:spAutoFit/>
          </a:bodyPr>
          <a:lstStyle/>
          <a:p>
            <a:pPr algn="ctr">
              <a:spcAft>
                <a:spcPts val="400"/>
              </a:spcAft>
            </a:pPr>
            <a:r>
              <a:rPr sz="1500">
                <a:solidFill>
                  <a:srgbClr val="FFFFFF"/>
                </a:solidFill>
                <a:latin typeface="Segoe UI Emoji"/>
              </a:rPr>
              <a:t>🗄️</a:t>
            </a:r>
          </a:p>
        </p:txBody>
      </p:sp>
      <p:sp>
        <p:nvSpPr>
          <p:cNvPr id="36" name="TextBox 35"/>
          <p:cNvSpPr txBox="1"/>
          <p:nvPr/>
        </p:nvSpPr>
        <p:spPr>
          <a:xfrm>
            <a:off x="1280160" y="4023360"/>
            <a:ext cx="2743200" cy="475488"/>
          </a:xfrm>
          <a:prstGeom prst="rect">
            <a:avLst/>
          </a:prstGeom>
          <a:noFill/>
        </p:spPr>
        <p:txBody>
          <a:bodyPr wrap="square" lIns="0" tIns="0" rIns="0" bIns="0" anchor="ctr">
            <a:spAutoFit/>
          </a:bodyPr>
          <a:lstStyle/>
          <a:p>
            <a:pPr algn="l">
              <a:spcAft>
                <a:spcPts val="400"/>
              </a:spcAft>
            </a:pPr>
            <a:r>
              <a:rPr sz="1500">
                <a:solidFill>
                  <a:srgbClr val="FFFFFF"/>
                </a:solidFill>
                <a:latin typeface="Segoe UI Semibold"/>
              </a:rPr>
              <a:t>Database</a:t>
            </a:r>
          </a:p>
        </p:txBody>
      </p:sp>
      <p:sp>
        <p:nvSpPr>
          <p:cNvPr id="37" name="TextBox 36"/>
          <p:cNvSpPr txBox="1"/>
          <p:nvPr/>
        </p:nvSpPr>
        <p:spPr>
          <a:xfrm>
            <a:off x="777240" y="4773168"/>
            <a:ext cx="3200400" cy="1371600"/>
          </a:xfrm>
          <a:prstGeom prst="rect">
            <a:avLst/>
          </a:prstGeom>
          <a:noFill/>
        </p:spPr>
        <p:txBody>
          <a:bodyPr wrap="square" lIns="0" tIns="0" rIns="0" bIns="0" anchor="t">
            <a:spAutoFit/>
          </a:bodyPr>
          <a:lstStyle/>
          <a:p>
            <a:pPr algn="l">
              <a:spcAft>
                <a:spcPts val="400"/>
              </a:spcAft>
            </a:pPr>
            <a:r>
              <a:rPr sz="1200">
                <a:solidFill>
                  <a:srgbClr val="0D9488"/>
                </a:solidFill>
                <a:latin typeface="Segoe UI Semibold"/>
              </a:rPr>
              <a:t>▸ </a:t>
            </a:r>
            <a:r>
              <a:rPr sz="1250">
                <a:solidFill>
                  <a:srgbClr val="0F172A"/>
                </a:solidFill>
                <a:latin typeface="Segoe UI"/>
              </a:rPr>
              <a:t>SQLite (WAL mode)</a:t>
            </a:r>
          </a:p>
          <a:p>
            <a:pPr algn="l">
              <a:spcAft>
                <a:spcPts val="400"/>
              </a:spcAft>
            </a:pPr>
            <a:r>
              <a:rPr sz="1200">
                <a:solidFill>
                  <a:srgbClr val="0D9488"/>
                </a:solidFill>
                <a:latin typeface="Segoe UI Semibold"/>
              </a:rPr>
              <a:t>▸ </a:t>
            </a:r>
            <a:r>
              <a:rPr sz="1250">
                <a:solidFill>
                  <a:srgbClr val="0F172A"/>
                </a:solidFill>
                <a:latin typeface="Segoe UI"/>
              </a:rPr>
              <a:t>One transaction per accepted plan</a:t>
            </a:r>
          </a:p>
          <a:p>
            <a:pPr algn="l">
              <a:spcAft>
                <a:spcPts val="400"/>
              </a:spcAft>
            </a:pPr>
            <a:r>
              <a:rPr sz="1200">
                <a:solidFill>
                  <a:srgbClr val="0D9488"/>
                </a:solidFill>
                <a:latin typeface="Segoe UI Semibold"/>
              </a:rPr>
              <a:t>▸ </a:t>
            </a:r>
            <a:r>
              <a:rPr sz="1250">
                <a:solidFill>
                  <a:srgbClr val="0F172A"/>
                </a:solidFill>
                <a:latin typeface="Segoe UI"/>
              </a:rPr>
              <a:t>Hashed passwords &amp; sessions (PBKDF2)</a:t>
            </a:r>
          </a:p>
        </p:txBody>
      </p:sp>
      <p:sp>
        <p:nvSpPr>
          <p:cNvPr id="38" name="Rounded Rectangle 37"/>
          <p:cNvSpPr/>
          <p:nvPr/>
        </p:nvSpPr>
        <p:spPr>
          <a:xfrm>
            <a:off x="4297679" y="3931920"/>
            <a:ext cx="3566160" cy="2286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4297679" y="3931920"/>
            <a:ext cx="3566160" cy="658368"/>
          </a:xfrm>
          <a:prstGeom prst="roundRect">
            <a:avLst>
              <a:gd name="adj" fmla="val 2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297679" y="4297680"/>
            <a:ext cx="3566160"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434840" y="4023360"/>
            <a:ext cx="475488" cy="47548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434840" y="4023360"/>
            <a:ext cx="475488" cy="475488"/>
          </a:xfrm>
          <a:prstGeom prst="rect">
            <a:avLst/>
          </a:prstGeom>
          <a:noFill/>
        </p:spPr>
        <p:txBody>
          <a:bodyPr wrap="square" lIns="0" tIns="0" rIns="0" bIns="0" anchor="ctr">
            <a:spAutoFit/>
          </a:bodyPr>
          <a:lstStyle/>
          <a:p>
            <a:pPr algn="ctr">
              <a:spcAft>
                <a:spcPts val="400"/>
              </a:spcAft>
            </a:pPr>
            <a:r>
              <a:rPr sz="1500">
                <a:solidFill>
                  <a:srgbClr val="FFFFFF"/>
                </a:solidFill>
                <a:latin typeface="Segoe UI Emoji"/>
              </a:rPr>
              <a:t>🗺️</a:t>
            </a:r>
          </a:p>
        </p:txBody>
      </p:sp>
      <p:sp>
        <p:nvSpPr>
          <p:cNvPr id="43" name="TextBox 42"/>
          <p:cNvSpPr txBox="1"/>
          <p:nvPr/>
        </p:nvSpPr>
        <p:spPr>
          <a:xfrm>
            <a:off x="5029199" y="4023360"/>
            <a:ext cx="2743200" cy="475488"/>
          </a:xfrm>
          <a:prstGeom prst="rect">
            <a:avLst/>
          </a:prstGeom>
          <a:noFill/>
        </p:spPr>
        <p:txBody>
          <a:bodyPr wrap="square" lIns="0" tIns="0" rIns="0" bIns="0" anchor="ctr">
            <a:spAutoFit/>
          </a:bodyPr>
          <a:lstStyle/>
          <a:p>
            <a:pPr algn="l">
              <a:spcAft>
                <a:spcPts val="400"/>
              </a:spcAft>
            </a:pPr>
            <a:r>
              <a:rPr sz="1500">
                <a:solidFill>
                  <a:srgbClr val="FFFFFF"/>
                </a:solidFill>
                <a:latin typeface="Segoe UI Semibold"/>
              </a:rPr>
              <a:t>Maps &amp; Visualization</a:t>
            </a:r>
          </a:p>
        </p:txBody>
      </p:sp>
      <p:sp>
        <p:nvSpPr>
          <p:cNvPr id="44" name="TextBox 43"/>
          <p:cNvSpPr txBox="1"/>
          <p:nvPr/>
        </p:nvSpPr>
        <p:spPr>
          <a:xfrm>
            <a:off x="4526279" y="4773168"/>
            <a:ext cx="3200400" cy="1371600"/>
          </a:xfrm>
          <a:prstGeom prst="rect">
            <a:avLst/>
          </a:prstGeom>
          <a:noFill/>
        </p:spPr>
        <p:txBody>
          <a:bodyPr wrap="square" lIns="0" tIns="0" rIns="0" bIns="0" anchor="t">
            <a:spAutoFit/>
          </a:bodyPr>
          <a:lstStyle/>
          <a:p>
            <a:pPr algn="l">
              <a:spcAft>
                <a:spcPts val="400"/>
              </a:spcAft>
            </a:pPr>
            <a:r>
              <a:rPr sz="1200">
                <a:solidFill>
                  <a:srgbClr val="0D9488"/>
                </a:solidFill>
                <a:latin typeface="Segoe UI Semibold"/>
              </a:rPr>
              <a:t>▸ </a:t>
            </a:r>
            <a:r>
              <a:rPr sz="1250">
                <a:solidFill>
                  <a:srgbClr val="0F172A"/>
                </a:solidFill>
                <a:latin typeface="Segoe UI"/>
              </a:rPr>
              <a:t>Folium + streamlit-folium</a:t>
            </a:r>
          </a:p>
          <a:p>
            <a:pPr algn="l">
              <a:spcAft>
                <a:spcPts val="400"/>
              </a:spcAft>
            </a:pPr>
            <a:r>
              <a:rPr sz="1200">
                <a:solidFill>
                  <a:srgbClr val="0D9488"/>
                </a:solidFill>
                <a:latin typeface="Segoe UI Semibold"/>
              </a:rPr>
              <a:t>▸ </a:t>
            </a:r>
            <a:r>
              <a:rPr sz="1250">
                <a:solidFill>
                  <a:srgbClr val="0F172A"/>
                </a:solidFill>
                <a:latin typeface="Segoe UI"/>
              </a:rPr>
              <a:t>OSRM road shapes (cached), Esri tiles</a:t>
            </a:r>
          </a:p>
          <a:p>
            <a:pPr algn="l">
              <a:spcAft>
                <a:spcPts val="400"/>
              </a:spcAft>
            </a:pPr>
            <a:r>
              <a:rPr sz="1200">
                <a:solidFill>
                  <a:srgbClr val="0D9488"/>
                </a:solidFill>
                <a:latin typeface="Segoe UI Semibold"/>
              </a:rPr>
              <a:t>▸ </a:t>
            </a:r>
            <a:r>
              <a:rPr sz="1250">
                <a:solidFill>
                  <a:srgbClr val="0F172A"/>
                </a:solidFill>
                <a:latin typeface="Segoe UI"/>
              </a:rPr>
              <a:t>Plotly charts, NetworkX impact graph</a:t>
            </a:r>
          </a:p>
        </p:txBody>
      </p:sp>
      <p:sp>
        <p:nvSpPr>
          <p:cNvPr id="45" name="Rounded Rectangle 44"/>
          <p:cNvSpPr/>
          <p:nvPr/>
        </p:nvSpPr>
        <p:spPr>
          <a:xfrm>
            <a:off x="8046719" y="3931920"/>
            <a:ext cx="3566160" cy="2286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8046719" y="3931920"/>
            <a:ext cx="3566160" cy="658368"/>
          </a:xfrm>
          <a:prstGeom prst="roundRect">
            <a:avLst>
              <a:gd name="adj" fmla="val 2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046719" y="4297680"/>
            <a:ext cx="3566160"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183879" y="4023360"/>
            <a:ext cx="475488" cy="47548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183879" y="4023360"/>
            <a:ext cx="475488" cy="475488"/>
          </a:xfrm>
          <a:prstGeom prst="rect">
            <a:avLst/>
          </a:prstGeom>
          <a:noFill/>
        </p:spPr>
        <p:txBody>
          <a:bodyPr wrap="square" lIns="0" tIns="0" rIns="0" bIns="0" anchor="ctr">
            <a:spAutoFit/>
          </a:bodyPr>
          <a:lstStyle/>
          <a:p>
            <a:pPr algn="ctr">
              <a:spcAft>
                <a:spcPts val="400"/>
              </a:spcAft>
            </a:pPr>
            <a:r>
              <a:rPr sz="1500">
                <a:solidFill>
                  <a:srgbClr val="FFFFFF"/>
                </a:solidFill>
                <a:latin typeface="Segoe UI Emoji"/>
              </a:rPr>
              <a:t>🚀</a:t>
            </a:r>
          </a:p>
        </p:txBody>
      </p:sp>
      <p:sp>
        <p:nvSpPr>
          <p:cNvPr id="50" name="TextBox 49"/>
          <p:cNvSpPr txBox="1"/>
          <p:nvPr/>
        </p:nvSpPr>
        <p:spPr>
          <a:xfrm>
            <a:off x="8778240" y="4023360"/>
            <a:ext cx="2743200" cy="475488"/>
          </a:xfrm>
          <a:prstGeom prst="rect">
            <a:avLst/>
          </a:prstGeom>
          <a:noFill/>
        </p:spPr>
        <p:txBody>
          <a:bodyPr wrap="square" lIns="0" tIns="0" rIns="0" bIns="0" anchor="ctr">
            <a:spAutoFit/>
          </a:bodyPr>
          <a:lstStyle/>
          <a:p>
            <a:pPr algn="l">
              <a:spcAft>
                <a:spcPts val="400"/>
              </a:spcAft>
            </a:pPr>
            <a:r>
              <a:rPr sz="1500">
                <a:solidFill>
                  <a:srgbClr val="FFFFFF"/>
                </a:solidFill>
                <a:latin typeface="Segoe UI Semibold"/>
              </a:rPr>
              <a:t>Version Control &amp; Deployment</a:t>
            </a:r>
          </a:p>
        </p:txBody>
      </p:sp>
      <p:sp>
        <p:nvSpPr>
          <p:cNvPr id="51" name="TextBox 50"/>
          <p:cNvSpPr txBox="1"/>
          <p:nvPr/>
        </p:nvSpPr>
        <p:spPr>
          <a:xfrm>
            <a:off x="8275319" y="4773168"/>
            <a:ext cx="3200400" cy="1371600"/>
          </a:xfrm>
          <a:prstGeom prst="rect">
            <a:avLst/>
          </a:prstGeom>
          <a:noFill/>
        </p:spPr>
        <p:txBody>
          <a:bodyPr wrap="square" lIns="0" tIns="0" rIns="0" bIns="0" anchor="t">
            <a:spAutoFit/>
          </a:bodyPr>
          <a:lstStyle/>
          <a:p>
            <a:pPr algn="l">
              <a:spcAft>
                <a:spcPts val="400"/>
              </a:spcAft>
            </a:pPr>
            <a:r>
              <a:rPr sz="1200">
                <a:solidFill>
                  <a:srgbClr val="0D9488"/>
                </a:solidFill>
                <a:latin typeface="Segoe UI Semibold"/>
              </a:rPr>
              <a:t>▸ </a:t>
            </a:r>
            <a:r>
              <a:rPr sz="1250">
                <a:solidFill>
                  <a:srgbClr val="0F172A"/>
                </a:solidFill>
                <a:latin typeface="Segoe UI"/>
              </a:rPr>
              <a:t>Git + GitHub</a:t>
            </a:r>
          </a:p>
          <a:p>
            <a:pPr algn="l">
              <a:spcAft>
                <a:spcPts val="400"/>
              </a:spcAft>
            </a:pPr>
            <a:r>
              <a:rPr sz="1200">
                <a:solidFill>
                  <a:srgbClr val="0D9488"/>
                </a:solidFill>
                <a:latin typeface="Segoe UI Semibold"/>
              </a:rPr>
              <a:t>▸ </a:t>
            </a:r>
            <a:r>
              <a:rPr sz="1250">
                <a:solidFill>
                  <a:srgbClr val="0F172A"/>
                </a:solidFill>
                <a:latin typeface="Segoe UI"/>
              </a:rPr>
              <a:t>Streamlit Community Cloud</a:t>
            </a:r>
          </a:p>
          <a:p>
            <a:pPr algn="l">
              <a:spcAft>
                <a:spcPts val="400"/>
              </a:spcAft>
            </a:pPr>
            <a:r>
              <a:rPr sz="1200">
                <a:solidFill>
                  <a:srgbClr val="0D9488"/>
                </a:solidFill>
                <a:latin typeface="Segoe UI Semibold"/>
              </a:rPr>
              <a:t>▸ </a:t>
            </a:r>
            <a:r>
              <a:rPr sz="1250">
                <a:solidFill>
                  <a:srgbClr val="0F172A"/>
                </a:solidFill>
                <a:latin typeface="Segoe UI"/>
              </a:rPr>
              <a:t>pytest (automated tests)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9"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486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2880"/>
            <a:ext cx="8686800" cy="365760"/>
          </a:xfrm>
          <a:prstGeom prst="rect">
            <a:avLst/>
          </a:prstGeom>
          <a:noFill/>
        </p:spPr>
        <p:txBody>
          <a:bodyPr wrap="square" lIns="0" tIns="0" rIns="0" bIns="0" anchor="t">
            <a:spAutoFit/>
          </a:bodyPr>
          <a:lstStyle/>
          <a:p>
            <a:pPr algn="l">
              <a:spcAft>
                <a:spcPts val="400"/>
              </a:spcAft>
            </a:pPr>
            <a:r>
              <a:rPr sz="1200">
                <a:solidFill>
                  <a:srgbClr val="5EEAD4"/>
                </a:solidFill>
                <a:latin typeface="Segoe UI Semibold"/>
              </a:rPr>
              <a:t>PROTOTYPE / WORKING MODEL</a:t>
            </a:r>
          </a:p>
        </p:txBody>
      </p:sp>
      <p:sp>
        <p:nvSpPr>
          <p:cNvPr id="6" name="TextBox 5"/>
          <p:cNvSpPr txBox="1"/>
          <p:nvPr/>
        </p:nvSpPr>
        <p:spPr>
          <a:xfrm>
            <a:off x="548640" y="438912"/>
            <a:ext cx="9601200" cy="548640"/>
          </a:xfrm>
          <a:prstGeom prst="rect">
            <a:avLst/>
          </a:prstGeom>
          <a:noFill/>
        </p:spPr>
        <p:txBody>
          <a:bodyPr wrap="square" lIns="0" tIns="0" rIns="0" bIns="0" anchor="t">
            <a:spAutoFit/>
          </a:bodyPr>
          <a:lstStyle/>
          <a:p>
            <a:pPr algn="l">
              <a:spcAft>
                <a:spcPts val="400"/>
              </a:spcAft>
            </a:pPr>
            <a:r>
              <a:rPr sz="2800">
                <a:solidFill>
                  <a:srgbClr val="FFFFFF"/>
                </a:solidFill>
                <a:latin typeface="Segoe UI Semibold"/>
              </a:rPr>
              <a:t>Working prototype – live demo</a:t>
            </a:r>
          </a:p>
        </p:txBody>
      </p:sp>
      <p:sp>
        <p:nvSpPr>
          <p:cNvPr id="7" name="TextBox 6"/>
          <p:cNvSpPr txBox="1"/>
          <p:nvPr/>
        </p:nvSpPr>
        <p:spPr>
          <a:xfrm>
            <a:off x="9692640" y="384048"/>
            <a:ext cx="1965960" cy="365760"/>
          </a:xfrm>
          <a:prstGeom prst="rect">
            <a:avLst/>
          </a:prstGeom>
          <a:noFill/>
        </p:spPr>
        <p:txBody>
          <a:bodyPr wrap="square" lIns="0" tIns="0" rIns="0" bIns="0" anchor="t">
            <a:spAutoFit/>
          </a:bodyPr>
          <a:lstStyle/>
          <a:p>
            <a:pPr algn="r">
              <a:spcAft>
                <a:spcPts val="400"/>
              </a:spcAft>
            </a:pPr>
            <a:r>
              <a:rPr sz="1200">
                <a:solidFill>
                  <a:srgbClr val="CBD5E1"/>
                </a:solidFill>
                <a:latin typeface="Segoe UI"/>
              </a:rPr>
              <a:t>HackNext'26 · Inovix</a:t>
            </a:r>
          </a:p>
        </p:txBody>
      </p:sp>
      <p:sp>
        <p:nvSpPr>
          <p:cNvPr id="8" name="TextBox 7"/>
          <p:cNvSpPr txBox="1"/>
          <p:nvPr/>
        </p:nvSpPr>
        <p:spPr>
          <a:xfrm>
            <a:off x="548640" y="6473952"/>
            <a:ext cx="8229600" cy="274320"/>
          </a:xfrm>
          <a:prstGeom prst="rect">
            <a:avLst/>
          </a:prstGeom>
          <a:noFill/>
        </p:spPr>
        <p:txBody>
          <a:bodyPr wrap="square" lIns="0" tIns="0" rIns="0" bIns="0" anchor="t">
            <a:spAutoFit/>
          </a:bodyPr>
          <a:lstStyle/>
          <a:p>
            <a:pPr algn="l">
              <a:spcAft>
                <a:spcPts val="400"/>
              </a:spcAft>
            </a:pPr>
            <a:r>
              <a:rPr sz="1000">
                <a:solidFill>
                  <a:srgbClr val="475569"/>
                </a:solidFill>
                <a:latin typeface="Segoe UI"/>
              </a:rPr>
              <a:t>PS02 – Disruption-Aware Logistics Planning  ·  Team Inovix</a:t>
            </a:r>
          </a:p>
        </p:txBody>
      </p:sp>
      <p:sp>
        <p:nvSpPr>
          <p:cNvPr id="9" name="TextBox 8"/>
          <p:cNvSpPr txBox="1"/>
          <p:nvPr/>
        </p:nvSpPr>
        <p:spPr>
          <a:xfrm>
            <a:off x="11155680" y="6473952"/>
            <a:ext cx="502920" cy="274320"/>
          </a:xfrm>
          <a:prstGeom prst="rect">
            <a:avLst/>
          </a:prstGeom>
          <a:noFill/>
        </p:spPr>
        <p:txBody>
          <a:bodyPr wrap="square" lIns="0" tIns="0" rIns="0" bIns="0" anchor="t">
            <a:spAutoFit/>
          </a:bodyPr>
          <a:lstStyle/>
          <a:p>
            <a:pPr algn="r">
              <a:spcAft>
                <a:spcPts val="400"/>
              </a:spcAft>
            </a:pPr>
            <a:r>
              <a:rPr sz="1000">
                <a:solidFill>
                  <a:srgbClr val="475569"/>
                </a:solidFill>
                <a:latin typeface="Segoe UI"/>
              </a:rPr>
              <a:t>5 / 5</a:t>
            </a:r>
          </a:p>
        </p:txBody>
      </p:sp>
      <p:sp>
        <p:nvSpPr>
          <p:cNvPr id="10" name="Rounded Rectangle 9"/>
          <p:cNvSpPr/>
          <p:nvPr/>
        </p:nvSpPr>
        <p:spPr>
          <a:xfrm>
            <a:off x="548640" y="1417320"/>
            <a:ext cx="3429000" cy="46634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02_command_center.jpg"/>
          <p:cNvPicPr>
            <a:picLocks noChangeAspect="1"/>
          </p:cNvPicPr>
          <p:nvPr/>
        </p:nvPicPr>
        <p:blipFill>
          <a:blip r:embed="rId3"/>
          <a:srcRect l="22144" r="22144"/>
          <a:stretch>
            <a:fillRect/>
          </a:stretch>
        </p:blipFill>
        <p:spPr>
          <a:xfrm>
            <a:off x="685800" y="1554480"/>
            <a:ext cx="3154680" cy="3931920"/>
          </a:xfrm>
          <a:prstGeom prst="rect">
            <a:avLst/>
          </a:prstGeom>
          <a:ln w="9525">
            <a:solidFill>
              <a:srgbClr val="D9E2EC"/>
            </a:solidFill>
          </a:ln>
        </p:spPr>
      </p:pic>
      <p:sp>
        <p:nvSpPr>
          <p:cNvPr id="12" name="Oval 11"/>
          <p:cNvSpPr/>
          <p:nvPr/>
        </p:nvSpPr>
        <p:spPr>
          <a:xfrm>
            <a:off x="685800" y="5596128"/>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5596128"/>
            <a:ext cx="365760" cy="365760"/>
          </a:xfrm>
          <a:prstGeom prst="rect">
            <a:avLst/>
          </a:prstGeom>
          <a:noFill/>
        </p:spPr>
        <p:txBody>
          <a:bodyPr wrap="square" lIns="0" tIns="0" rIns="0" bIns="0" anchor="ctr">
            <a:spAutoFit/>
          </a:bodyPr>
          <a:lstStyle/>
          <a:p>
            <a:pPr algn="ctr">
              <a:spcAft>
                <a:spcPts val="400"/>
              </a:spcAft>
            </a:pPr>
            <a:r>
              <a:rPr sz="1300">
                <a:solidFill>
                  <a:srgbClr val="FFFFFF"/>
                </a:solidFill>
                <a:latin typeface="Segoe UI Emoji"/>
              </a:rPr>
              <a:t>1</a:t>
            </a:r>
          </a:p>
        </p:txBody>
      </p:sp>
      <p:sp>
        <p:nvSpPr>
          <p:cNvPr id="14" name="TextBox 13"/>
          <p:cNvSpPr txBox="1"/>
          <p:nvPr/>
        </p:nvSpPr>
        <p:spPr>
          <a:xfrm>
            <a:off x="1143000" y="5577840"/>
            <a:ext cx="2743200" cy="457200"/>
          </a:xfrm>
          <a:prstGeom prst="rect">
            <a:avLst/>
          </a:prstGeom>
          <a:noFill/>
        </p:spPr>
        <p:txBody>
          <a:bodyPr wrap="square" lIns="0" tIns="0" rIns="0" bIns="0" anchor="ctr">
            <a:spAutoFit/>
          </a:bodyPr>
          <a:lstStyle/>
          <a:p>
            <a:pPr algn="l">
              <a:spcAft>
                <a:spcPts val="400"/>
              </a:spcAft>
            </a:pPr>
            <a:r>
              <a:rPr sz="1250">
                <a:solidFill>
                  <a:srgbClr val="0B1F3A"/>
                </a:solidFill>
                <a:latin typeface="Segoe UI Semibold"/>
              </a:rPr>
              <a:t>Admin Dashboard &amp; Map</a:t>
            </a:r>
          </a:p>
        </p:txBody>
      </p:sp>
      <p:sp>
        <p:nvSpPr>
          <p:cNvPr id="15" name="Rounded Rectangle 14"/>
          <p:cNvSpPr/>
          <p:nvPr/>
        </p:nvSpPr>
        <p:spPr>
          <a:xfrm>
            <a:off x="4123944" y="1417320"/>
            <a:ext cx="1874519" cy="46634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08_partner_today.jpg"/>
          <p:cNvPicPr>
            <a:picLocks noChangeAspect="1"/>
          </p:cNvPicPr>
          <p:nvPr/>
        </p:nvPicPr>
        <p:blipFill>
          <a:blip r:embed="rId4"/>
          <a:srcRect b="36114"/>
          <a:stretch>
            <a:fillRect/>
          </a:stretch>
        </p:blipFill>
        <p:spPr>
          <a:xfrm>
            <a:off x="4261104" y="1554480"/>
            <a:ext cx="1600199" cy="3931920"/>
          </a:xfrm>
          <a:prstGeom prst="rect">
            <a:avLst/>
          </a:prstGeom>
          <a:ln w="9525">
            <a:solidFill>
              <a:srgbClr val="D9E2EC"/>
            </a:solidFill>
          </a:ln>
        </p:spPr>
      </p:pic>
      <p:sp>
        <p:nvSpPr>
          <p:cNvPr id="17" name="Oval 16"/>
          <p:cNvSpPr/>
          <p:nvPr/>
        </p:nvSpPr>
        <p:spPr>
          <a:xfrm>
            <a:off x="4261104" y="5596128"/>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61104" y="5596128"/>
            <a:ext cx="365760" cy="365760"/>
          </a:xfrm>
          <a:prstGeom prst="rect">
            <a:avLst/>
          </a:prstGeom>
          <a:noFill/>
        </p:spPr>
        <p:txBody>
          <a:bodyPr wrap="square" lIns="0" tIns="0" rIns="0" bIns="0" anchor="ctr">
            <a:spAutoFit/>
          </a:bodyPr>
          <a:lstStyle/>
          <a:p>
            <a:pPr algn="ctr">
              <a:spcAft>
                <a:spcPts val="400"/>
              </a:spcAft>
            </a:pPr>
            <a:r>
              <a:rPr sz="1300">
                <a:solidFill>
                  <a:srgbClr val="FFFFFF"/>
                </a:solidFill>
                <a:latin typeface="Segoe UI Emoji"/>
              </a:rPr>
              <a:t>2</a:t>
            </a:r>
          </a:p>
        </p:txBody>
      </p:sp>
      <p:sp>
        <p:nvSpPr>
          <p:cNvPr id="19" name="TextBox 18"/>
          <p:cNvSpPr txBox="1"/>
          <p:nvPr/>
        </p:nvSpPr>
        <p:spPr>
          <a:xfrm>
            <a:off x="4718304" y="5577840"/>
            <a:ext cx="1188719" cy="457200"/>
          </a:xfrm>
          <a:prstGeom prst="rect">
            <a:avLst/>
          </a:prstGeom>
          <a:noFill/>
        </p:spPr>
        <p:txBody>
          <a:bodyPr wrap="square" lIns="0" tIns="0" rIns="0" bIns="0" anchor="ctr">
            <a:spAutoFit/>
          </a:bodyPr>
          <a:lstStyle/>
          <a:p>
            <a:pPr algn="l">
              <a:spcAft>
                <a:spcPts val="400"/>
              </a:spcAft>
            </a:pPr>
            <a:r>
              <a:rPr sz="1250">
                <a:solidFill>
                  <a:srgbClr val="0B1F3A"/>
                </a:solidFill>
                <a:latin typeface="Segoe UI Semibold"/>
              </a:rPr>
              <a:t>Personnel Details</a:t>
            </a:r>
          </a:p>
        </p:txBody>
      </p:sp>
      <p:sp>
        <p:nvSpPr>
          <p:cNvPr id="20" name="Rounded Rectangle 19"/>
          <p:cNvSpPr/>
          <p:nvPr/>
        </p:nvSpPr>
        <p:spPr>
          <a:xfrm>
            <a:off x="6144768" y="1417320"/>
            <a:ext cx="1874519" cy="46634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07_partner_report.jpg"/>
          <p:cNvPicPr>
            <a:picLocks noChangeAspect="1"/>
          </p:cNvPicPr>
          <p:nvPr/>
        </p:nvPicPr>
        <p:blipFill>
          <a:blip r:embed="rId5"/>
          <a:srcRect b="4171"/>
          <a:stretch>
            <a:fillRect/>
          </a:stretch>
        </p:blipFill>
        <p:spPr>
          <a:xfrm>
            <a:off x="6281928" y="1554480"/>
            <a:ext cx="1600199" cy="3931920"/>
          </a:xfrm>
          <a:prstGeom prst="rect">
            <a:avLst/>
          </a:prstGeom>
          <a:ln w="9525">
            <a:solidFill>
              <a:srgbClr val="D9E2EC"/>
            </a:solidFill>
          </a:ln>
        </p:spPr>
      </p:pic>
      <p:sp>
        <p:nvSpPr>
          <p:cNvPr id="22" name="Oval 21"/>
          <p:cNvSpPr/>
          <p:nvPr/>
        </p:nvSpPr>
        <p:spPr>
          <a:xfrm>
            <a:off x="6281928" y="5596128"/>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81928" y="5596128"/>
            <a:ext cx="365760" cy="365760"/>
          </a:xfrm>
          <a:prstGeom prst="rect">
            <a:avLst/>
          </a:prstGeom>
          <a:noFill/>
        </p:spPr>
        <p:txBody>
          <a:bodyPr wrap="square" lIns="0" tIns="0" rIns="0" bIns="0" anchor="ctr">
            <a:spAutoFit/>
          </a:bodyPr>
          <a:lstStyle/>
          <a:p>
            <a:pPr algn="ctr">
              <a:spcAft>
                <a:spcPts val="400"/>
              </a:spcAft>
            </a:pPr>
            <a:r>
              <a:rPr sz="1300">
                <a:solidFill>
                  <a:srgbClr val="FFFFFF"/>
                </a:solidFill>
                <a:latin typeface="Segoe UI Emoji"/>
              </a:rPr>
              <a:t>3</a:t>
            </a:r>
          </a:p>
        </p:txBody>
      </p:sp>
      <p:sp>
        <p:nvSpPr>
          <p:cNvPr id="24" name="TextBox 23"/>
          <p:cNvSpPr txBox="1"/>
          <p:nvPr/>
        </p:nvSpPr>
        <p:spPr>
          <a:xfrm>
            <a:off x="6739128" y="5577840"/>
            <a:ext cx="1188719" cy="457200"/>
          </a:xfrm>
          <a:prstGeom prst="rect">
            <a:avLst/>
          </a:prstGeom>
          <a:noFill/>
        </p:spPr>
        <p:txBody>
          <a:bodyPr wrap="square" lIns="0" tIns="0" rIns="0" bIns="0" anchor="ctr">
            <a:spAutoFit/>
          </a:bodyPr>
          <a:lstStyle/>
          <a:p>
            <a:pPr algn="l">
              <a:spcAft>
                <a:spcPts val="400"/>
              </a:spcAft>
            </a:pPr>
            <a:r>
              <a:rPr sz="1250">
                <a:solidFill>
                  <a:srgbClr val="0B1F3A"/>
                </a:solidFill>
                <a:latin typeface="Segoe UI Semibold"/>
              </a:rPr>
              <a:t>Complaint Submission</a:t>
            </a:r>
          </a:p>
        </p:txBody>
      </p:sp>
      <p:sp>
        <p:nvSpPr>
          <p:cNvPr id="25" name="Rounded Rectangle 24"/>
          <p:cNvSpPr/>
          <p:nvPr/>
        </p:nvSpPr>
        <p:spPr>
          <a:xfrm>
            <a:off x="8165592" y="1417320"/>
            <a:ext cx="3429000" cy="46634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04_alerts.jpg"/>
          <p:cNvPicPr>
            <a:picLocks noChangeAspect="1"/>
          </p:cNvPicPr>
          <p:nvPr/>
        </p:nvPicPr>
        <p:blipFill>
          <a:blip r:embed="rId6"/>
          <a:srcRect b="21980"/>
          <a:stretch>
            <a:fillRect/>
          </a:stretch>
        </p:blipFill>
        <p:spPr>
          <a:xfrm>
            <a:off x="8302752" y="1554480"/>
            <a:ext cx="3154680" cy="3931920"/>
          </a:xfrm>
          <a:prstGeom prst="rect">
            <a:avLst/>
          </a:prstGeom>
          <a:ln w="9525">
            <a:solidFill>
              <a:srgbClr val="D9E2EC"/>
            </a:solidFill>
          </a:ln>
        </p:spPr>
      </p:pic>
      <p:sp>
        <p:nvSpPr>
          <p:cNvPr id="27" name="Oval 26"/>
          <p:cNvSpPr/>
          <p:nvPr/>
        </p:nvSpPr>
        <p:spPr>
          <a:xfrm>
            <a:off x="8302752" y="5596128"/>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02752" y="5596128"/>
            <a:ext cx="365760" cy="365760"/>
          </a:xfrm>
          <a:prstGeom prst="rect">
            <a:avLst/>
          </a:prstGeom>
          <a:noFill/>
        </p:spPr>
        <p:txBody>
          <a:bodyPr wrap="square" lIns="0" tIns="0" rIns="0" bIns="0" anchor="ctr">
            <a:spAutoFit/>
          </a:bodyPr>
          <a:lstStyle/>
          <a:p>
            <a:pPr algn="ctr">
              <a:spcAft>
                <a:spcPts val="400"/>
              </a:spcAft>
            </a:pPr>
            <a:r>
              <a:rPr sz="1300">
                <a:solidFill>
                  <a:srgbClr val="FFFFFF"/>
                </a:solidFill>
                <a:latin typeface="Segoe UI Emoji"/>
              </a:rPr>
              <a:t>4</a:t>
            </a:r>
          </a:p>
        </p:txBody>
      </p:sp>
      <p:sp>
        <p:nvSpPr>
          <p:cNvPr id="29" name="TextBox 28"/>
          <p:cNvSpPr txBox="1"/>
          <p:nvPr/>
        </p:nvSpPr>
        <p:spPr>
          <a:xfrm>
            <a:off x="8759952" y="5577840"/>
            <a:ext cx="2743200" cy="457200"/>
          </a:xfrm>
          <a:prstGeom prst="rect">
            <a:avLst/>
          </a:prstGeom>
          <a:noFill/>
        </p:spPr>
        <p:txBody>
          <a:bodyPr wrap="square" lIns="0" tIns="0" rIns="0" bIns="0" anchor="ctr">
            <a:spAutoFit/>
          </a:bodyPr>
          <a:lstStyle/>
          <a:p>
            <a:pPr algn="l">
              <a:spcAft>
                <a:spcPts val="400"/>
              </a:spcAft>
            </a:pPr>
            <a:r>
              <a:rPr sz="1250">
                <a:solidFill>
                  <a:srgbClr val="0B1F3A"/>
                </a:solidFill>
                <a:latin typeface="Segoe UI Semibold"/>
              </a:rPr>
              <a:t>AI Recommendation &amp; Route Update</a:t>
            </a:r>
          </a:p>
        </p:txBody>
      </p:sp>
      <p:sp>
        <p:nvSpPr>
          <p:cNvPr id="30" name="TextBox 29"/>
          <p:cNvSpPr txBox="1"/>
          <p:nvPr/>
        </p:nvSpPr>
        <p:spPr>
          <a:xfrm>
            <a:off x="548640" y="6144768"/>
            <a:ext cx="11064240" cy="320040"/>
          </a:xfrm>
          <a:prstGeom prst="rect">
            <a:avLst/>
          </a:prstGeom>
          <a:noFill/>
        </p:spPr>
        <p:txBody>
          <a:bodyPr wrap="square" lIns="0" tIns="0" rIns="0" bIns="0" anchor="t">
            <a:spAutoFit/>
          </a:bodyPr>
          <a:lstStyle/>
          <a:p>
            <a:pPr algn="ctr">
              <a:spcAft>
                <a:spcPts val="400"/>
              </a:spcAft>
            </a:pPr>
            <a:r>
              <a:rPr sz="1100">
                <a:solidFill>
                  <a:srgbClr val="475569"/>
                </a:solidFill>
                <a:latin typeface="Segoe UI"/>
              </a:rPr>
              <a:t>Live: ripple-coimbatore.streamlit.app   ·   Screenshots from the running prototype (demo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1075</Words>
  <Application>Microsoft Office PowerPoint</Application>
  <PresentationFormat>Widescreen</PresentationFormat>
  <Paragraphs>133</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Segoe UI</vt:lpstr>
      <vt:lpstr>Segoe UI Emoji</vt:lpstr>
      <vt:lpstr>Segoe UI Semibold</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Vaidharshini Suresh</cp:lastModifiedBy>
  <cp:revision>3</cp:revision>
  <dcterms:created xsi:type="dcterms:W3CDTF">2013-01-27T09:14:16Z</dcterms:created>
  <dcterms:modified xsi:type="dcterms:W3CDTF">2026-10-09T09:15:40Z</dcterms:modified>
  <cp:category/>
</cp:coreProperties>
</file>